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5" r:id="rId10"/>
    <p:sldId id="264"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85F3AD87-7F2E-8A81-2F14-41BA8FD94636}">
          <p14:sldIdLst>
            <p14:sldId id="256"/>
            <p14:sldId id="257"/>
            <p14:sldId id="258"/>
          </p14:sldIdLst>
        </p14:section>
        <p14:section name="機能" id="{75FC4F20-B748-CA6A-9547-6D6661DC211E}">
          <p14:sldIdLst>
            <p14:sldId id="259"/>
            <p14:sldId id="260"/>
            <p14:sldId id="261"/>
          </p14:sldIdLst>
        </p14:section>
        <p14:section name="技術と状況" id="{6492F55C-0BAF-59EE-C8FC-59C6BD65C022}">
          <p14:sldIdLst>
            <p14:sldId id="262"/>
            <p14:sldId id="263"/>
          </p14:sldIdLst>
        </p14:section>
        <p14:section name="まとめ" id="{A6E49110-C9FF-6860-674C-493C7DE00F59}">
          <p14:sldIdLst>
            <p14:sldId id="265"/>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5841" autoAdjust="0"/>
  </p:normalViewPr>
  <p:slideViewPr>
    <p:cSldViewPr snapToGrid="0" snapToObjects="1">
      <p:cViewPr varScale="1">
        <p:scale>
          <a:sx n="92" d="100"/>
          <a:sy n="92" d="100"/>
        </p:scale>
        <p:origin x="111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139359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こんにちは。これから、授業の制作物として作成した「CanvasNote」について発表します。CanvasNoteは、教材・提出・クイズを一つにまとめた、先生と生徒のための教育支援Webアプリです。今日は、まず、なぜこのアプリを作ろうと思ったのかという背景からお話しして、次に、どんな機能があるのか、どんな技術で作ったのか、そして、</a:t>
            </a:r>
            <a:r>
              <a:rPr lang="ja-JP" altLang="en-US" dirty="0"/>
              <a:t>今後実装していきたい機能</a:t>
            </a:r>
            <a:r>
              <a:rPr lang="en-US" dirty="0" err="1"/>
              <a:t>を、順番にご紹介します</a:t>
            </a:r>
            <a:r>
              <a:rPr lang="en-US" dirty="0"/>
              <a:t>。</a:t>
            </a:r>
            <a:r>
              <a:rPr lang="ja-JP" altLang="en-US"/>
              <a:t>途中で簡単なデモを挟みます</a:t>
            </a:r>
            <a:r>
              <a:rPr lang="en-US" dirty="0"/>
              <a:t>。最後まで、よろしくお願いします。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まず開発の背景です。授業では、先生は教材を作って配り、生徒の回答を集めて、提出状況を確認し、さらにクイズを出して採点する、というように、たくさんの作業があります。ところが、これらをバラバラのツールで管理していると、教材はここ、提出物はここ、クイズの結果はここ、というように、情報があちこちに分散してしまいます。そうなると、先生は探す手間がかかりますし、生徒も、どこで何を提出すればいいのか分かりにくくなります。そこで私は、授業に必要な教材、回答、提出状況、クイズの結果を、一つのWebアプリでまとめて管理できないかと考えました。これができれば、先生の教材管理も、生徒の学習も、もっと効率的になるはずです。これが、CanvasNoteの開発目的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Noteを一言でいうと、先生と生徒の授業に必要な「教材・提出・クイズ」を一つにまとめるWebアプリです。基本的な流れを、この5つのステップで説明します。まず、先生が教材を作成します。次に、その教材をクラスへ配布します。すると、生徒は教材を開いて、回答を書き込みます。回答が終わったら、生徒が提出します。最後に、先生が、誰が提出したのかという提出状況と、回答の内容を確認します。このように、教材を作るところから、提出を確認するところまでが、一つのアプリの中で完結します。さらに、クイズも同じ流れで、出題、回答、自動採点、結果確認まで行えるようになっ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な機能を、5つのグループにまとめました。1つ目は教材管理です。教材の一覧、作成、編集ができます。2つ目は提出物管理です。生徒が教材に回答して提出し、先生は提出状況や回答内容を確認できます。3つ目はクラス管理です。クラスと生徒の所属を管理して、クラス単位で教材やクイズを配布できます。4つ目はクイズです。作成から出題、自動採点、結果確認までを行います。そして5つ目がユーザー管理で、ログインと、先生と生徒の権限の分離を行っています。この中で、特に特徴的な、教材作成機能とクイズ機能の2つを、この後もう少し詳しく説明し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教材作成機能です。この機能の一番の特徴は、キャンバス形式で教材を作れることです。普通のテキスト入力だけではなく、文字や図形を、キャンバスの上に自由に配置して、教材を作ることができます。左の図は、画面のイメージです。上にツールバー、左にページの一覧、そして中央に教材を作るキャンバスがあります。このキャンバスの操作には、Fabric.jsというライブラリを使っています。教材はページごとに管理することができて、授業で使う教材を、複数ページにまとめて作れます。生徒は、配布された同じ教材に直接回答を書き込んで、提出します。先生は、提出状況と、生徒の回答内容を確認でき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クイズ機能です。先生は、クイズのタイトルと、問題、A、B、C、Dの選択肢、そして正解を設定します。そのあと、対象のクラスを選んで、「出題する」を押すと、生徒の画面にクイズが表示されます。対象クラスは、右のように、チェックを入れたクラスだけが回答できる仕組みです。例えば、1年1組と2組にチェックを入れた場合、1年3組の生徒には表示されません。また、クイズには、下書き、出題中、終了という状態があります。実際の運用では、先生が作っている間は下書き、公開するときは出題中、というように、下書きと出題中を切り替えて使っています。生徒が回答すると、システムが正解と回答を比べて、正解数と得点を自動で計算し、結果を保存します。例えば、全5問中4問正解なら80点です。先生は、回答済みの人数や、生徒ごとの点数を、まとめて確認できます。さらに、今は、間違えて作ったクイズを削除できる機能も追加しています。削除するときは、生徒の回答結果も一緒に消えるという警告を表示するようにしてい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使用した技術です。画面を作る部分には、Vue.jsとFabric.jsを使っています。サーバー側は、PHPのフレームワークであるLaravelで、データはMySQLに保存しています。開発やビルドには、Viteを使っています。Vue.jsが画面を作って、Laravelが認証やデータの処理を担当し、MySQLにデータを保存する、という役割分担になっています。右の表は、先生と生徒の権限の違いです。教材やクイズの作成、クラスや生徒の管理、提出状況や結果の確認は、先生だけができます。反対に、教材への回答と提出、クイズへの回答は、生徒の操作です。このように役割を分けることで、先生と生徒が、それぞれに必要な機能だけを使えるようにしてい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現在の開発状況です。実装済みなのは、ログインと、先生・生徒の権限分離、キャンバス教材の作成と編集、クラスと生徒の管理、教材への回答、提出、確認、そして、クイズの作成から、出題、非公開、回答、自動採点、結果確認までです。現在調整している部分は、クイズの削除機能と、画面のUI調整、そして、各機能の動作確認です。今後は、まず動作を一つずつ確認して、見つかった不具合を修正し、UIを改善してから、全体のテストを行って、完成を目指しま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まとめです。CanvasNoteは、教材の作成と配布から、生徒の回答と提出、さらに、クイズの出題、自動採点、結果確認までを、一つにまとめた教育支援Webアプリです。特徴は3つあります。1つ目は、キャンバスで教材を作れること。2つ目は、教材・提出・クイズを一元管理できること。3つ目は、クラス単位で管理できることです。今後も、テストと改善を重ねて、実際の授業で使いやすいアプリに仕上げていきたいと思います。以上で発表を終わります。ご清聴ありがとうございました。ご質問があれば、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2156715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まとめです。CanvasNoteは、教材の作成と配布から、生徒の回答と提出、さらに、クイズの出題、自動採点、結果確認までを、一つにまとめた教育支援Webアプリです。特徴は3つあります。1つ目は、キャンバスで教材を作れること。2つ目は、教材・提出・クイズを一元管理できること。3つ目は、クラス単位で管理できることです。今後も、テストと改善を重ねて、実際の授業で使いやすいアプリに仕上げていきたいと思います。以上で発表を終わります。ご清聴ありがとうございました。ご質問があれば、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188720"/>
            <a:ext cx="5669280" cy="1371600"/>
          </a:xfrm>
          <a:prstGeom prst="rect">
            <a:avLst/>
          </a:prstGeom>
          <a:noFill/>
          <a:ln/>
        </p:spPr>
        <p:txBody>
          <a:bodyPr wrap="square" rtlCol="0"/>
          <a:lstStyle>
            <a:lvl1pPr marL="0" indent="0" algn="l">
              <a:buNone/>
              <a:defRPr lang="en-US" sz="4800" b="1" dirty="0">
                <a:solidFill>
                  <a:schemeClr val="bg1"/>
                </a:solidFill>
              </a:defRPr>
            </a:lvl1pPr>
          </a:lstStyle>
          <a:p>
            <a:pPr marL="0" indent="0" algn="l">
              <a:buNone/>
            </a:pPr>
            <a:endParaRPr lang="en-US" sz="4800" dirty="0"/>
          </a:p>
        </p:txBody>
      </p:sp>
      <p:sp>
        <p:nvSpPr>
          <p:cNvPr id="3" name="Text 0"/>
          <p:cNvSpPr>
            <a:spLocks noGrp="1"/>
          </p:cNvSpPr>
          <p:nvPr>
            <p:ph type="body" idx="101" hasCustomPrompt="1"/>
          </p:nvPr>
        </p:nvSpPr>
        <p:spPr>
          <a:xfrm>
            <a:off x="731520" y="2743200"/>
            <a:ext cx="5486400" cy="91440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188720"/>
            <a:ext cx="5669280" cy="1371600"/>
          </a:xfrm>
          <a:prstGeom prst="rect">
            <a:avLst/>
          </a:prstGeom>
          <a:noFill/>
          <a:ln/>
        </p:spPr>
        <p:txBody>
          <a:bodyPr wrap="square" lIns="0" tIns="0" rIns="0" bIns="0" rtlCol="0" anchor="b"/>
          <a:lstStyle/>
          <a:p>
            <a:pPr marL="0" indent="0" algn="l">
              <a:buNone/>
            </a:pPr>
            <a:r>
              <a:rPr lang="en-US" sz="4800" b="1" dirty="0">
                <a:solidFill>
                  <a:schemeClr val="bg1"/>
                </a:solidFill>
              </a:rPr>
              <a:t>CanvasNote</a:t>
            </a:r>
            <a:endParaRPr lang="en-US" sz="4800" dirty="0"/>
          </a:p>
        </p:txBody>
      </p:sp>
      <p:sp>
        <p:nvSpPr>
          <p:cNvPr id="3" name="Text 0"/>
          <p:cNvSpPr>
            <a:spLocks noGrp="1"/>
          </p:cNvSpPr>
          <p:nvPr>
            <p:ph type="body" idx="101" hasCustomPrompt="1"/>
          </p:nvPr>
        </p:nvSpPr>
        <p:spPr>
          <a:xfrm>
            <a:off x="731520" y="2743200"/>
            <a:ext cx="5486400" cy="914400"/>
          </a:xfrm>
          <a:prstGeom prst="rect">
            <a:avLst/>
          </a:prstGeom>
          <a:noFill/>
          <a:ln/>
        </p:spPr>
        <p:txBody>
          <a:bodyPr wrap="square" lIns="0" tIns="0" rIns="0" bIns="0" rtlCol="0" anchor="t"/>
          <a:lstStyle/>
          <a:p>
            <a:pPr marL="0" indent="0" algn="l">
              <a:buNone/>
            </a:pPr>
            <a:r>
              <a:rPr lang="en-US" sz="2000" dirty="0">
                <a:solidFill>
                  <a:schemeClr val="bg2"/>
                </a:solidFill>
              </a:rPr>
              <a:t>教材・提出・クイズを一つにまとめる教育支援Webアプリ</a:t>
            </a:r>
            <a:endParaRPr lang="en-US" sz="2000" dirty="0"/>
          </a:p>
        </p:txBody>
      </p:sp>
      <p:sp>
        <p:nvSpPr>
          <p:cNvPr id="4" name="cover-label"/>
          <p:cNvSpPr txBox="1"/>
          <p:nvPr/>
        </p:nvSpPr>
        <p:spPr>
          <a:xfrm>
            <a:off x="731520" y="4206240"/>
            <a:ext cx="3657600" cy="320040"/>
          </a:xfrm>
          <a:prstGeom prst="rect">
            <a:avLst/>
          </a:prstGeom>
          <a:noFill/>
          <a:ln/>
        </p:spPr>
        <p:txBody>
          <a:bodyPr wrap="square" lIns="0" tIns="0" rIns="0" bIns="0" rtlCol="0" anchor="ctr"/>
          <a:lstStyle/>
          <a:p>
            <a:pPr marL="0" indent="0" algn="l">
              <a:buNone/>
            </a:pPr>
            <a:r>
              <a:rPr lang="en-US" sz="1400" dirty="0">
                <a:solidFill>
                  <a:schemeClr val="bg2"/>
                </a:solidFill>
              </a:rPr>
              <a:t>授業制作物発表</a:t>
            </a:r>
            <a:endParaRPr lang="en-US" sz="1400" dirty="0"/>
          </a:p>
        </p:txBody>
      </p:sp>
      <p:sp>
        <p:nvSpPr>
          <p:cNvPr id="5" name="cover-circle-0"/>
          <p:cNvSpPr/>
          <p:nvPr/>
        </p:nvSpPr>
        <p:spPr>
          <a:xfrm>
            <a:off x="7040880" y="1188720"/>
            <a:ext cx="914400" cy="914400"/>
          </a:xfrm>
          <a:prstGeom prst="ellipse">
            <a:avLst/>
          </a:prstGeom>
          <a:solidFill>
            <a:srgbClr val="0F766E"/>
          </a:solidFill>
          <a:ln/>
        </p:spPr>
      </p:sp>
      <p:pic>
        <p:nvPicPr>
          <p:cNvPr id="6" name="cover-icon-0" descr="教材"/>
          <p:cNvPicPr>
            <a:picLocks noChangeAspect="1"/>
          </p:cNvPicPr>
          <p:nvPr/>
        </p:nvPicPr>
        <p:blipFill>
          <a:blip r:embed="rId3"/>
          <a:stretch>
            <a:fillRect/>
          </a:stretch>
        </p:blipFill>
        <p:spPr>
          <a:xfrm>
            <a:off x="7269480" y="1417320"/>
            <a:ext cx="457200" cy="457200"/>
          </a:xfrm>
          <a:prstGeom prst="rect">
            <a:avLst/>
          </a:prstGeom>
        </p:spPr>
      </p:pic>
      <p:sp>
        <p:nvSpPr>
          <p:cNvPr id="7" name="cover-cap-0"/>
          <p:cNvSpPr txBox="1"/>
          <p:nvPr/>
        </p:nvSpPr>
        <p:spPr>
          <a:xfrm>
            <a:off x="8046720" y="1463040"/>
            <a:ext cx="822960" cy="365760"/>
          </a:xfrm>
          <a:prstGeom prst="rect">
            <a:avLst/>
          </a:prstGeom>
          <a:noFill/>
          <a:ln/>
        </p:spPr>
        <p:txBody>
          <a:bodyPr wrap="square" lIns="0" tIns="0" rIns="0" bIns="0" rtlCol="0" anchor="ctr"/>
          <a:lstStyle/>
          <a:p>
            <a:pPr marL="0" indent="0" algn="l">
              <a:buNone/>
            </a:pPr>
            <a:r>
              <a:rPr lang="en-US" sz="1400" b="1" dirty="0">
                <a:solidFill>
                  <a:schemeClr val="bg1"/>
                </a:solidFill>
              </a:rPr>
              <a:t>教材</a:t>
            </a:r>
            <a:endParaRPr lang="en-US" sz="1400" dirty="0"/>
          </a:p>
        </p:txBody>
      </p:sp>
      <p:sp>
        <p:nvSpPr>
          <p:cNvPr id="8" name="cover-circle-1"/>
          <p:cNvSpPr/>
          <p:nvPr/>
        </p:nvSpPr>
        <p:spPr>
          <a:xfrm>
            <a:off x="7040880" y="2377440"/>
            <a:ext cx="914400" cy="914400"/>
          </a:xfrm>
          <a:prstGeom prst="ellipse">
            <a:avLst/>
          </a:prstGeom>
          <a:solidFill>
            <a:srgbClr val="F59E0B"/>
          </a:solidFill>
          <a:ln/>
        </p:spPr>
      </p:sp>
      <p:pic>
        <p:nvPicPr>
          <p:cNvPr id="9" name="cover-icon-1" descr="提出"/>
          <p:cNvPicPr>
            <a:picLocks noChangeAspect="1"/>
          </p:cNvPicPr>
          <p:nvPr/>
        </p:nvPicPr>
        <p:blipFill>
          <a:blip r:embed="rId4"/>
          <a:stretch>
            <a:fillRect/>
          </a:stretch>
        </p:blipFill>
        <p:spPr>
          <a:xfrm>
            <a:off x="7269480" y="2606040"/>
            <a:ext cx="457200" cy="457200"/>
          </a:xfrm>
          <a:prstGeom prst="rect">
            <a:avLst/>
          </a:prstGeom>
        </p:spPr>
      </p:pic>
      <p:sp>
        <p:nvSpPr>
          <p:cNvPr id="10" name="cover-cap-1"/>
          <p:cNvSpPr txBox="1"/>
          <p:nvPr/>
        </p:nvSpPr>
        <p:spPr>
          <a:xfrm>
            <a:off x="8046720" y="2651760"/>
            <a:ext cx="822960" cy="365760"/>
          </a:xfrm>
          <a:prstGeom prst="rect">
            <a:avLst/>
          </a:prstGeom>
          <a:noFill/>
          <a:ln/>
        </p:spPr>
        <p:txBody>
          <a:bodyPr wrap="square" lIns="0" tIns="0" rIns="0" bIns="0" rtlCol="0" anchor="ctr"/>
          <a:lstStyle/>
          <a:p>
            <a:pPr marL="0" indent="0" algn="l">
              <a:buNone/>
            </a:pPr>
            <a:r>
              <a:rPr lang="en-US" sz="1400" b="1" dirty="0">
                <a:solidFill>
                  <a:schemeClr val="bg1"/>
                </a:solidFill>
              </a:rPr>
              <a:t>提出</a:t>
            </a:r>
            <a:endParaRPr lang="en-US" sz="1400" dirty="0"/>
          </a:p>
        </p:txBody>
      </p:sp>
      <p:sp>
        <p:nvSpPr>
          <p:cNvPr id="11" name="cover-circle-2"/>
          <p:cNvSpPr/>
          <p:nvPr/>
        </p:nvSpPr>
        <p:spPr>
          <a:xfrm>
            <a:off x="7040880" y="3566160"/>
            <a:ext cx="914400" cy="914400"/>
          </a:xfrm>
          <a:prstGeom prst="ellipse">
            <a:avLst/>
          </a:prstGeom>
          <a:solidFill>
            <a:srgbClr val="E76F51"/>
          </a:solidFill>
          <a:ln/>
        </p:spPr>
      </p:sp>
      <p:pic>
        <p:nvPicPr>
          <p:cNvPr id="12" name="cover-icon-2" descr="クイズ"/>
          <p:cNvPicPr>
            <a:picLocks noChangeAspect="1"/>
          </p:cNvPicPr>
          <p:nvPr/>
        </p:nvPicPr>
        <p:blipFill>
          <a:blip r:embed="rId5"/>
          <a:stretch>
            <a:fillRect/>
          </a:stretch>
        </p:blipFill>
        <p:spPr>
          <a:xfrm>
            <a:off x="7269480" y="3794760"/>
            <a:ext cx="457200" cy="457200"/>
          </a:xfrm>
          <a:prstGeom prst="rect">
            <a:avLst/>
          </a:prstGeom>
        </p:spPr>
      </p:pic>
      <p:sp>
        <p:nvSpPr>
          <p:cNvPr id="13" name="cover-cap-2"/>
          <p:cNvSpPr txBox="1"/>
          <p:nvPr/>
        </p:nvSpPr>
        <p:spPr>
          <a:xfrm>
            <a:off x="8046720" y="3840480"/>
            <a:ext cx="822960" cy="365760"/>
          </a:xfrm>
          <a:prstGeom prst="rect">
            <a:avLst/>
          </a:prstGeom>
          <a:noFill/>
          <a:ln/>
        </p:spPr>
        <p:txBody>
          <a:bodyPr wrap="square" lIns="0" tIns="0" rIns="0" bIns="0" rtlCol="0" anchor="ctr"/>
          <a:lstStyle/>
          <a:p>
            <a:pPr marL="0" indent="0" algn="l">
              <a:buNone/>
            </a:pPr>
            <a:r>
              <a:rPr lang="en-US" sz="1400" b="1" dirty="0">
                <a:solidFill>
                  <a:schemeClr val="bg1"/>
                </a:solidFill>
              </a:rPr>
              <a:t>クイズ</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tx2"/>
                </a:solidFill>
              </a:rPr>
              <a:t>開発背景と目的</a:t>
            </a:r>
            <a:endParaRPr lang="en-US" sz="3200" dirty="0"/>
          </a:p>
        </p:txBody>
      </p:sp>
      <p:sp>
        <p:nvSpPr>
          <p:cNvPr id="3" name="pain-card-0"/>
          <p:cNvSpPr/>
          <p:nvPr/>
        </p:nvSpPr>
        <p:spPr>
          <a:xfrm>
            <a:off x="548640" y="1280160"/>
            <a:ext cx="3474720" cy="777240"/>
          </a:xfrm>
          <a:prstGeom prst="roundRect">
            <a:avLst>
              <a:gd name="adj" fmla="val 11765"/>
            </a:avLst>
          </a:prstGeom>
          <a:solidFill>
            <a:srgbClr val="EAF3F4"/>
          </a:solidFill>
          <a:ln/>
        </p:spPr>
      </p:sp>
      <p:sp>
        <p:nvSpPr>
          <p:cNvPr id="4" name="pain-0-circle"/>
          <p:cNvSpPr/>
          <p:nvPr/>
        </p:nvSpPr>
        <p:spPr>
          <a:xfrm>
            <a:off x="685800" y="1417320"/>
            <a:ext cx="502920" cy="502920"/>
          </a:xfrm>
          <a:prstGeom prst="ellipse">
            <a:avLst/>
          </a:prstGeom>
          <a:solidFill>
            <a:srgbClr val="64748B"/>
          </a:solidFill>
          <a:ln/>
        </p:spPr>
      </p:sp>
      <p:pic>
        <p:nvPicPr>
          <p:cNvPr id="5" name="pain-0-icon" descr="pain-0"/>
          <p:cNvPicPr>
            <a:picLocks noChangeAspect="1"/>
          </p:cNvPicPr>
          <p:nvPr/>
        </p:nvPicPr>
        <p:blipFill>
          <a:blip r:embed="rId3"/>
          <a:stretch>
            <a:fillRect/>
          </a:stretch>
        </p:blipFill>
        <p:spPr>
          <a:xfrm>
            <a:off x="811530" y="1543050"/>
            <a:ext cx="251460" cy="251460"/>
          </a:xfrm>
          <a:prstGeom prst="rect">
            <a:avLst/>
          </a:prstGeom>
        </p:spPr>
      </p:pic>
      <p:sp>
        <p:nvSpPr>
          <p:cNvPr id="6" name="pain-text-0"/>
          <p:cNvSpPr txBox="1"/>
          <p:nvPr/>
        </p:nvSpPr>
        <p:spPr>
          <a:xfrm>
            <a:off x="1371600" y="1371600"/>
            <a:ext cx="2560320" cy="594360"/>
          </a:xfrm>
          <a:prstGeom prst="rect">
            <a:avLst/>
          </a:prstGeom>
          <a:noFill/>
          <a:ln/>
        </p:spPr>
        <p:txBody>
          <a:bodyPr wrap="square" lIns="0" tIns="0" rIns="0" bIns="0" rtlCol="0" anchor="ctr"/>
          <a:lstStyle/>
          <a:p>
            <a:pPr marL="0" indent="0" algn="l">
              <a:buNone/>
            </a:pPr>
            <a:r>
              <a:rPr lang="en-US" sz="1600" b="1" dirty="0">
                <a:solidFill>
                  <a:schemeClr val="tx1"/>
                </a:solidFill>
              </a:rPr>
              <a:t>教材の作成・配布</a:t>
            </a:r>
            <a:endParaRPr lang="en-US" sz="1600" dirty="0"/>
          </a:p>
        </p:txBody>
      </p:sp>
      <p:sp>
        <p:nvSpPr>
          <p:cNvPr id="7" name="pain-card-1"/>
          <p:cNvSpPr/>
          <p:nvPr/>
        </p:nvSpPr>
        <p:spPr>
          <a:xfrm>
            <a:off x="548640" y="2194560"/>
            <a:ext cx="3474720" cy="777240"/>
          </a:xfrm>
          <a:prstGeom prst="roundRect">
            <a:avLst>
              <a:gd name="adj" fmla="val 11765"/>
            </a:avLst>
          </a:prstGeom>
          <a:solidFill>
            <a:srgbClr val="EAF3F4"/>
          </a:solidFill>
          <a:ln/>
        </p:spPr>
      </p:sp>
      <p:sp>
        <p:nvSpPr>
          <p:cNvPr id="8" name="pain-1-circle"/>
          <p:cNvSpPr/>
          <p:nvPr/>
        </p:nvSpPr>
        <p:spPr>
          <a:xfrm>
            <a:off x="685800" y="2331720"/>
            <a:ext cx="502920" cy="502920"/>
          </a:xfrm>
          <a:prstGeom prst="ellipse">
            <a:avLst/>
          </a:prstGeom>
          <a:solidFill>
            <a:srgbClr val="64748B"/>
          </a:solidFill>
          <a:ln/>
        </p:spPr>
      </p:sp>
      <p:pic>
        <p:nvPicPr>
          <p:cNvPr id="9" name="pain-1-icon" descr="pain-1"/>
          <p:cNvPicPr>
            <a:picLocks noChangeAspect="1"/>
          </p:cNvPicPr>
          <p:nvPr/>
        </p:nvPicPr>
        <p:blipFill>
          <a:blip r:embed="rId4"/>
          <a:stretch>
            <a:fillRect/>
          </a:stretch>
        </p:blipFill>
        <p:spPr>
          <a:xfrm>
            <a:off x="811530" y="2457450"/>
            <a:ext cx="251460" cy="251460"/>
          </a:xfrm>
          <a:prstGeom prst="rect">
            <a:avLst/>
          </a:prstGeom>
        </p:spPr>
      </p:pic>
      <p:sp>
        <p:nvSpPr>
          <p:cNvPr id="10" name="pain-text-1"/>
          <p:cNvSpPr txBox="1"/>
          <p:nvPr/>
        </p:nvSpPr>
        <p:spPr>
          <a:xfrm>
            <a:off x="1371600" y="2286000"/>
            <a:ext cx="2560320" cy="594360"/>
          </a:xfrm>
          <a:prstGeom prst="rect">
            <a:avLst/>
          </a:prstGeom>
          <a:noFill/>
          <a:ln/>
        </p:spPr>
        <p:txBody>
          <a:bodyPr wrap="square" lIns="0" tIns="0" rIns="0" bIns="0" rtlCol="0" anchor="ctr"/>
          <a:lstStyle/>
          <a:p>
            <a:pPr marL="0" indent="0" algn="l">
              <a:buNone/>
            </a:pPr>
            <a:r>
              <a:rPr lang="en-US" sz="1600" b="1" dirty="0">
                <a:solidFill>
                  <a:schemeClr val="tx1"/>
                </a:solidFill>
              </a:rPr>
              <a:t>回答の回収・提出確認</a:t>
            </a:r>
            <a:endParaRPr lang="en-US" sz="1600" dirty="0"/>
          </a:p>
        </p:txBody>
      </p:sp>
      <p:sp>
        <p:nvSpPr>
          <p:cNvPr id="11" name="pain-card-2"/>
          <p:cNvSpPr/>
          <p:nvPr/>
        </p:nvSpPr>
        <p:spPr>
          <a:xfrm>
            <a:off x="548640" y="3108960"/>
            <a:ext cx="3474720" cy="777240"/>
          </a:xfrm>
          <a:prstGeom prst="roundRect">
            <a:avLst>
              <a:gd name="adj" fmla="val 11765"/>
            </a:avLst>
          </a:prstGeom>
          <a:solidFill>
            <a:srgbClr val="EAF3F4"/>
          </a:solidFill>
          <a:ln/>
        </p:spPr>
      </p:sp>
      <p:sp>
        <p:nvSpPr>
          <p:cNvPr id="12" name="pain-2-circle"/>
          <p:cNvSpPr/>
          <p:nvPr/>
        </p:nvSpPr>
        <p:spPr>
          <a:xfrm>
            <a:off x="685800" y="3246120"/>
            <a:ext cx="502920" cy="502920"/>
          </a:xfrm>
          <a:prstGeom prst="ellipse">
            <a:avLst/>
          </a:prstGeom>
          <a:solidFill>
            <a:srgbClr val="64748B"/>
          </a:solidFill>
          <a:ln/>
        </p:spPr>
      </p:sp>
      <p:pic>
        <p:nvPicPr>
          <p:cNvPr id="13" name="pain-2-icon" descr="pain-2"/>
          <p:cNvPicPr>
            <a:picLocks noChangeAspect="1"/>
          </p:cNvPicPr>
          <p:nvPr/>
        </p:nvPicPr>
        <p:blipFill>
          <a:blip r:embed="rId5"/>
          <a:stretch>
            <a:fillRect/>
          </a:stretch>
        </p:blipFill>
        <p:spPr>
          <a:xfrm>
            <a:off x="811530" y="3371850"/>
            <a:ext cx="251460" cy="251460"/>
          </a:xfrm>
          <a:prstGeom prst="rect">
            <a:avLst/>
          </a:prstGeom>
        </p:spPr>
      </p:pic>
      <p:sp>
        <p:nvSpPr>
          <p:cNvPr id="14" name="pain-text-2"/>
          <p:cNvSpPr txBox="1"/>
          <p:nvPr/>
        </p:nvSpPr>
        <p:spPr>
          <a:xfrm>
            <a:off x="1371600" y="3200400"/>
            <a:ext cx="2560320" cy="594360"/>
          </a:xfrm>
          <a:prstGeom prst="rect">
            <a:avLst/>
          </a:prstGeom>
          <a:noFill/>
          <a:ln/>
        </p:spPr>
        <p:txBody>
          <a:bodyPr wrap="square" lIns="0" tIns="0" rIns="0" bIns="0" rtlCol="0" anchor="ctr"/>
          <a:lstStyle/>
          <a:p>
            <a:pPr marL="0" indent="0" algn="l">
              <a:buNone/>
            </a:pPr>
            <a:r>
              <a:rPr lang="en-US" sz="1600" b="1" dirty="0">
                <a:solidFill>
                  <a:schemeClr val="tx1"/>
                </a:solidFill>
              </a:rPr>
              <a:t>クイズの採点・結果確認</a:t>
            </a:r>
            <a:endParaRPr lang="en-US" sz="1600" dirty="0"/>
          </a:p>
        </p:txBody>
      </p:sp>
      <p:sp>
        <p:nvSpPr>
          <p:cNvPr id="15" name="pain-caption"/>
          <p:cNvSpPr txBox="1"/>
          <p:nvPr/>
        </p:nvSpPr>
        <p:spPr>
          <a:xfrm>
            <a:off x="548640" y="4114800"/>
            <a:ext cx="3566160" cy="502920"/>
          </a:xfrm>
          <a:prstGeom prst="rect">
            <a:avLst/>
          </a:prstGeom>
          <a:noFill/>
          <a:ln/>
        </p:spPr>
        <p:txBody>
          <a:bodyPr wrap="square" lIns="0" tIns="0" rIns="0" bIns="0" rtlCol="0" anchor="ctr"/>
          <a:lstStyle/>
          <a:p>
            <a:pPr marL="0" indent="0" algn="l">
              <a:buNone/>
            </a:pPr>
            <a:r>
              <a:rPr lang="en-US" sz="1400" dirty="0">
                <a:solidFill>
                  <a:schemeClr val="accent6"/>
                </a:solidFill>
              </a:rPr>
              <a:t>別々に管理すると、情報が分散して大変</a:t>
            </a:r>
            <a:endParaRPr lang="en-US" sz="1400" dirty="0"/>
          </a:p>
        </p:txBody>
      </p:sp>
      <p:sp>
        <p:nvSpPr>
          <p:cNvPr id="16" name="arrow-to-goal"/>
          <p:cNvSpPr/>
          <p:nvPr/>
        </p:nvSpPr>
        <p:spPr>
          <a:xfrm>
            <a:off x="4160520" y="2514600"/>
            <a:ext cx="548640" cy="457200"/>
          </a:xfrm>
          <a:prstGeom prst="rightArrow">
            <a:avLst/>
          </a:prstGeom>
          <a:solidFill>
            <a:schemeClr val="accent2"/>
          </a:solidFill>
          <a:ln/>
        </p:spPr>
      </p:sp>
      <p:sp>
        <p:nvSpPr>
          <p:cNvPr id="17" name="goal-card"/>
          <p:cNvSpPr/>
          <p:nvPr/>
        </p:nvSpPr>
        <p:spPr>
          <a:xfrm>
            <a:off x="4846320" y="1280160"/>
            <a:ext cx="3749040" cy="2834640"/>
          </a:xfrm>
          <a:prstGeom prst="roundRect">
            <a:avLst>
              <a:gd name="adj" fmla="val 3226"/>
            </a:avLst>
          </a:prstGeom>
          <a:solidFill>
            <a:srgbClr val="0F766E"/>
          </a:solidFill>
          <a:ln/>
          <a:effectLst>
            <a:outerShdw blurRad="76200" dist="25400" dir="5400000" algn="bl" rotWithShape="0">
              <a:srgbClr val="000000">
                <a:alpha val="15000"/>
              </a:srgbClr>
            </a:outerShdw>
          </a:effectLst>
        </p:spPr>
      </p:sp>
      <p:sp>
        <p:nvSpPr>
          <p:cNvPr id="18" name="goal-title"/>
          <p:cNvSpPr txBox="1"/>
          <p:nvPr/>
        </p:nvSpPr>
        <p:spPr>
          <a:xfrm>
            <a:off x="5120640" y="1463040"/>
            <a:ext cx="3200400" cy="411480"/>
          </a:xfrm>
          <a:prstGeom prst="rect">
            <a:avLst/>
          </a:prstGeom>
          <a:noFill/>
          <a:ln/>
        </p:spPr>
        <p:txBody>
          <a:bodyPr wrap="square" lIns="0" tIns="0" rIns="0" bIns="0" rtlCol="0" anchor="ctr"/>
          <a:lstStyle/>
          <a:p>
            <a:pPr marL="0" indent="0" algn="l">
              <a:buNone/>
            </a:pPr>
            <a:r>
              <a:rPr lang="en-US" sz="2000" b="1" dirty="0">
                <a:solidFill>
                  <a:schemeClr val="bg1"/>
                </a:solidFill>
              </a:rPr>
              <a:t>開発目的</a:t>
            </a:r>
            <a:endParaRPr lang="en-US" sz="2000" dirty="0"/>
          </a:p>
        </p:txBody>
      </p:sp>
      <p:sp>
        <p:nvSpPr>
          <p:cNvPr id="19" name="goal-text"/>
          <p:cNvSpPr txBox="1"/>
          <p:nvPr/>
        </p:nvSpPr>
        <p:spPr>
          <a:xfrm>
            <a:off x="5120640" y="2011680"/>
            <a:ext cx="3200400" cy="1920240"/>
          </a:xfrm>
          <a:prstGeom prst="rect">
            <a:avLst/>
          </a:prstGeom>
          <a:noFill/>
          <a:ln/>
        </p:spPr>
        <p:txBody>
          <a:bodyPr wrap="square" lIns="0" tIns="0" rIns="0" bIns="0" rtlCol="0" anchor="t"/>
          <a:lstStyle/>
          <a:p>
            <a:pPr marL="0" indent="0" algn="l">
              <a:buNone/>
            </a:pPr>
            <a:r>
              <a:rPr lang="en-US" sz="1800" dirty="0">
                <a:solidFill>
                  <a:schemeClr val="bg1"/>
                </a:solidFill>
              </a:rPr>
              <a:t>授業に必要な情報を一つのWebアプリで管理し、先生の教材管理と生徒の学習を効率化する</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tx2"/>
                </a:solidFill>
              </a:rPr>
              <a:t>CanvasNoteとは</a:t>
            </a:r>
            <a:endParaRPr lang="en-US" sz="3200" dirty="0"/>
          </a:p>
        </p:txBody>
      </p:sp>
      <p:sp>
        <p:nvSpPr>
          <p:cNvPr id="3" name="oneliner-card"/>
          <p:cNvSpPr/>
          <p:nvPr/>
        </p:nvSpPr>
        <p:spPr>
          <a:xfrm>
            <a:off x="548640" y="1234440"/>
            <a:ext cx="8046720" cy="914400"/>
          </a:xfrm>
          <a:prstGeom prst="roundRect">
            <a:avLst>
              <a:gd name="adj" fmla="val 10000"/>
            </a:avLst>
          </a:prstGeom>
          <a:solidFill>
            <a:srgbClr val="EAF3F4"/>
          </a:solidFill>
          <a:ln/>
        </p:spPr>
      </p:sp>
      <p:sp>
        <p:nvSpPr>
          <p:cNvPr id="4" name="oneliner-text"/>
          <p:cNvSpPr txBox="1"/>
          <p:nvPr/>
        </p:nvSpPr>
        <p:spPr>
          <a:xfrm>
            <a:off x="777240" y="1280160"/>
            <a:ext cx="7589520" cy="822960"/>
          </a:xfrm>
          <a:prstGeom prst="rect">
            <a:avLst/>
          </a:prstGeom>
          <a:noFill/>
          <a:ln/>
        </p:spPr>
        <p:txBody>
          <a:bodyPr wrap="square" lIns="0" tIns="0" rIns="0" bIns="0" rtlCol="0" anchor="ctr"/>
          <a:lstStyle/>
          <a:p>
            <a:pPr marL="0" indent="0" algn="l">
              <a:buNone/>
            </a:pPr>
            <a:r>
              <a:rPr lang="en-US" sz="1800" b="1" dirty="0">
                <a:solidFill>
                  <a:schemeClr val="tx2"/>
                </a:solidFill>
              </a:rPr>
              <a:t>先生と生徒の授業に必要な「教材・提出・クイズ」を一つにまとめるWebアプリ</a:t>
            </a:r>
            <a:endParaRPr lang="en-US" sz="1800" dirty="0"/>
          </a:p>
        </p:txBody>
      </p:sp>
      <p:sp>
        <p:nvSpPr>
          <p:cNvPr id="5" name="step-card-0"/>
          <p:cNvSpPr/>
          <p:nvPr/>
        </p:nvSpPr>
        <p:spPr>
          <a:xfrm>
            <a:off x="548640" y="2423160"/>
            <a:ext cx="1463040" cy="1463040"/>
          </a:xfrm>
          <a:prstGeom prst="roundRect">
            <a:avLst>
              <a:gd name="adj" fmla="val 6250"/>
            </a:avLst>
          </a:prstGeom>
          <a:solidFill>
            <a:srgbClr val="0F766E"/>
          </a:solidFill>
          <a:ln/>
          <a:effectLst>
            <a:outerShdw blurRad="76200" dist="25400" dir="5400000" algn="bl" rotWithShape="0">
              <a:srgbClr val="000000">
                <a:alpha val="15000"/>
              </a:srgbClr>
            </a:outerShdw>
          </a:effectLst>
        </p:spPr>
      </p:sp>
      <p:sp>
        <p:nvSpPr>
          <p:cNvPr id="6" name="step-num-0"/>
          <p:cNvSpPr txBox="1"/>
          <p:nvPr/>
        </p:nvSpPr>
        <p:spPr>
          <a:xfrm>
            <a:off x="640080" y="2514600"/>
            <a:ext cx="365760" cy="365760"/>
          </a:xfrm>
          <a:prstGeom prst="rect">
            <a:avLst/>
          </a:prstGeom>
          <a:noFill/>
          <a:ln/>
        </p:spPr>
        <p:txBody>
          <a:bodyPr wrap="square" lIns="0" tIns="0" rIns="0" bIns="0" rtlCol="0" anchor="ctr"/>
          <a:lstStyle/>
          <a:p>
            <a:pPr marL="0" indent="0" algn="l">
              <a:buNone/>
            </a:pPr>
            <a:r>
              <a:rPr lang="en-US" sz="1800" b="1" dirty="0">
                <a:solidFill>
                  <a:schemeClr val="bg1"/>
                </a:solidFill>
              </a:rPr>
              <a:t>1</a:t>
            </a:r>
            <a:endParaRPr lang="en-US" sz="1800" dirty="0"/>
          </a:p>
        </p:txBody>
      </p:sp>
      <p:sp>
        <p:nvSpPr>
          <p:cNvPr id="7" name="step-label-0"/>
          <p:cNvSpPr txBox="1"/>
          <p:nvPr/>
        </p:nvSpPr>
        <p:spPr>
          <a:xfrm>
            <a:off x="640080" y="2926080"/>
            <a:ext cx="1280160" cy="594360"/>
          </a:xfrm>
          <a:prstGeom prst="rect">
            <a:avLst/>
          </a:prstGeom>
          <a:noFill/>
          <a:ln/>
        </p:spPr>
        <p:txBody>
          <a:bodyPr wrap="square" lIns="0" tIns="0" rIns="0" bIns="0" rtlCol="0" anchor="t"/>
          <a:lstStyle/>
          <a:p>
            <a:pPr marL="0" indent="0" algn="l">
              <a:buNone/>
            </a:pPr>
            <a:r>
              <a:rPr lang="en-US" sz="1500" b="1" dirty="0">
                <a:solidFill>
                  <a:schemeClr val="bg1"/>
                </a:solidFill>
              </a:rPr>
              <a:t>教材を作成</a:t>
            </a:r>
            <a:endParaRPr lang="en-US" sz="1500" dirty="0"/>
          </a:p>
        </p:txBody>
      </p:sp>
      <p:sp>
        <p:nvSpPr>
          <p:cNvPr id="8" name="step-role-0"/>
          <p:cNvSpPr txBox="1"/>
          <p:nvPr/>
        </p:nvSpPr>
        <p:spPr>
          <a:xfrm>
            <a:off x="640080" y="3547872"/>
            <a:ext cx="1234440" cy="228600"/>
          </a:xfrm>
          <a:prstGeom prst="rect">
            <a:avLst/>
          </a:prstGeom>
          <a:noFill/>
          <a:ln/>
        </p:spPr>
        <p:txBody>
          <a:bodyPr wrap="square" lIns="0" tIns="0" rIns="0" bIns="0" rtlCol="0" anchor="ctr"/>
          <a:lstStyle/>
          <a:p>
            <a:pPr marL="0" indent="0" algn="l">
              <a:buNone/>
            </a:pPr>
            <a:r>
              <a:rPr lang="en-US" sz="1200" dirty="0">
                <a:solidFill>
                  <a:schemeClr val="bg1"/>
                </a:solidFill>
              </a:rPr>
              <a:t>先生</a:t>
            </a:r>
            <a:endParaRPr lang="en-US" sz="1200" dirty="0"/>
          </a:p>
        </p:txBody>
      </p:sp>
      <p:sp>
        <p:nvSpPr>
          <p:cNvPr id="9" name="step-arrow-0"/>
          <p:cNvSpPr/>
          <p:nvPr/>
        </p:nvSpPr>
        <p:spPr>
          <a:xfrm>
            <a:off x="2029968" y="3035808"/>
            <a:ext cx="146304" cy="228600"/>
          </a:xfrm>
          <a:prstGeom prst="rightArrow">
            <a:avLst/>
          </a:prstGeom>
          <a:solidFill>
            <a:schemeClr val="accent6"/>
          </a:solidFill>
          <a:ln/>
        </p:spPr>
      </p:sp>
      <p:sp>
        <p:nvSpPr>
          <p:cNvPr id="10" name="step-card-1"/>
          <p:cNvSpPr/>
          <p:nvPr/>
        </p:nvSpPr>
        <p:spPr>
          <a:xfrm>
            <a:off x="2194560" y="2423160"/>
            <a:ext cx="1463040" cy="1463040"/>
          </a:xfrm>
          <a:prstGeom prst="roundRect">
            <a:avLst>
              <a:gd name="adj" fmla="val 6250"/>
            </a:avLst>
          </a:prstGeom>
          <a:solidFill>
            <a:srgbClr val="0F766E"/>
          </a:solidFill>
          <a:ln/>
          <a:effectLst>
            <a:outerShdw blurRad="76200" dist="25400" dir="5400000" algn="bl" rotWithShape="0">
              <a:srgbClr val="000000">
                <a:alpha val="15000"/>
              </a:srgbClr>
            </a:outerShdw>
          </a:effectLst>
        </p:spPr>
      </p:sp>
      <p:sp>
        <p:nvSpPr>
          <p:cNvPr id="11" name="step-num-1"/>
          <p:cNvSpPr txBox="1"/>
          <p:nvPr/>
        </p:nvSpPr>
        <p:spPr>
          <a:xfrm>
            <a:off x="2286000" y="2514600"/>
            <a:ext cx="365760" cy="365760"/>
          </a:xfrm>
          <a:prstGeom prst="rect">
            <a:avLst/>
          </a:prstGeom>
          <a:noFill/>
          <a:ln/>
        </p:spPr>
        <p:txBody>
          <a:bodyPr wrap="square" lIns="0" tIns="0" rIns="0" bIns="0" rtlCol="0" anchor="ctr"/>
          <a:lstStyle/>
          <a:p>
            <a:pPr marL="0" indent="0" algn="l">
              <a:buNone/>
            </a:pPr>
            <a:r>
              <a:rPr lang="en-US" sz="1800" b="1" dirty="0">
                <a:solidFill>
                  <a:schemeClr val="bg1"/>
                </a:solidFill>
              </a:rPr>
              <a:t>2</a:t>
            </a:r>
            <a:endParaRPr lang="en-US" sz="1800" dirty="0"/>
          </a:p>
        </p:txBody>
      </p:sp>
      <p:sp>
        <p:nvSpPr>
          <p:cNvPr id="12" name="step-label-1"/>
          <p:cNvSpPr txBox="1"/>
          <p:nvPr/>
        </p:nvSpPr>
        <p:spPr>
          <a:xfrm>
            <a:off x="2286000" y="2926080"/>
            <a:ext cx="1280160" cy="594360"/>
          </a:xfrm>
          <a:prstGeom prst="rect">
            <a:avLst/>
          </a:prstGeom>
          <a:noFill/>
          <a:ln/>
        </p:spPr>
        <p:txBody>
          <a:bodyPr wrap="square" lIns="0" tIns="0" rIns="0" bIns="0" rtlCol="0" anchor="t"/>
          <a:lstStyle/>
          <a:p>
            <a:pPr marL="0" indent="0" algn="l">
              <a:buNone/>
            </a:pPr>
            <a:r>
              <a:rPr lang="en-US" sz="1500" b="1" dirty="0">
                <a:solidFill>
                  <a:schemeClr val="bg1"/>
                </a:solidFill>
              </a:rPr>
              <a:t>クラスへ配布</a:t>
            </a:r>
            <a:endParaRPr lang="en-US" sz="1500" dirty="0"/>
          </a:p>
        </p:txBody>
      </p:sp>
      <p:sp>
        <p:nvSpPr>
          <p:cNvPr id="13" name="step-role-1"/>
          <p:cNvSpPr txBox="1"/>
          <p:nvPr/>
        </p:nvSpPr>
        <p:spPr>
          <a:xfrm>
            <a:off x="2286000" y="3547872"/>
            <a:ext cx="1234440" cy="228600"/>
          </a:xfrm>
          <a:prstGeom prst="rect">
            <a:avLst/>
          </a:prstGeom>
          <a:noFill/>
          <a:ln/>
        </p:spPr>
        <p:txBody>
          <a:bodyPr wrap="square" lIns="0" tIns="0" rIns="0" bIns="0" rtlCol="0" anchor="ctr"/>
          <a:lstStyle/>
          <a:p>
            <a:pPr marL="0" indent="0" algn="l">
              <a:buNone/>
            </a:pPr>
            <a:r>
              <a:rPr lang="en-US" sz="1200" dirty="0">
                <a:solidFill>
                  <a:schemeClr val="bg1"/>
                </a:solidFill>
              </a:rPr>
              <a:t>先生</a:t>
            </a:r>
            <a:endParaRPr lang="en-US" sz="1200" dirty="0"/>
          </a:p>
        </p:txBody>
      </p:sp>
      <p:sp>
        <p:nvSpPr>
          <p:cNvPr id="14" name="step-arrow-1"/>
          <p:cNvSpPr/>
          <p:nvPr/>
        </p:nvSpPr>
        <p:spPr>
          <a:xfrm>
            <a:off x="3675888" y="3035808"/>
            <a:ext cx="146304" cy="228600"/>
          </a:xfrm>
          <a:prstGeom prst="rightArrow">
            <a:avLst/>
          </a:prstGeom>
          <a:solidFill>
            <a:schemeClr val="accent6"/>
          </a:solidFill>
          <a:ln/>
        </p:spPr>
      </p:sp>
      <p:sp>
        <p:nvSpPr>
          <p:cNvPr id="15" name="step-card-2"/>
          <p:cNvSpPr/>
          <p:nvPr/>
        </p:nvSpPr>
        <p:spPr>
          <a:xfrm>
            <a:off x="3840480" y="2423160"/>
            <a:ext cx="1463040" cy="1463040"/>
          </a:xfrm>
          <a:prstGeom prst="roundRect">
            <a:avLst>
              <a:gd name="adj" fmla="val 6250"/>
            </a:avLst>
          </a:prstGeom>
          <a:solidFill>
            <a:srgbClr val="F59E0B"/>
          </a:solidFill>
          <a:ln/>
          <a:effectLst>
            <a:outerShdw blurRad="76200" dist="25400" dir="5400000" algn="bl" rotWithShape="0">
              <a:srgbClr val="000000">
                <a:alpha val="15000"/>
              </a:srgbClr>
            </a:outerShdw>
          </a:effectLst>
        </p:spPr>
      </p:sp>
      <p:sp>
        <p:nvSpPr>
          <p:cNvPr id="16" name="step-num-2"/>
          <p:cNvSpPr txBox="1"/>
          <p:nvPr/>
        </p:nvSpPr>
        <p:spPr>
          <a:xfrm>
            <a:off x="3931920" y="2514600"/>
            <a:ext cx="365760" cy="365760"/>
          </a:xfrm>
          <a:prstGeom prst="rect">
            <a:avLst/>
          </a:prstGeom>
          <a:noFill/>
          <a:ln/>
        </p:spPr>
        <p:txBody>
          <a:bodyPr wrap="square" lIns="0" tIns="0" rIns="0" bIns="0" rtlCol="0" anchor="ctr"/>
          <a:lstStyle/>
          <a:p>
            <a:pPr marL="0" indent="0" algn="l">
              <a:buNone/>
            </a:pPr>
            <a:r>
              <a:rPr lang="en-US" sz="1800" b="1" dirty="0">
                <a:solidFill>
                  <a:schemeClr val="tx1"/>
                </a:solidFill>
              </a:rPr>
              <a:t>3</a:t>
            </a:r>
            <a:endParaRPr lang="en-US" sz="1800" dirty="0"/>
          </a:p>
        </p:txBody>
      </p:sp>
      <p:sp>
        <p:nvSpPr>
          <p:cNvPr id="17" name="step-label-2"/>
          <p:cNvSpPr txBox="1"/>
          <p:nvPr/>
        </p:nvSpPr>
        <p:spPr>
          <a:xfrm>
            <a:off x="3931920" y="2926080"/>
            <a:ext cx="1280160" cy="594360"/>
          </a:xfrm>
          <a:prstGeom prst="rect">
            <a:avLst/>
          </a:prstGeom>
          <a:noFill/>
          <a:ln/>
        </p:spPr>
        <p:txBody>
          <a:bodyPr wrap="square" lIns="0" tIns="0" rIns="0" bIns="0" rtlCol="0" anchor="t"/>
          <a:lstStyle/>
          <a:p>
            <a:pPr marL="0" indent="0" algn="l">
              <a:buNone/>
            </a:pPr>
            <a:r>
              <a:rPr lang="en-US" sz="1500" b="1" dirty="0">
                <a:solidFill>
                  <a:schemeClr val="tx1"/>
                </a:solidFill>
              </a:rPr>
              <a:t>教材を開いて</a:t>
            </a:r>
            <a:endParaRPr lang="en-US" sz="1500" dirty="0"/>
          </a:p>
          <a:p>
            <a:pPr marL="0" indent="0" algn="l">
              <a:buNone/>
            </a:pPr>
            <a:r>
              <a:rPr lang="en-US" sz="1500" b="1" dirty="0">
                <a:solidFill>
                  <a:schemeClr val="tx1"/>
                </a:solidFill>
              </a:rPr>
              <a:t>回答</a:t>
            </a:r>
            <a:endParaRPr lang="en-US" sz="1500" dirty="0"/>
          </a:p>
        </p:txBody>
      </p:sp>
      <p:sp>
        <p:nvSpPr>
          <p:cNvPr id="18" name="step-role-2"/>
          <p:cNvSpPr txBox="1"/>
          <p:nvPr/>
        </p:nvSpPr>
        <p:spPr>
          <a:xfrm>
            <a:off x="3931920" y="3547872"/>
            <a:ext cx="1234440" cy="228600"/>
          </a:xfrm>
          <a:prstGeom prst="rect">
            <a:avLst/>
          </a:prstGeom>
          <a:noFill/>
          <a:ln/>
        </p:spPr>
        <p:txBody>
          <a:bodyPr wrap="square" lIns="0" tIns="0" rIns="0" bIns="0" rtlCol="0" anchor="ctr"/>
          <a:lstStyle/>
          <a:p>
            <a:pPr marL="0" indent="0" algn="l">
              <a:buNone/>
            </a:pPr>
            <a:r>
              <a:rPr lang="en-US" sz="1200" dirty="0">
                <a:solidFill>
                  <a:schemeClr val="tx1"/>
                </a:solidFill>
              </a:rPr>
              <a:t>生徒</a:t>
            </a:r>
            <a:endParaRPr lang="en-US" sz="1200" dirty="0"/>
          </a:p>
        </p:txBody>
      </p:sp>
      <p:sp>
        <p:nvSpPr>
          <p:cNvPr id="19" name="step-arrow-2"/>
          <p:cNvSpPr/>
          <p:nvPr/>
        </p:nvSpPr>
        <p:spPr>
          <a:xfrm>
            <a:off x="5321808" y="3035808"/>
            <a:ext cx="146304" cy="228600"/>
          </a:xfrm>
          <a:prstGeom prst="rightArrow">
            <a:avLst/>
          </a:prstGeom>
          <a:solidFill>
            <a:schemeClr val="accent6"/>
          </a:solidFill>
          <a:ln/>
        </p:spPr>
      </p:sp>
      <p:sp>
        <p:nvSpPr>
          <p:cNvPr id="20" name="step-card-3"/>
          <p:cNvSpPr/>
          <p:nvPr/>
        </p:nvSpPr>
        <p:spPr>
          <a:xfrm>
            <a:off x="5486400" y="2423160"/>
            <a:ext cx="1463040" cy="1463040"/>
          </a:xfrm>
          <a:prstGeom prst="roundRect">
            <a:avLst>
              <a:gd name="adj" fmla="val 6250"/>
            </a:avLst>
          </a:prstGeom>
          <a:solidFill>
            <a:srgbClr val="F59E0B"/>
          </a:solidFill>
          <a:ln/>
          <a:effectLst>
            <a:outerShdw blurRad="76200" dist="25400" dir="5400000" algn="bl" rotWithShape="0">
              <a:srgbClr val="000000">
                <a:alpha val="15000"/>
              </a:srgbClr>
            </a:outerShdw>
          </a:effectLst>
        </p:spPr>
      </p:sp>
      <p:sp>
        <p:nvSpPr>
          <p:cNvPr id="21" name="step-num-3"/>
          <p:cNvSpPr txBox="1"/>
          <p:nvPr/>
        </p:nvSpPr>
        <p:spPr>
          <a:xfrm>
            <a:off x="5577840" y="2514600"/>
            <a:ext cx="365760" cy="365760"/>
          </a:xfrm>
          <a:prstGeom prst="rect">
            <a:avLst/>
          </a:prstGeom>
          <a:noFill/>
          <a:ln/>
        </p:spPr>
        <p:txBody>
          <a:bodyPr wrap="square" lIns="0" tIns="0" rIns="0" bIns="0" rtlCol="0" anchor="ctr"/>
          <a:lstStyle/>
          <a:p>
            <a:pPr marL="0" indent="0" algn="l">
              <a:buNone/>
            </a:pPr>
            <a:r>
              <a:rPr lang="en-US" sz="1800" b="1" dirty="0">
                <a:solidFill>
                  <a:schemeClr val="tx1"/>
                </a:solidFill>
              </a:rPr>
              <a:t>4</a:t>
            </a:r>
            <a:endParaRPr lang="en-US" sz="1800" dirty="0"/>
          </a:p>
        </p:txBody>
      </p:sp>
      <p:sp>
        <p:nvSpPr>
          <p:cNvPr id="22" name="step-label-3"/>
          <p:cNvSpPr txBox="1"/>
          <p:nvPr/>
        </p:nvSpPr>
        <p:spPr>
          <a:xfrm>
            <a:off x="5577840" y="2926080"/>
            <a:ext cx="1280160" cy="594360"/>
          </a:xfrm>
          <a:prstGeom prst="rect">
            <a:avLst/>
          </a:prstGeom>
          <a:noFill/>
          <a:ln/>
        </p:spPr>
        <p:txBody>
          <a:bodyPr wrap="square" lIns="0" tIns="0" rIns="0" bIns="0" rtlCol="0" anchor="t"/>
          <a:lstStyle/>
          <a:p>
            <a:pPr marL="0" indent="0" algn="l">
              <a:buNone/>
            </a:pPr>
            <a:r>
              <a:rPr lang="en-US" sz="1500" b="1" dirty="0">
                <a:solidFill>
                  <a:schemeClr val="tx1"/>
                </a:solidFill>
              </a:rPr>
              <a:t>提出</a:t>
            </a:r>
            <a:endParaRPr lang="en-US" sz="1500" dirty="0"/>
          </a:p>
        </p:txBody>
      </p:sp>
      <p:sp>
        <p:nvSpPr>
          <p:cNvPr id="23" name="step-role-3"/>
          <p:cNvSpPr txBox="1"/>
          <p:nvPr/>
        </p:nvSpPr>
        <p:spPr>
          <a:xfrm>
            <a:off x="5577840" y="3547872"/>
            <a:ext cx="1234440" cy="228600"/>
          </a:xfrm>
          <a:prstGeom prst="rect">
            <a:avLst/>
          </a:prstGeom>
          <a:noFill/>
          <a:ln/>
        </p:spPr>
        <p:txBody>
          <a:bodyPr wrap="square" lIns="0" tIns="0" rIns="0" bIns="0" rtlCol="0" anchor="ctr"/>
          <a:lstStyle/>
          <a:p>
            <a:pPr marL="0" indent="0" algn="l">
              <a:buNone/>
            </a:pPr>
            <a:r>
              <a:rPr lang="en-US" sz="1200" dirty="0">
                <a:solidFill>
                  <a:schemeClr val="tx1"/>
                </a:solidFill>
              </a:rPr>
              <a:t>生徒</a:t>
            </a:r>
            <a:endParaRPr lang="en-US" sz="1200" dirty="0"/>
          </a:p>
        </p:txBody>
      </p:sp>
      <p:sp>
        <p:nvSpPr>
          <p:cNvPr id="24" name="step-arrow-3"/>
          <p:cNvSpPr/>
          <p:nvPr/>
        </p:nvSpPr>
        <p:spPr>
          <a:xfrm>
            <a:off x="6967728" y="3035808"/>
            <a:ext cx="146304" cy="228600"/>
          </a:xfrm>
          <a:prstGeom prst="rightArrow">
            <a:avLst/>
          </a:prstGeom>
          <a:solidFill>
            <a:schemeClr val="accent6"/>
          </a:solidFill>
          <a:ln/>
        </p:spPr>
      </p:sp>
      <p:sp>
        <p:nvSpPr>
          <p:cNvPr id="25" name="step-card-4"/>
          <p:cNvSpPr/>
          <p:nvPr/>
        </p:nvSpPr>
        <p:spPr>
          <a:xfrm>
            <a:off x="7132320" y="2423160"/>
            <a:ext cx="1463040" cy="1463040"/>
          </a:xfrm>
          <a:prstGeom prst="roundRect">
            <a:avLst>
              <a:gd name="adj" fmla="val 6250"/>
            </a:avLst>
          </a:prstGeom>
          <a:solidFill>
            <a:srgbClr val="0F766E"/>
          </a:solidFill>
          <a:ln/>
          <a:effectLst>
            <a:outerShdw blurRad="76200" dist="25400" dir="5400000" algn="bl" rotWithShape="0">
              <a:srgbClr val="000000">
                <a:alpha val="15000"/>
              </a:srgbClr>
            </a:outerShdw>
          </a:effectLst>
        </p:spPr>
      </p:sp>
      <p:sp>
        <p:nvSpPr>
          <p:cNvPr id="26" name="step-num-4"/>
          <p:cNvSpPr txBox="1"/>
          <p:nvPr/>
        </p:nvSpPr>
        <p:spPr>
          <a:xfrm>
            <a:off x="7223760" y="2514600"/>
            <a:ext cx="365760" cy="365760"/>
          </a:xfrm>
          <a:prstGeom prst="rect">
            <a:avLst/>
          </a:prstGeom>
          <a:noFill/>
          <a:ln/>
        </p:spPr>
        <p:txBody>
          <a:bodyPr wrap="square" lIns="0" tIns="0" rIns="0" bIns="0" rtlCol="0" anchor="ctr"/>
          <a:lstStyle/>
          <a:p>
            <a:pPr marL="0" indent="0" algn="l">
              <a:buNone/>
            </a:pPr>
            <a:r>
              <a:rPr lang="en-US" sz="1800" b="1" dirty="0">
                <a:solidFill>
                  <a:schemeClr val="bg1"/>
                </a:solidFill>
              </a:rPr>
              <a:t>5</a:t>
            </a:r>
            <a:endParaRPr lang="en-US" sz="1800" dirty="0"/>
          </a:p>
        </p:txBody>
      </p:sp>
      <p:sp>
        <p:nvSpPr>
          <p:cNvPr id="27" name="step-label-4"/>
          <p:cNvSpPr txBox="1"/>
          <p:nvPr/>
        </p:nvSpPr>
        <p:spPr>
          <a:xfrm>
            <a:off x="7223760" y="2926080"/>
            <a:ext cx="1280160" cy="594360"/>
          </a:xfrm>
          <a:prstGeom prst="rect">
            <a:avLst/>
          </a:prstGeom>
          <a:noFill/>
          <a:ln/>
        </p:spPr>
        <p:txBody>
          <a:bodyPr wrap="square" lIns="0" tIns="0" rIns="0" bIns="0" rtlCol="0" anchor="t"/>
          <a:lstStyle/>
          <a:p>
            <a:pPr marL="0" indent="0" algn="l">
              <a:buNone/>
            </a:pPr>
            <a:r>
              <a:rPr lang="en-US" sz="1500" b="1" dirty="0">
                <a:solidFill>
                  <a:schemeClr val="bg1"/>
                </a:solidFill>
              </a:rPr>
              <a:t>提出状況・</a:t>
            </a:r>
            <a:endParaRPr lang="en-US" sz="1500" dirty="0"/>
          </a:p>
          <a:p>
            <a:pPr marL="0" indent="0" algn="l">
              <a:buNone/>
            </a:pPr>
            <a:r>
              <a:rPr lang="en-US" sz="1500" b="1" dirty="0">
                <a:solidFill>
                  <a:schemeClr val="bg1"/>
                </a:solidFill>
              </a:rPr>
              <a:t>回答を確認</a:t>
            </a:r>
            <a:endParaRPr lang="en-US" sz="1500" dirty="0"/>
          </a:p>
        </p:txBody>
      </p:sp>
      <p:sp>
        <p:nvSpPr>
          <p:cNvPr id="28" name="step-role-4"/>
          <p:cNvSpPr txBox="1"/>
          <p:nvPr/>
        </p:nvSpPr>
        <p:spPr>
          <a:xfrm>
            <a:off x="7223760" y="3547872"/>
            <a:ext cx="1234440" cy="228600"/>
          </a:xfrm>
          <a:prstGeom prst="rect">
            <a:avLst/>
          </a:prstGeom>
          <a:noFill/>
          <a:ln/>
        </p:spPr>
        <p:txBody>
          <a:bodyPr wrap="square" lIns="0" tIns="0" rIns="0" bIns="0" rtlCol="0" anchor="ctr"/>
          <a:lstStyle/>
          <a:p>
            <a:pPr marL="0" indent="0" algn="l">
              <a:buNone/>
            </a:pPr>
            <a:r>
              <a:rPr lang="en-US" sz="1200" dirty="0">
                <a:solidFill>
                  <a:schemeClr val="bg1"/>
                </a:solidFill>
              </a:rPr>
              <a:t>先生</a:t>
            </a:r>
            <a:endParaRPr lang="en-US" sz="1200" dirty="0"/>
          </a:p>
        </p:txBody>
      </p:sp>
      <p:sp>
        <p:nvSpPr>
          <p:cNvPr id="29" name="legend-teacher"/>
          <p:cNvSpPr/>
          <p:nvPr/>
        </p:nvSpPr>
        <p:spPr>
          <a:xfrm>
            <a:off x="548640" y="4160520"/>
            <a:ext cx="1188720" cy="310896"/>
          </a:xfrm>
          <a:prstGeom prst="roundRect">
            <a:avLst>
              <a:gd name="adj" fmla="val 29412"/>
            </a:avLst>
          </a:prstGeom>
          <a:solidFill>
            <a:srgbClr val="0F766E"/>
          </a:solidFill>
          <a:ln/>
        </p:spPr>
      </p:sp>
      <p:sp>
        <p:nvSpPr>
          <p:cNvPr id="30" name="legend-teacher-text"/>
          <p:cNvSpPr txBox="1"/>
          <p:nvPr/>
        </p:nvSpPr>
        <p:spPr>
          <a:xfrm>
            <a:off x="548640" y="4160520"/>
            <a:ext cx="1188720" cy="310896"/>
          </a:xfrm>
          <a:prstGeom prst="rect">
            <a:avLst/>
          </a:prstGeom>
          <a:noFill/>
          <a:ln/>
        </p:spPr>
        <p:txBody>
          <a:bodyPr wrap="square" lIns="0" tIns="0" rIns="0" bIns="0" rtlCol="0" anchor="ctr"/>
          <a:lstStyle/>
          <a:p>
            <a:pPr marL="0" indent="0" algn="ctr">
              <a:buNone/>
            </a:pPr>
            <a:r>
              <a:rPr lang="en-US" sz="1200" b="1" dirty="0">
                <a:solidFill>
                  <a:schemeClr val="bg1"/>
                </a:solidFill>
              </a:rPr>
              <a:t>先生の操作</a:t>
            </a:r>
            <a:endParaRPr lang="en-US" sz="1200" dirty="0"/>
          </a:p>
        </p:txBody>
      </p:sp>
      <p:sp>
        <p:nvSpPr>
          <p:cNvPr id="31" name="legend-student"/>
          <p:cNvSpPr/>
          <p:nvPr/>
        </p:nvSpPr>
        <p:spPr>
          <a:xfrm>
            <a:off x="1874520" y="4160520"/>
            <a:ext cx="1188720" cy="310896"/>
          </a:xfrm>
          <a:prstGeom prst="roundRect">
            <a:avLst>
              <a:gd name="adj" fmla="val 29412"/>
            </a:avLst>
          </a:prstGeom>
          <a:solidFill>
            <a:srgbClr val="F59E0B"/>
          </a:solidFill>
          <a:ln/>
        </p:spPr>
      </p:sp>
      <p:sp>
        <p:nvSpPr>
          <p:cNvPr id="32" name="legend-student-text"/>
          <p:cNvSpPr txBox="1"/>
          <p:nvPr/>
        </p:nvSpPr>
        <p:spPr>
          <a:xfrm>
            <a:off x="1874520" y="4160520"/>
            <a:ext cx="1188720" cy="310896"/>
          </a:xfrm>
          <a:prstGeom prst="rect">
            <a:avLst/>
          </a:prstGeom>
          <a:noFill/>
          <a:ln/>
        </p:spPr>
        <p:txBody>
          <a:bodyPr wrap="square" lIns="0" tIns="0" rIns="0" bIns="0" rtlCol="0" anchor="ctr"/>
          <a:lstStyle/>
          <a:p>
            <a:pPr marL="0" indent="0" algn="ctr">
              <a:buNone/>
            </a:pPr>
            <a:r>
              <a:rPr lang="en-US" sz="1200" b="1" dirty="0">
                <a:solidFill>
                  <a:schemeClr val="tx1"/>
                </a:solidFill>
              </a:rPr>
              <a:t>生徒の操作</a:t>
            </a:r>
            <a:endParaRPr lang="en-US" sz="1200" dirty="0"/>
          </a:p>
        </p:txBody>
      </p:sp>
      <p:sp>
        <p:nvSpPr>
          <p:cNvPr id="33" name="quiz-flow-note"/>
          <p:cNvSpPr txBox="1"/>
          <p:nvPr/>
        </p:nvSpPr>
        <p:spPr>
          <a:xfrm>
            <a:off x="3291840" y="4114800"/>
            <a:ext cx="4937760" cy="411480"/>
          </a:xfrm>
          <a:prstGeom prst="rect">
            <a:avLst/>
          </a:prstGeom>
          <a:noFill/>
          <a:ln/>
        </p:spPr>
        <p:txBody>
          <a:bodyPr wrap="square" lIns="0" tIns="0" rIns="0" bIns="0" rtlCol="0" anchor="ctr"/>
          <a:lstStyle/>
          <a:p>
            <a:pPr marL="0" indent="0" algn="l">
              <a:buNone/>
            </a:pPr>
            <a:r>
              <a:rPr lang="en-US" sz="1400" dirty="0">
                <a:solidFill>
                  <a:schemeClr val="tx1"/>
                </a:solidFill>
              </a:rPr>
              <a:t>クイズも同じ流れ：出題 → 回答 → 自動採点 → 結果確認</a:t>
            </a:r>
            <a:endParaRPr lang="en-US" sz="1400" dirty="0"/>
          </a:p>
        </p:txBody>
      </p:sp>
      <p:sp>
        <p:nvSpPr>
          <p:cNvPr id="34"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tx2"/>
                </a:solidFill>
              </a:rPr>
              <a:t>主な機能</a:t>
            </a:r>
            <a:endParaRPr lang="en-US" sz="3200" dirty="0"/>
          </a:p>
        </p:txBody>
      </p:sp>
      <p:sp>
        <p:nvSpPr>
          <p:cNvPr id="3" name="feat-card-0"/>
          <p:cNvSpPr/>
          <p:nvPr/>
        </p:nvSpPr>
        <p:spPr>
          <a:xfrm>
            <a:off x="548640" y="1280160"/>
            <a:ext cx="2560320" cy="1600200"/>
          </a:xfrm>
          <a:prstGeom prst="roundRect">
            <a:avLst>
              <a:gd name="adj" fmla="val 5714"/>
            </a:avLst>
          </a:prstGeom>
          <a:solidFill>
            <a:srgbClr val="EAF3F4"/>
          </a:solidFill>
          <a:ln/>
        </p:spPr>
      </p:sp>
      <p:sp>
        <p:nvSpPr>
          <p:cNvPr id="4" name="feat-0-circle"/>
          <p:cNvSpPr/>
          <p:nvPr/>
        </p:nvSpPr>
        <p:spPr>
          <a:xfrm>
            <a:off x="731520" y="1463040"/>
            <a:ext cx="502920" cy="502920"/>
          </a:xfrm>
          <a:prstGeom prst="ellipse">
            <a:avLst/>
          </a:prstGeom>
          <a:solidFill>
            <a:srgbClr val="0F766E"/>
          </a:solidFill>
          <a:ln/>
        </p:spPr>
      </p:sp>
      <p:pic>
        <p:nvPicPr>
          <p:cNvPr id="5" name="feat-0-icon" descr="feat-0"/>
          <p:cNvPicPr>
            <a:picLocks noChangeAspect="1"/>
          </p:cNvPicPr>
          <p:nvPr/>
        </p:nvPicPr>
        <p:blipFill>
          <a:blip r:embed="rId3"/>
          <a:stretch>
            <a:fillRect/>
          </a:stretch>
        </p:blipFill>
        <p:spPr>
          <a:xfrm>
            <a:off x="857250" y="1588770"/>
            <a:ext cx="251460" cy="251460"/>
          </a:xfrm>
          <a:prstGeom prst="rect">
            <a:avLst/>
          </a:prstGeom>
        </p:spPr>
      </p:pic>
      <p:sp>
        <p:nvSpPr>
          <p:cNvPr id="6" name="feat-title-0"/>
          <p:cNvSpPr txBox="1"/>
          <p:nvPr/>
        </p:nvSpPr>
        <p:spPr>
          <a:xfrm>
            <a:off x="1371600" y="1463040"/>
            <a:ext cx="1554480" cy="502920"/>
          </a:xfrm>
          <a:prstGeom prst="rect">
            <a:avLst/>
          </a:prstGeom>
          <a:noFill/>
          <a:ln/>
        </p:spPr>
        <p:txBody>
          <a:bodyPr wrap="square" lIns="0" tIns="0" rIns="0" bIns="0" rtlCol="0" anchor="ctr"/>
          <a:lstStyle/>
          <a:p>
            <a:pPr marL="0" indent="0" algn="l">
              <a:buNone/>
            </a:pPr>
            <a:r>
              <a:rPr lang="en-US" sz="1800" b="1" dirty="0">
                <a:solidFill>
                  <a:schemeClr val="tx2"/>
                </a:solidFill>
              </a:rPr>
              <a:t>教材管理</a:t>
            </a:r>
            <a:endParaRPr lang="en-US" sz="1800" dirty="0"/>
          </a:p>
        </p:txBody>
      </p:sp>
      <p:sp>
        <p:nvSpPr>
          <p:cNvPr id="7" name="feat-items-0"/>
          <p:cNvSpPr txBox="1"/>
          <p:nvPr/>
        </p:nvSpPr>
        <p:spPr>
          <a:xfrm>
            <a:off x="731520" y="2103120"/>
            <a:ext cx="2194560" cy="685800"/>
          </a:xfrm>
          <a:prstGeom prst="rect">
            <a:avLst/>
          </a:prstGeom>
          <a:noFill/>
          <a:ln/>
        </p:spPr>
        <p:txBody>
          <a:bodyPr wrap="square" lIns="0" tIns="0" rIns="0" bIns="0" rtlCol="0" anchor="t"/>
          <a:lstStyle/>
          <a:p>
            <a:pPr marL="0" indent="0" algn="l">
              <a:buNone/>
            </a:pPr>
            <a:r>
              <a:rPr lang="en-US" sz="1400" dirty="0">
                <a:solidFill>
                  <a:schemeClr val="tx1"/>
                </a:solidFill>
              </a:rPr>
              <a:t>一覧・作成・編集</a:t>
            </a:r>
            <a:endParaRPr lang="en-US" sz="1400" dirty="0"/>
          </a:p>
          <a:p>
            <a:pPr marL="0" indent="0" algn="l">
              <a:buNone/>
            </a:pPr>
            <a:r>
              <a:rPr lang="en-US" sz="1400" dirty="0">
                <a:solidFill>
                  <a:schemeClr val="tx1"/>
                </a:solidFill>
              </a:rPr>
              <a:t>キャンバス・ページ</a:t>
            </a:r>
            <a:endParaRPr lang="en-US" sz="1400" dirty="0"/>
          </a:p>
        </p:txBody>
      </p:sp>
      <p:sp>
        <p:nvSpPr>
          <p:cNvPr id="8" name="feat-card-1"/>
          <p:cNvSpPr/>
          <p:nvPr/>
        </p:nvSpPr>
        <p:spPr>
          <a:xfrm>
            <a:off x="3291840" y="1280160"/>
            <a:ext cx="2560320" cy="1600200"/>
          </a:xfrm>
          <a:prstGeom prst="roundRect">
            <a:avLst>
              <a:gd name="adj" fmla="val 5714"/>
            </a:avLst>
          </a:prstGeom>
          <a:solidFill>
            <a:srgbClr val="EAF3F4"/>
          </a:solidFill>
          <a:ln/>
        </p:spPr>
      </p:sp>
      <p:sp>
        <p:nvSpPr>
          <p:cNvPr id="9" name="feat-1-circle"/>
          <p:cNvSpPr/>
          <p:nvPr/>
        </p:nvSpPr>
        <p:spPr>
          <a:xfrm>
            <a:off x="3474720" y="1463040"/>
            <a:ext cx="502920" cy="502920"/>
          </a:xfrm>
          <a:prstGeom prst="ellipse">
            <a:avLst/>
          </a:prstGeom>
          <a:solidFill>
            <a:srgbClr val="F59E0B"/>
          </a:solidFill>
          <a:ln/>
        </p:spPr>
      </p:sp>
      <p:pic>
        <p:nvPicPr>
          <p:cNvPr id="10" name="feat-1-icon" descr="feat-1"/>
          <p:cNvPicPr>
            <a:picLocks noChangeAspect="1"/>
          </p:cNvPicPr>
          <p:nvPr/>
        </p:nvPicPr>
        <p:blipFill>
          <a:blip r:embed="rId4"/>
          <a:stretch>
            <a:fillRect/>
          </a:stretch>
        </p:blipFill>
        <p:spPr>
          <a:xfrm>
            <a:off x="3600450" y="1588770"/>
            <a:ext cx="251460" cy="251460"/>
          </a:xfrm>
          <a:prstGeom prst="rect">
            <a:avLst/>
          </a:prstGeom>
        </p:spPr>
      </p:pic>
      <p:sp>
        <p:nvSpPr>
          <p:cNvPr id="11" name="feat-title-1"/>
          <p:cNvSpPr txBox="1"/>
          <p:nvPr/>
        </p:nvSpPr>
        <p:spPr>
          <a:xfrm>
            <a:off x="4114800" y="1463040"/>
            <a:ext cx="1554480" cy="502920"/>
          </a:xfrm>
          <a:prstGeom prst="rect">
            <a:avLst/>
          </a:prstGeom>
          <a:noFill/>
          <a:ln/>
        </p:spPr>
        <p:txBody>
          <a:bodyPr wrap="square" lIns="0" tIns="0" rIns="0" bIns="0" rtlCol="0" anchor="ctr"/>
          <a:lstStyle/>
          <a:p>
            <a:pPr marL="0" indent="0" algn="l">
              <a:buNone/>
            </a:pPr>
            <a:r>
              <a:rPr lang="en-US" sz="1800" b="1" dirty="0">
                <a:solidFill>
                  <a:schemeClr val="tx2"/>
                </a:solidFill>
              </a:rPr>
              <a:t>提出物管理</a:t>
            </a:r>
            <a:endParaRPr lang="en-US" sz="1800" dirty="0"/>
          </a:p>
        </p:txBody>
      </p:sp>
      <p:sp>
        <p:nvSpPr>
          <p:cNvPr id="12" name="feat-items-1"/>
          <p:cNvSpPr txBox="1"/>
          <p:nvPr/>
        </p:nvSpPr>
        <p:spPr>
          <a:xfrm>
            <a:off x="3474720" y="2103120"/>
            <a:ext cx="2194560" cy="685800"/>
          </a:xfrm>
          <a:prstGeom prst="rect">
            <a:avLst/>
          </a:prstGeom>
          <a:noFill/>
          <a:ln/>
        </p:spPr>
        <p:txBody>
          <a:bodyPr wrap="square" lIns="0" tIns="0" rIns="0" bIns="0" rtlCol="0" anchor="t"/>
          <a:lstStyle/>
          <a:p>
            <a:pPr marL="0" indent="0" algn="l">
              <a:buNone/>
            </a:pPr>
            <a:r>
              <a:rPr lang="en-US" sz="1400" dirty="0">
                <a:solidFill>
                  <a:schemeClr val="tx1"/>
                </a:solidFill>
              </a:rPr>
              <a:t>回答・提出</a:t>
            </a:r>
            <a:endParaRPr lang="en-US" sz="1400" dirty="0"/>
          </a:p>
          <a:p>
            <a:pPr marL="0" indent="0" algn="l">
              <a:buNone/>
            </a:pPr>
            <a:r>
              <a:rPr lang="en-US" sz="1400" dirty="0">
                <a:solidFill>
                  <a:schemeClr val="tx1"/>
                </a:solidFill>
              </a:rPr>
              <a:t>提出状況・回答確認</a:t>
            </a:r>
            <a:endParaRPr lang="en-US" sz="1400" dirty="0"/>
          </a:p>
        </p:txBody>
      </p:sp>
      <p:sp>
        <p:nvSpPr>
          <p:cNvPr id="13" name="feat-card-2"/>
          <p:cNvSpPr/>
          <p:nvPr/>
        </p:nvSpPr>
        <p:spPr>
          <a:xfrm>
            <a:off x="6035040" y="1280160"/>
            <a:ext cx="2560320" cy="1600200"/>
          </a:xfrm>
          <a:prstGeom prst="roundRect">
            <a:avLst>
              <a:gd name="adj" fmla="val 5714"/>
            </a:avLst>
          </a:prstGeom>
          <a:solidFill>
            <a:srgbClr val="EAF3F4"/>
          </a:solidFill>
          <a:ln/>
        </p:spPr>
      </p:sp>
      <p:sp>
        <p:nvSpPr>
          <p:cNvPr id="14" name="feat-2-circle"/>
          <p:cNvSpPr/>
          <p:nvPr/>
        </p:nvSpPr>
        <p:spPr>
          <a:xfrm>
            <a:off x="6217920" y="1463040"/>
            <a:ext cx="502920" cy="502920"/>
          </a:xfrm>
          <a:prstGeom prst="ellipse">
            <a:avLst/>
          </a:prstGeom>
          <a:solidFill>
            <a:srgbClr val="E76F51"/>
          </a:solidFill>
          <a:ln/>
        </p:spPr>
      </p:sp>
      <p:pic>
        <p:nvPicPr>
          <p:cNvPr id="15" name="feat-2-icon" descr="feat-2"/>
          <p:cNvPicPr>
            <a:picLocks noChangeAspect="1"/>
          </p:cNvPicPr>
          <p:nvPr/>
        </p:nvPicPr>
        <p:blipFill>
          <a:blip r:embed="rId5"/>
          <a:stretch>
            <a:fillRect/>
          </a:stretch>
        </p:blipFill>
        <p:spPr>
          <a:xfrm>
            <a:off x="6343650" y="1588770"/>
            <a:ext cx="251460" cy="251460"/>
          </a:xfrm>
          <a:prstGeom prst="rect">
            <a:avLst/>
          </a:prstGeom>
        </p:spPr>
      </p:pic>
      <p:sp>
        <p:nvSpPr>
          <p:cNvPr id="16" name="feat-title-2"/>
          <p:cNvSpPr txBox="1"/>
          <p:nvPr/>
        </p:nvSpPr>
        <p:spPr>
          <a:xfrm>
            <a:off x="6858000" y="1463040"/>
            <a:ext cx="1554480" cy="502920"/>
          </a:xfrm>
          <a:prstGeom prst="rect">
            <a:avLst/>
          </a:prstGeom>
          <a:noFill/>
          <a:ln/>
        </p:spPr>
        <p:txBody>
          <a:bodyPr wrap="square" lIns="0" tIns="0" rIns="0" bIns="0" rtlCol="0" anchor="ctr"/>
          <a:lstStyle/>
          <a:p>
            <a:pPr marL="0" indent="0" algn="l">
              <a:buNone/>
            </a:pPr>
            <a:r>
              <a:rPr lang="en-US" sz="1800" b="1" dirty="0">
                <a:solidFill>
                  <a:schemeClr val="tx2"/>
                </a:solidFill>
              </a:rPr>
              <a:t>クラス管理</a:t>
            </a:r>
            <a:endParaRPr lang="en-US" sz="1800" dirty="0"/>
          </a:p>
        </p:txBody>
      </p:sp>
      <p:sp>
        <p:nvSpPr>
          <p:cNvPr id="17" name="feat-items-2"/>
          <p:cNvSpPr txBox="1"/>
          <p:nvPr/>
        </p:nvSpPr>
        <p:spPr>
          <a:xfrm>
            <a:off x="6217920" y="2103120"/>
            <a:ext cx="2194560" cy="685800"/>
          </a:xfrm>
          <a:prstGeom prst="rect">
            <a:avLst/>
          </a:prstGeom>
          <a:noFill/>
          <a:ln/>
        </p:spPr>
        <p:txBody>
          <a:bodyPr wrap="square" lIns="0" tIns="0" rIns="0" bIns="0" rtlCol="0" anchor="t"/>
          <a:lstStyle/>
          <a:p>
            <a:pPr marL="0" indent="0" algn="l">
              <a:buNone/>
            </a:pPr>
            <a:r>
              <a:rPr lang="en-US" sz="1400" dirty="0">
                <a:solidFill>
                  <a:schemeClr val="tx1"/>
                </a:solidFill>
              </a:rPr>
              <a:t>クラス・生徒の管理</a:t>
            </a:r>
            <a:endParaRPr lang="en-US" sz="1400" dirty="0"/>
          </a:p>
          <a:p>
            <a:pPr marL="0" indent="0" algn="l">
              <a:buNone/>
            </a:pPr>
            <a:r>
              <a:rPr lang="en-US" sz="1400" dirty="0">
                <a:solidFill>
                  <a:schemeClr val="tx1"/>
                </a:solidFill>
              </a:rPr>
              <a:t>クラス単位で配布</a:t>
            </a:r>
            <a:endParaRPr lang="en-US" sz="1400" dirty="0"/>
          </a:p>
        </p:txBody>
      </p:sp>
      <p:sp>
        <p:nvSpPr>
          <p:cNvPr id="18" name="feat-card-3"/>
          <p:cNvSpPr/>
          <p:nvPr/>
        </p:nvSpPr>
        <p:spPr>
          <a:xfrm>
            <a:off x="548640" y="3063240"/>
            <a:ext cx="3931920" cy="1600200"/>
          </a:xfrm>
          <a:prstGeom prst="roundRect">
            <a:avLst>
              <a:gd name="adj" fmla="val 5714"/>
            </a:avLst>
          </a:prstGeom>
          <a:solidFill>
            <a:srgbClr val="EAF3F4"/>
          </a:solidFill>
          <a:ln/>
        </p:spPr>
      </p:sp>
      <p:sp>
        <p:nvSpPr>
          <p:cNvPr id="19" name="feat-3-circle"/>
          <p:cNvSpPr/>
          <p:nvPr/>
        </p:nvSpPr>
        <p:spPr>
          <a:xfrm>
            <a:off x="731520" y="3246120"/>
            <a:ext cx="502920" cy="502920"/>
          </a:xfrm>
          <a:prstGeom prst="ellipse">
            <a:avLst/>
          </a:prstGeom>
          <a:solidFill>
            <a:srgbClr val="0F4C5C"/>
          </a:solidFill>
          <a:ln/>
        </p:spPr>
      </p:sp>
      <p:pic>
        <p:nvPicPr>
          <p:cNvPr id="20" name="feat-3-icon" descr="feat-3"/>
          <p:cNvPicPr>
            <a:picLocks noChangeAspect="1"/>
          </p:cNvPicPr>
          <p:nvPr/>
        </p:nvPicPr>
        <p:blipFill>
          <a:blip r:embed="rId6"/>
          <a:stretch>
            <a:fillRect/>
          </a:stretch>
        </p:blipFill>
        <p:spPr>
          <a:xfrm>
            <a:off x="857250" y="3371850"/>
            <a:ext cx="251460" cy="251460"/>
          </a:xfrm>
          <a:prstGeom prst="rect">
            <a:avLst/>
          </a:prstGeom>
        </p:spPr>
      </p:pic>
      <p:sp>
        <p:nvSpPr>
          <p:cNvPr id="21" name="feat-title-3"/>
          <p:cNvSpPr txBox="1"/>
          <p:nvPr/>
        </p:nvSpPr>
        <p:spPr>
          <a:xfrm>
            <a:off x="1371600" y="3246120"/>
            <a:ext cx="2926080" cy="502920"/>
          </a:xfrm>
          <a:prstGeom prst="rect">
            <a:avLst/>
          </a:prstGeom>
          <a:noFill/>
          <a:ln/>
        </p:spPr>
        <p:txBody>
          <a:bodyPr wrap="square" lIns="0" tIns="0" rIns="0" bIns="0" rtlCol="0" anchor="ctr"/>
          <a:lstStyle/>
          <a:p>
            <a:pPr marL="0" indent="0" algn="l">
              <a:buNone/>
            </a:pPr>
            <a:r>
              <a:rPr lang="en-US" sz="1800" b="1" dirty="0">
                <a:solidFill>
                  <a:schemeClr val="tx2"/>
                </a:solidFill>
              </a:rPr>
              <a:t>クイズ</a:t>
            </a:r>
            <a:endParaRPr lang="en-US" sz="1800" dirty="0"/>
          </a:p>
        </p:txBody>
      </p:sp>
      <p:sp>
        <p:nvSpPr>
          <p:cNvPr id="22" name="feat-items-3"/>
          <p:cNvSpPr txBox="1"/>
          <p:nvPr/>
        </p:nvSpPr>
        <p:spPr>
          <a:xfrm>
            <a:off x="731520" y="3886200"/>
            <a:ext cx="3566160" cy="685800"/>
          </a:xfrm>
          <a:prstGeom prst="rect">
            <a:avLst/>
          </a:prstGeom>
          <a:noFill/>
          <a:ln/>
        </p:spPr>
        <p:txBody>
          <a:bodyPr wrap="square" lIns="0" tIns="0" rIns="0" bIns="0" rtlCol="0" anchor="t"/>
          <a:lstStyle/>
          <a:p>
            <a:pPr marL="0" indent="0" algn="l">
              <a:buNone/>
            </a:pPr>
            <a:r>
              <a:rPr lang="en-US" sz="1400" dirty="0">
                <a:solidFill>
                  <a:schemeClr val="tx1"/>
                </a:solidFill>
              </a:rPr>
              <a:t>作成・クラス指定・出題</a:t>
            </a:r>
            <a:endParaRPr lang="en-US" sz="1400" dirty="0"/>
          </a:p>
          <a:p>
            <a:pPr marL="0" indent="0" algn="l">
              <a:buNone/>
            </a:pPr>
            <a:r>
              <a:rPr lang="en-US" sz="1400" dirty="0">
                <a:solidFill>
                  <a:schemeClr val="tx1"/>
                </a:solidFill>
              </a:rPr>
              <a:t>自動採点・結果確認</a:t>
            </a:r>
            <a:endParaRPr lang="en-US" sz="1400" dirty="0"/>
          </a:p>
        </p:txBody>
      </p:sp>
      <p:sp>
        <p:nvSpPr>
          <p:cNvPr id="23" name="feat-card-4"/>
          <p:cNvSpPr/>
          <p:nvPr/>
        </p:nvSpPr>
        <p:spPr>
          <a:xfrm>
            <a:off x="4663440" y="3063240"/>
            <a:ext cx="3931920" cy="1600200"/>
          </a:xfrm>
          <a:prstGeom prst="roundRect">
            <a:avLst>
              <a:gd name="adj" fmla="val 5714"/>
            </a:avLst>
          </a:prstGeom>
          <a:solidFill>
            <a:srgbClr val="EAF3F4"/>
          </a:solidFill>
          <a:ln/>
        </p:spPr>
      </p:sp>
      <p:sp>
        <p:nvSpPr>
          <p:cNvPr id="24" name="feat-4-circle"/>
          <p:cNvSpPr/>
          <p:nvPr/>
        </p:nvSpPr>
        <p:spPr>
          <a:xfrm>
            <a:off x="4846320" y="3246120"/>
            <a:ext cx="502920" cy="502920"/>
          </a:xfrm>
          <a:prstGeom prst="ellipse">
            <a:avLst/>
          </a:prstGeom>
          <a:solidFill>
            <a:srgbClr val="64748B"/>
          </a:solidFill>
          <a:ln/>
        </p:spPr>
      </p:sp>
      <p:pic>
        <p:nvPicPr>
          <p:cNvPr id="25" name="feat-4-icon" descr="feat-4"/>
          <p:cNvPicPr>
            <a:picLocks noChangeAspect="1"/>
          </p:cNvPicPr>
          <p:nvPr/>
        </p:nvPicPr>
        <p:blipFill>
          <a:blip r:embed="rId7"/>
          <a:stretch>
            <a:fillRect/>
          </a:stretch>
        </p:blipFill>
        <p:spPr>
          <a:xfrm>
            <a:off x="4972050" y="3371850"/>
            <a:ext cx="251460" cy="251460"/>
          </a:xfrm>
          <a:prstGeom prst="rect">
            <a:avLst/>
          </a:prstGeom>
        </p:spPr>
      </p:pic>
      <p:sp>
        <p:nvSpPr>
          <p:cNvPr id="26" name="feat-title-4"/>
          <p:cNvSpPr txBox="1"/>
          <p:nvPr/>
        </p:nvSpPr>
        <p:spPr>
          <a:xfrm>
            <a:off x="5486400" y="3246120"/>
            <a:ext cx="2926080" cy="502920"/>
          </a:xfrm>
          <a:prstGeom prst="rect">
            <a:avLst/>
          </a:prstGeom>
          <a:noFill/>
          <a:ln/>
        </p:spPr>
        <p:txBody>
          <a:bodyPr wrap="square" lIns="0" tIns="0" rIns="0" bIns="0" rtlCol="0" anchor="ctr"/>
          <a:lstStyle/>
          <a:p>
            <a:pPr marL="0" indent="0" algn="l">
              <a:buNone/>
            </a:pPr>
            <a:r>
              <a:rPr lang="en-US" sz="1800" b="1" dirty="0">
                <a:solidFill>
                  <a:schemeClr val="tx2"/>
                </a:solidFill>
              </a:rPr>
              <a:t>ユーザー管理</a:t>
            </a:r>
            <a:endParaRPr lang="en-US" sz="1800" dirty="0"/>
          </a:p>
        </p:txBody>
      </p:sp>
      <p:sp>
        <p:nvSpPr>
          <p:cNvPr id="27" name="feat-items-4"/>
          <p:cNvSpPr txBox="1"/>
          <p:nvPr/>
        </p:nvSpPr>
        <p:spPr>
          <a:xfrm>
            <a:off x="4846320" y="3886200"/>
            <a:ext cx="3566160" cy="685800"/>
          </a:xfrm>
          <a:prstGeom prst="rect">
            <a:avLst/>
          </a:prstGeom>
          <a:noFill/>
          <a:ln/>
        </p:spPr>
        <p:txBody>
          <a:bodyPr wrap="square" lIns="0" tIns="0" rIns="0" bIns="0" rtlCol="0" anchor="t"/>
          <a:lstStyle/>
          <a:p>
            <a:pPr marL="0" indent="0" algn="l">
              <a:buNone/>
            </a:pPr>
            <a:r>
              <a:rPr lang="en-US" sz="1400" dirty="0">
                <a:solidFill>
                  <a:schemeClr val="tx1"/>
                </a:solidFill>
              </a:rPr>
              <a:t>ログイン／先生・生徒の権限分離</a:t>
            </a:r>
            <a:endParaRPr lang="en-US" sz="1400" dirty="0"/>
          </a:p>
        </p:txBody>
      </p:sp>
      <p:sp>
        <p:nvSpPr>
          <p:cNvPr id="28"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tx2"/>
                </a:solidFill>
              </a:rPr>
              <a:t>教材作成機能</a:t>
            </a:r>
            <a:endParaRPr lang="en-US" sz="3200" dirty="0"/>
          </a:p>
        </p:txBody>
      </p:sp>
      <p:sp>
        <p:nvSpPr>
          <p:cNvPr id="3" name="mock-frame"/>
          <p:cNvSpPr/>
          <p:nvPr/>
        </p:nvSpPr>
        <p:spPr>
          <a:xfrm>
            <a:off x="548640" y="1280160"/>
            <a:ext cx="4754880" cy="3108960"/>
          </a:xfrm>
          <a:prstGeom prst="rect">
            <a:avLst/>
          </a:prstGeom>
          <a:solidFill>
            <a:schemeClr val="bg2"/>
          </a:solidFill>
          <a:ln w="9525">
            <a:solidFill>
              <a:srgbClr val="64748B"/>
            </a:solidFill>
            <a:prstDash val="solid"/>
          </a:ln>
          <a:effectLst>
            <a:outerShdw blurRad="76200" dist="25400" dir="5400000" algn="bl" rotWithShape="0">
              <a:srgbClr val="000000">
                <a:alpha val="15000"/>
              </a:srgbClr>
            </a:outerShdw>
          </a:effectLst>
        </p:spPr>
      </p:sp>
      <p:sp>
        <p:nvSpPr>
          <p:cNvPr id="4" name="mock-toolbar"/>
          <p:cNvSpPr/>
          <p:nvPr/>
        </p:nvSpPr>
        <p:spPr>
          <a:xfrm>
            <a:off x="548640" y="1280160"/>
            <a:ext cx="4754880" cy="457200"/>
          </a:xfrm>
          <a:prstGeom prst="rect">
            <a:avLst/>
          </a:prstGeom>
          <a:solidFill>
            <a:schemeClr val="tx2"/>
          </a:solidFill>
          <a:ln/>
        </p:spPr>
      </p:sp>
      <p:sp>
        <p:nvSpPr>
          <p:cNvPr id="5" name="mock-tool-0"/>
          <p:cNvSpPr/>
          <p:nvPr/>
        </p:nvSpPr>
        <p:spPr>
          <a:xfrm>
            <a:off x="731520" y="1408176"/>
            <a:ext cx="201168" cy="201168"/>
          </a:xfrm>
          <a:prstGeom prst="ellipse">
            <a:avLst/>
          </a:prstGeom>
          <a:solidFill>
            <a:schemeClr val="bg1"/>
          </a:solidFill>
          <a:ln/>
        </p:spPr>
      </p:sp>
      <p:sp>
        <p:nvSpPr>
          <p:cNvPr id="6" name="mock-tool-1"/>
          <p:cNvSpPr/>
          <p:nvPr/>
        </p:nvSpPr>
        <p:spPr>
          <a:xfrm>
            <a:off x="1097280" y="1408176"/>
            <a:ext cx="201168" cy="201168"/>
          </a:xfrm>
          <a:prstGeom prst="ellipse">
            <a:avLst/>
          </a:prstGeom>
          <a:solidFill>
            <a:schemeClr val="bg1"/>
          </a:solidFill>
          <a:ln/>
        </p:spPr>
      </p:sp>
      <p:sp>
        <p:nvSpPr>
          <p:cNvPr id="7" name="mock-tool-2"/>
          <p:cNvSpPr/>
          <p:nvPr/>
        </p:nvSpPr>
        <p:spPr>
          <a:xfrm>
            <a:off x="1463040" y="1408176"/>
            <a:ext cx="201168" cy="201168"/>
          </a:xfrm>
          <a:prstGeom prst="ellipse">
            <a:avLst/>
          </a:prstGeom>
          <a:solidFill>
            <a:schemeClr val="bg1"/>
          </a:solidFill>
          <a:ln/>
        </p:spPr>
      </p:sp>
      <p:sp>
        <p:nvSpPr>
          <p:cNvPr id="8" name="mock-tool-3"/>
          <p:cNvSpPr/>
          <p:nvPr/>
        </p:nvSpPr>
        <p:spPr>
          <a:xfrm>
            <a:off x="1828800" y="1408176"/>
            <a:ext cx="201168" cy="201168"/>
          </a:xfrm>
          <a:prstGeom prst="ellipse">
            <a:avLst/>
          </a:prstGeom>
          <a:solidFill>
            <a:schemeClr val="bg1"/>
          </a:solidFill>
          <a:ln/>
        </p:spPr>
      </p:sp>
      <p:sp>
        <p:nvSpPr>
          <p:cNvPr id="9" name="mock-tool-4"/>
          <p:cNvSpPr/>
          <p:nvPr/>
        </p:nvSpPr>
        <p:spPr>
          <a:xfrm>
            <a:off x="2194560" y="1408176"/>
            <a:ext cx="201168" cy="201168"/>
          </a:xfrm>
          <a:prstGeom prst="ellipse">
            <a:avLst/>
          </a:prstGeom>
          <a:solidFill>
            <a:schemeClr val="bg1"/>
          </a:solidFill>
          <a:ln/>
        </p:spPr>
      </p:sp>
      <p:sp>
        <p:nvSpPr>
          <p:cNvPr id="10" name="mock-toolbar-label"/>
          <p:cNvSpPr txBox="1"/>
          <p:nvPr/>
        </p:nvSpPr>
        <p:spPr>
          <a:xfrm>
            <a:off x="4023360" y="1280160"/>
            <a:ext cx="1188720" cy="457200"/>
          </a:xfrm>
          <a:prstGeom prst="rect">
            <a:avLst/>
          </a:prstGeom>
          <a:noFill/>
          <a:ln/>
        </p:spPr>
        <p:txBody>
          <a:bodyPr wrap="square" lIns="0" tIns="0" rIns="0" bIns="0" rtlCol="0" anchor="ctr"/>
          <a:lstStyle/>
          <a:p>
            <a:pPr marL="0" indent="0" algn="r">
              <a:buNone/>
            </a:pPr>
            <a:r>
              <a:rPr lang="en-US" sz="1200" dirty="0">
                <a:solidFill>
                  <a:schemeClr val="bg1"/>
                </a:solidFill>
              </a:rPr>
              <a:t>ツールバー</a:t>
            </a:r>
            <a:endParaRPr lang="en-US" sz="1200" dirty="0"/>
          </a:p>
        </p:txBody>
      </p:sp>
      <p:sp>
        <p:nvSpPr>
          <p:cNvPr id="11" name="mock-pages-label"/>
          <p:cNvSpPr txBox="1"/>
          <p:nvPr/>
        </p:nvSpPr>
        <p:spPr>
          <a:xfrm>
            <a:off x="685800" y="1810512"/>
            <a:ext cx="822960" cy="228600"/>
          </a:xfrm>
          <a:prstGeom prst="rect">
            <a:avLst/>
          </a:prstGeom>
          <a:noFill/>
          <a:ln/>
        </p:spPr>
        <p:txBody>
          <a:bodyPr wrap="square" lIns="0" tIns="0" rIns="0" bIns="0" rtlCol="0" anchor="ctr"/>
          <a:lstStyle/>
          <a:p>
            <a:pPr marL="0" indent="0" algn="l">
              <a:buNone/>
            </a:pPr>
            <a:r>
              <a:rPr lang="en-US" sz="1200" dirty="0">
                <a:solidFill>
                  <a:schemeClr val="accent6"/>
                </a:solidFill>
              </a:rPr>
              <a:t>ページ</a:t>
            </a:r>
            <a:endParaRPr lang="en-US" sz="1200" dirty="0"/>
          </a:p>
        </p:txBody>
      </p:sp>
      <p:sp>
        <p:nvSpPr>
          <p:cNvPr id="12" name="mock-page-0"/>
          <p:cNvSpPr/>
          <p:nvPr/>
        </p:nvSpPr>
        <p:spPr>
          <a:xfrm>
            <a:off x="731520" y="2103120"/>
            <a:ext cx="731520" cy="548640"/>
          </a:xfrm>
          <a:prstGeom prst="rect">
            <a:avLst/>
          </a:prstGeom>
          <a:solidFill>
            <a:schemeClr val="bg1"/>
          </a:solidFill>
          <a:ln w="6350">
            <a:solidFill>
              <a:srgbClr val="64748B"/>
            </a:solidFill>
            <a:prstDash val="solid"/>
          </a:ln>
        </p:spPr>
      </p:sp>
      <p:sp>
        <p:nvSpPr>
          <p:cNvPr id="13" name="mock-page-num-0"/>
          <p:cNvSpPr txBox="1"/>
          <p:nvPr/>
        </p:nvSpPr>
        <p:spPr>
          <a:xfrm>
            <a:off x="731520" y="2103120"/>
            <a:ext cx="731520" cy="548640"/>
          </a:xfrm>
          <a:prstGeom prst="rect">
            <a:avLst/>
          </a:prstGeom>
          <a:noFill/>
          <a:ln/>
        </p:spPr>
        <p:txBody>
          <a:bodyPr wrap="square" lIns="0" tIns="0" rIns="0" bIns="0" rtlCol="0" anchor="ctr"/>
          <a:lstStyle/>
          <a:p>
            <a:pPr marL="0" indent="0" algn="ctr">
              <a:buNone/>
            </a:pPr>
            <a:r>
              <a:rPr lang="en-US" sz="1200" dirty="0">
                <a:solidFill>
                  <a:schemeClr val="accent6"/>
                </a:solidFill>
              </a:rPr>
              <a:t>1</a:t>
            </a:r>
            <a:endParaRPr lang="en-US" sz="1200" dirty="0"/>
          </a:p>
        </p:txBody>
      </p:sp>
      <p:sp>
        <p:nvSpPr>
          <p:cNvPr id="14" name="mock-page-1"/>
          <p:cNvSpPr/>
          <p:nvPr/>
        </p:nvSpPr>
        <p:spPr>
          <a:xfrm>
            <a:off x="731520" y="2834640"/>
            <a:ext cx="731520" cy="548640"/>
          </a:xfrm>
          <a:prstGeom prst="rect">
            <a:avLst/>
          </a:prstGeom>
          <a:solidFill>
            <a:schemeClr val="bg1"/>
          </a:solidFill>
          <a:ln w="6350">
            <a:solidFill>
              <a:srgbClr val="64748B"/>
            </a:solidFill>
            <a:prstDash val="solid"/>
          </a:ln>
        </p:spPr>
      </p:sp>
      <p:sp>
        <p:nvSpPr>
          <p:cNvPr id="15" name="mock-page-num-1"/>
          <p:cNvSpPr txBox="1"/>
          <p:nvPr/>
        </p:nvSpPr>
        <p:spPr>
          <a:xfrm>
            <a:off x="731520" y="2834640"/>
            <a:ext cx="731520" cy="548640"/>
          </a:xfrm>
          <a:prstGeom prst="rect">
            <a:avLst/>
          </a:prstGeom>
          <a:noFill/>
          <a:ln/>
        </p:spPr>
        <p:txBody>
          <a:bodyPr wrap="square" lIns="0" tIns="0" rIns="0" bIns="0" rtlCol="0" anchor="ctr"/>
          <a:lstStyle/>
          <a:p>
            <a:pPr marL="0" indent="0" algn="ctr">
              <a:buNone/>
            </a:pPr>
            <a:r>
              <a:rPr lang="en-US" sz="1200" dirty="0">
                <a:solidFill>
                  <a:schemeClr val="accent6"/>
                </a:solidFill>
              </a:rPr>
              <a:t>2</a:t>
            </a:r>
            <a:endParaRPr lang="en-US" sz="1200" dirty="0"/>
          </a:p>
        </p:txBody>
      </p:sp>
      <p:sp>
        <p:nvSpPr>
          <p:cNvPr id="16" name="mock-page-2"/>
          <p:cNvSpPr/>
          <p:nvPr/>
        </p:nvSpPr>
        <p:spPr>
          <a:xfrm>
            <a:off x="731520" y="3566160"/>
            <a:ext cx="731520" cy="548640"/>
          </a:xfrm>
          <a:prstGeom prst="rect">
            <a:avLst/>
          </a:prstGeom>
          <a:solidFill>
            <a:schemeClr val="bg1"/>
          </a:solidFill>
          <a:ln w="6350">
            <a:solidFill>
              <a:srgbClr val="64748B"/>
            </a:solidFill>
            <a:prstDash val="solid"/>
          </a:ln>
        </p:spPr>
      </p:sp>
      <p:sp>
        <p:nvSpPr>
          <p:cNvPr id="17" name="mock-page-num-2"/>
          <p:cNvSpPr txBox="1"/>
          <p:nvPr/>
        </p:nvSpPr>
        <p:spPr>
          <a:xfrm>
            <a:off x="731520" y="3566160"/>
            <a:ext cx="731520" cy="548640"/>
          </a:xfrm>
          <a:prstGeom prst="rect">
            <a:avLst/>
          </a:prstGeom>
          <a:noFill/>
          <a:ln/>
        </p:spPr>
        <p:txBody>
          <a:bodyPr wrap="square" lIns="0" tIns="0" rIns="0" bIns="0" rtlCol="0" anchor="ctr"/>
          <a:lstStyle/>
          <a:p>
            <a:pPr marL="0" indent="0" algn="ctr">
              <a:buNone/>
            </a:pPr>
            <a:r>
              <a:rPr lang="en-US" sz="1200" dirty="0">
                <a:solidFill>
                  <a:schemeClr val="accent6"/>
                </a:solidFill>
              </a:rPr>
              <a:t>3</a:t>
            </a:r>
            <a:endParaRPr lang="en-US" sz="1200" dirty="0"/>
          </a:p>
        </p:txBody>
      </p:sp>
      <p:sp>
        <p:nvSpPr>
          <p:cNvPr id="18" name="mock-canvas"/>
          <p:cNvSpPr/>
          <p:nvPr/>
        </p:nvSpPr>
        <p:spPr>
          <a:xfrm>
            <a:off x="1691640" y="1874520"/>
            <a:ext cx="3474720" cy="2377440"/>
          </a:xfrm>
          <a:prstGeom prst="rect">
            <a:avLst/>
          </a:prstGeom>
          <a:solidFill>
            <a:schemeClr val="bg1"/>
          </a:solidFill>
          <a:ln w="6350">
            <a:solidFill>
              <a:srgbClr val="64748B"/>
            </a:solidFill>
            <a:prstDash val="solid"/>
          </a:ln>
        </p:spPr>
      </p:sp>
      <p:sp>
        <p:nvSpPr>
          <p:cNvPr id="19" name="mock-canvas-label"/>
          <p:cNvSpPr txBox="1"/>
          <p:nvPr/>
        </p:nvSpPr>
        <p:spPr>
          <a:xfrm>
            <a:off x="1874520" y="1965960"/>
            <a:ext cx="2286000" cy="365760"/>
          </a:xfrm>
          <a:prstGeom prst="rect">
            <a:avLst/>
          </a:prstGeom>
          <a:noFill/>
          <a:ln/>
        </p:spPr>
        <p:txBody>
          <a:bodyPr wrap="square" lIns="0" tIns="0" rIns="0" bIns="0" rtlCol="0" anchor="ctr"/>
          <a:lstStyle/>
          <a:p>
            <a:pPr marL="0" indent="0" algn="l">
              <a:buNone/>
            </a:pPr>
            <a:r>
              <a:rPr lang="en-US" sz="1400" b="1" dirty="0">
                <a:solidFill>
                  <a:schemeClr val="tx2"/>
                </a:solidFill>
              </a:rPr>
              <a:t>教材キャンバス</a:t>
            </a:r>
            <a:endParaRPr lang="en-US" sz="1400" dirty="0"/>
          </a:p>
        </p:txBody>
      </p:sp>
      <p:sp>
        <p:nvSpPr>
          <p:cNvPr id="20" name="mock-shape-rect"/>
          <p:cNvSpPr/>
          <p:nvPr/>
        </p:nvSpPr>
        <p:spPr>
          <a:xfrm>
            <a:off x="1874520" y="2514600"/>
            <a:ext cx="1280160" cy="822960"/>
          </a:xfrm>
          <a:prstGeom prst="rect">
            <a:avLst/>
          </a:prstGeom>
          <a:solidFill>
            <a:schemeClr val="accent1"/>
          </a:solidFill>
          <a:ln/>
        </p:spPr>
      </p:sp>
      <p:sp>
        <p:nvSpPr>
          <p:cNvPr id="21" name="mock-shape-circle"/>
          <p:cNvSpPr/>
          <p:nvPr/>
        </p:nvSpPr>
        <p:spPr>
          <a:xfrm>
            <a:off x="3520440" y="2514600"/>
            <a:ext cx="822960" cy="822960"/>
          </a:xfrm>
          <a:prstGeom prst="ellipse">
            <a:avLst/>
          </a:prstGeom>
          <a:solidFill>
            <a:schemeClr val="accent2"/>
          </a:solidFill>
          <a:ln/>
        </p:spPr>
      </p:sp>
      <p:sp>
        <p:nvSpPr>
          <p:cNvPr id="22" name="mock-textbox"/>
          <p:cNvSpPr/>
          <p:nvPr/>
        </p:nvSpPr>
        <p:spPr>
          <a:xfrm>
            <a:off x="1874520" y="3611880"/>
            <a:ext cx="3108960" cy="411480"/>
          </a:xfrm>
          <a:prstGeom prst="rect">
            <a:avLst/>
          </a:prstGeom>
          <a:solidFill>
            <a:schemeClr val="bg1"/>
          </a:solidFill>
          <a:ln w="9525">
            <a:solidFill>
              <a:srgbClr val="64748B"/>
            </a:solidFill>
            <a:prstDash val="dash"/>
          </a:ln>
        </p:spPr>
      </p:sp>
      <p:sp>
        <p:nvSpPr>
          <p:cNvPr id="23" name="mock-textbox-text"/>
          <p:cNvSpPr txBox="1"/>
          <p:nvPr/>
        </p:nvSpPr>
        <p:spPr>
          <a:xfrm>
            <a:off x="1965960" y="3611880"/>
            <a:ext cx="2926080" cy="411480"/>
          </a:xfrm>
          <a:prstGeom prst="rect">
            <a:avLst/>
          </a:prstGeom>
          <a:noFill/>
          <a:ln/>
        </p:spPr>
        <p:txBody>
          <a:bodyPr wrap="square" lIns="0" tIns="0" rIns="0" bIns="0" rtlCol="0" anchor="ctr"/>
          <a:lstStyle/>
          <a:p>
            <a:pPr marL="0" indent="0" algn="l">
              <a:buNone/>
            </a:pPr>
            <a:r>
              <a:rPr lang="en-US" sz="1400" dirty="0">
                <a:solidFill>
                  <a:schemeClr val="accent6"/>
                </a:solidFill>
              </a:rPr>
              <a:t>問題文を入力…</a:t>
            </a:r>
            <a:endParaRPr lang="en-US" sz="1400" dirty="0"/>
          </a:p>
        </p:txBody>
      </p:sp>
      <p:sp>
        <p:nvSpPr>
          <p:cNvPr id="24" name="mock-caption"/>
          <p:cNvSpPr txBox="1"/>
          <p:nvPr/>
        </p:nvSpPr>
        <p:spPr>
          <a:xfrm>
            <a:off x="548640" y="4434840"/>
            <a:ext cx="2743200" cy="228600"/>
          </a:xfrm>
          <a:prstGeom prst="rect">
            <a:avLst/>
          </a:prstGeom>
          <a:noFill/>
          <a:ln/>
        </p:spPr>
        <p:txBody>
          <a:bodyPr wrap="square" lIns="0" tIns="0" rIns="0" bIns="0" rtlCol="0" anchor="ctr"/>
          <a:lstStyle/>
          <a:p>
            <a:pPr marL="0" indent="0" algn="l">
              <a:buNone/>
            </a:pPr>
            <a:r>
              <a:rPr lang="en-US" sz="1200" dirty="0">
                <a:solidFill>
                  <a:schemeClr val="accent6"/>
                </a:solidFill>
              </a:rPr>
              <a:t>※画面のイメージ図</a:t>
            </a:r>
            <a:endParaRPr lang="en-US" sz="1200" dirty="0"/>
          </a:p>
        </p:txBody>
      </p:sp>
      <p:sp>
        <p:nvSpPr>
          <p:cNvPr id="25" name="mock-heading"/>
          <p:cNvSpPr txBox="1"/>
          <p:nvPr/>
        </p:nvSpPr>
        <p:spPr>
          <a:xfrm>
            <a:off x="5669280" y="1280160"/>
            <a:ext cx="2926080" cy="457200"/>
          </a:xfrm>
          <a:prstGeom prst="rect">
            <a:avLst/>
          </a:prstGeom>
          <a:noFill/>
          <a:ln/>
        </p:spPr>
        <p:txBody>
          <a:bodyPr wrap="square" lIns="0" tIns="0" rIns="0" bIns="0" rtlCol="0" anchor="ctr"/>
          <a:lstStyle/>
          <a:p>
            <a:pPr marL="0" indent="0" algn="l">
              <a:buNone/>
            </a:pPr>
            <a:r>
              <a:rPr lang="en-US" sz="2000" b="1" dirty="0">
                <a:solidFill>
                  <a:schemeClr val="accent1"/>
                </a:solidFill>
              </a:rPr>
              <a:t>Fabric.jsで作る教材</a:t>
            </a:r>
            <a:endParaRPr lang="en-US" sz="2000" dirty="0"/>
          </a:p>
        </p:txBody>
      </p:sp>
      <p:sp>
        <p:nvSpPr>
          <p:cNvPr id="26" name="mock-bullets"/>
          <p:cNvSpPr txBox="1"/>
          <p:nvPr/>
        </p:nvSpPr>
        <p:spPr>
          <a:xfrm>
            <a:off x="5669280" y="1874520"/>
            <a:ext cx="2926080" cy="2560320"/>
          </a:xfrm>
          <a:prstGeom prst="rect">
            <a:avLst/>
          </a:prstGeom>
          <a:noFill/>
          <a:ln/>
        </p:spPr>
        <p:txBody>
          <a:bodyPr wrap="square" lIns="0" tIns="0" rIns="0" bIns="0" rtlCol="0" anchor="t"/>
          <a:lstStyle/>
          <a:p>
            <a:pPr marL="342900" indent="-342900" algn="l">
              <a:spcAft>
                <a:spcPts val="800"/>
              </a:spcAft>
              <a:buSzPct val="100000"/>
              <a:buChar char="•"/>
            </a:pPr>
            <a:r>
              <a:rPr lang="en-US" sz="1500" dirty="0">
                <a:solidFill>
                  <a:schemeClr val="tx1"/>
                </a:solidFill>
              </a:rPr>
              <a:t>文字・図形をキャンバス上に自由に配置</a:t>
            </a:r>
            <a:endParaRPr lang="en-US" sz="1500" dirty="0"/>
          </a:p>
          <a:p>
            <a:pPr marL="342900" indent="-342900" algn="l">
              <a:spcAft>
                <a:spcPts val="800"/>
              </a:spcAft>
              <a:buSzPct val="100000"/>
              <a:buChar char="•"/>
            </a:pPr>
            <a:r>
              <a:rPr lang="en-US" sz="1500" dirty="0">
                <a:solidFill>
                  <a:schemeClr val="tx1"/>
                </a:solidFill>
              </a:rPr>
              <a:t>ページ単位で教材を管理</a:t>
            </a:r>
            <a:endParaRPr lang="en-US" sz="1500" dirty="0"/>
          </a:p>
          <a:p>
            <a:pPr marL="342900" indent="-342900" algn="l">
              <a:spcAft>
                <a:spcPts val="800"/>
              </a:spcAft>
              <a:buSzPct val="100000"/>
              <a:buChar char="•"/>
            </a:pPr>
            <a:r>
              <a:rPr lang="en-US" sz="1500" dirty="0">
                <a:solidFill>
                  <a:schemeClr val="tx1"/>
                </a:solidFill>
              </a:rPr>
              <a:t>生徒は同じ教材に直接回答して提出</a:t>
            </a:r>
            <a:endParaRPr lang="en-US" sz="1500" dirty="0"/>
          </a:p>
          <a:p>
            <a:pPr marL="342900" indent="-342900" algn="l">
              <a:spcAft>
                <a:spcPts val="800"/>
              </a:spcAft>
              <a:buSzPct val="100000"/>
              <a:buChar char="•"/>
            </a:pPr>
            <a:r>
              <a:rPr lang="en-US" sz="1500" dirty="0">
                <a:solidFill>
                  <a:schemeClr val="tx1"/>
                </a:solidFill>
              </a:rPr>
              <a:t>先生が提出状況と回答を確認</a:t>
            </a:r>
            <a:endParaRPr lang="en-US" sz="1500" dirty="0"/>
          </a:p>
        </p:txBody>
      </p:sp>
      <p:sp>
        <p:nvSpPr>
          <p:cNvPr id="27"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tx2"/>
                </a:solidFill>
              </a:rPr>
              <a:t>クイズ機能</a:t>
            </a:r>
            <a:endParaRPr lang="en-US" sz="3200" dirty="0"/>
          </a:p>
        </p:txBody>
      </p:sp>
      <p:sp>
        <p:nvSpPr>
          <p:cNvPr id="3" name="qflow-chip-0"/>
          <p:cNvSpPr/>
          <p:nvPr/>
        </p:nvSpPr>
        <p:spPr>
          <a:xfrm>
            <a:off x="548640" y="1280160"/>
            <a:ext cx="1188720" cy="731520"/>
          </a:xfrm>
          <a:prstGeom prst="roundRect">
            <a:avLst>
              <a:gd name="adj" fmla="val 12500"/>
            </a:avLst>
          </a:prstGeom>
          <a:solidFill>
            <a:srgbClr val="0F766E"/>
          </a:solidFill>
          <a:ln/>
        </p:spPr>
      </p:sp>
      <p:sp>
        <p:nvSpPr>
          <p:cNvPr id="4" name="qflow-text-0"/>
          <p:cNvSpPr txBox="1"/>
          <p:nvPr/>
        </p:nvSpPr>
        <p:spPr>
          <a:xfrm>
            <a:off x="548640" y="1280160"/>
            <a:ext cx="1188720" cy="731520"/>
          </a:xfrm>
          <a:prstGeom prst="rect">
            <a:avLst/>
          </a:prstGeom>
          <a:noFill/>
          <a:ln/>
        </p:spPr>
        <p:txBody>
          <a:bodyPr wrap="square" lIns="0" tIns="0" rIns="0" bIns="0" rtlCol="0" anchor="ctr"/>
          <a:lstStyle/>
          <a:p>
            <a:pPr marL="0" indent="0" algn="ctr">
              <a:buNone/>
            </a:pPr>
            <a:r>
              <a:rPr lang="en-US" sz="1400" b="1" dirty="0">
                <a:solidFill>
                  <a:srgbClr val="FFFFFF"/>
                </a:solidFill>
              </a:rPr>
              <a:t>作成</a:t>
            </a:r>
            <a:endParaRPr lang="en-US" sz="1400" dirty="0"/>
          </a:p>
        </p:txBody>
      </p:sp>
      <p:sp>
        <p:nvSpPr>
          <p:cNvPr id="5" name="qflow-arrow-0"/>
          <p:cNvSpPr/>
          <p:nvPr/>
        </p:nvSpPr>
        <p:spPr>
          <a:xfrm>
            <a:off x="1755648" y="1536192"/>
            <a:ext cx="146304" cy="228600"/>
          </a:xfrm>
          <a:prstGeom prst="rightArrow">
            <a:avLst/>
          </a:prstGeom>
          <a:solidFill>
            <a:schemeClr val="accent6"/>
          </a:solidFill>
          <a:ln/>
        </p:spPr>
      </p:sp>
      <p:sp>
        <p:nvSpPr>
          <p:cNvPr id="6" name="qflow-chip-1"/>
          <p:cNvSpPr/>
          <p:nvPr/>
        </p:nvSpPr>
        <p:spPr>
          <a:xfrm>
            <a:off x="1920240" y="1280160"/>
            <a:ext cx="1188720" cy="731520"/>
          </a:xfrm>
          <a:prstGeom prst="roundRect">
            <a:avLst>
              <a:gd name="adj" fmla="val 12500"/>
            </a:avLst>
          </a:prstGeom>
          <a:solidFill>
            <a:srgbClr val="0F766E"/>
          </a:solidFill>
          <a:ln/>
        </p:spPr>
      </p:sp>
      <p:sp>
        <p:nvSpPr>
          <p:cNvPr id="7" name="qflow-text-1"/>
          <p:cNvSpPr txBox="1"/>
          <p:nvPr/>
        </p:nvSpPr>
        <p:spPr>
          <a:xfrm>
            <a:off x="1920240" y="1280160"/>
            <a:ext cx="1188720" cy="731520"/>
          </a:xfrm>
          <a:prstGeom prst="rect">
            <a:avLst/>
          </a:prstGeom>
          <a:noFill/>
          <a:ln/>
        </p:spPr>
        <p:txBody>
          <a:bodyPr wrap="square" lIns="0" tIns="0" rIns="0" bIns="0" rtlCol="0" anchor="ctr"/>
          <a:lstStyle/>
          <a:p>
            <a:pPr marL="0" indent="0" algn="ctr">
              <a:buNone/>
            </a:pPr>
            <a:r>
              <a:rPr lang="en-US" sz="1400" b="1" dirty="0">
                <a:solidFill>
                  <a:srgbClr val="FFFFFF"/>
                </a:solidFill>
              </a:rPr>
              <a:t>クラス指定</a:t>
            </a:r>
            <a:endParaRPr lang="en-US" sz="1400" dirty="0"/>
          </a:p>
        </p:txBody>
      </p:sp>
      <p:sp>
        <p:nvSpPr>
          <p:cNvPr id="8" name="qflow-arrow-1"/>
          <p:cNvSpPr/>
          <p:nvPr/>
        </p:nvSpPr>
        <p:spPr>
          <a:xfrm>
            <a:off x="3127248" y="1536192"/>
            <a:ext cx="146304" cy="228600"/>
          </a:xfrm>
          <a:prstGeom prst="rightArrow">
            <a:avLst/>
          </a:prstGeom>
          <a:solidFill>
            <a:schemeClr val="accent6"/>
          </a:solidFill>
          <a:ln/>
        </p:spPr>
      </p:sp>
      <p:sp>
        <p:nvSpPr>
          <p:cNvPr id="9" name="qflow-chip-2"/>
          <p:cNvSpPr/>
          <p:nvPr/>
        </p:nvSpPr>
        <p:spPr>
          <a:xfrm>
            <a:off x="3291840" y="1280160"/>
            <a:ext cx="1188720" cy="731520"/>
          </a:xfrm>
          <a:prstGeom prst="roundRect">
            <a:avLst>
              <a:gd name="adj" fmla="val 12500"/>
            </a:avLst>
          </a:prstGeom>
          <a:solidFill>
            <a:srgbClr val="0F766E"/>
          </a:solidFill>
          <a:ln/>
        </p:spPr>
      </p:sp>
      <p:sp>
        <p:nvSpPr>
          <p:cNvPr id="10" name="qflow-text-2"/>
          <p:cNvSpPr txBox="1"/>
          <p:nvPr/>
        </p:nvSpPr>
        <p:spPr>
          <a:xfrm>
            <a:off x="3291840" y="1280160"/>
            <a:ext cx="1188720" cy="731520"/>
          </a:xfrm>
          <a:prstGeom prst="rect">
            <a:avLst/>
          </a:prstGeom>
          <a:noFill/>
          <a:ln/>
        </p:spPr>
        <p:txBody>
          <a:bodyPr wrap="square" lIns="0" tIns="0" rIns="0" bIns="0" rtlCol="0" anchor="ctr"/>
          <a:lstStyle/>
          <a:p>
            <a:pPr marL="0" indent="0" algn="ctr">
              <a:buNone/>
            </a:pPr>
            <a:r>
              <a:rPr lang="en-US" sz="1400" b="1" dirty="0">
                <a:solidFill>
                  <a:srgbClr val="FFFFFF"/>
                </a:solidFill>
              </a:rPr>
              <a:t>出題</a:t>
            </a:r>
            <a:endParaRPr lang="en-US" sz="1400" dirty="0"/>
          </a:p>
        </p:txBody>
      </p:sp>
      <p:sp>
        <p:nvSpPr>
          <p:cNvPr id="11" name="qflow-arrow-2"/>
          <p:cNvSpPr/>
          <p:nvPr/>
        </p:nvSpPr>
        <p:spPr>
          <a:xfrm>
            <a:off x="4498848" y="1536192"/>
            <a:ext cx="146304" cy="228600"/>
          </a:xfrm>
          <a:prstGeom prst="rightArrow">
            <a:avLst/>
          </a:prstGeom>
          <a:solidFill>
            <a:schemeClr val="accent6"/>
          </a:solidFill>
          <a:ln/>
        </p:spPr>
      </p:sp>
      <p:sp>
        <p:nvSpPr>
          <p:cNvPr id="12" name="qflow-chip-3"/>
          <p:cNvSpPr/>
          <p:nvPr/>
        </p:nvSpPr>
        <p:spPr>
          <a:xfrm>
            <a:off x="4663440" y="1280160"/>
            <a:ext cx="1188720" cy="731520"/>
          </a:xfrm>
          <a:prstGeom prst="roundRect">
            <a:avLst>
              <a:gd name="adj" fmla="val 12500"/>
            </a:avLst>
          </a:prstGeom>
          <a:solidFill>
            <a:srgbClr val="F59E0B"/>
          </a:solidFill>
          <a:ln/>
        </p:spPr>
      </p:sp>
      <p:sp>
        <p:nvSpPr>
          <p:cNvPr id="13" name="qflow-text-3"/>
          <p:cNvSpPr txBox="1"/>
          <p:nvPr/>
        </p:nvSpPr>
        <p:spPr>
          <a:xfrm>
            <a:off x="4663440" y="1280160"/>
            <a:ext cx="1188720" cy="731520"/>
          </a:xfrm>
          <a:prstGeom prst="rect">
            <a:avLst/>
          </a:prstGeom>
          <a:noFill/>
          <a:ln/>
        </p:spPr>
        <p:txBody>
          <a:bodyPr wrap="square" lIns="0" tIns="0" rIns="0" bIns="0" rtlCol="0" anchor="ctr"/>
          <a:lstStyle/>
          <a:p>
            <a:pPr marL="0" indent="0" algn="ctr">
              <a:buNone/>
            </a:pPr>
            <a:r>
              <a:rPr lang="en-US" sz="1400" b="1" dirty="0">
                <a:solidFill>
                  <a:srgbClr val="1B2433"/>
                </a:solidFill>
              </a:rPr>
              <a:t>生徒が回答</a:t>
            </a:r>
            <a:endParaRPr lang="en-US" sz="1400" dirty="0"/>
          </a:p>
        </p:txBody>
      </p:sp>
      <p:sp>
        <p:nvSpPr>
          <p:cNvPr id="14" name="qflow-arrow-3"/>
          <p:cNvSpPr/>
          <p:nvPr/>
        </p:nvSpPr>
        <p:spPr>
          <a:xfrm>
            <a:off x="5870448" y="1536192"/>
            <a:ext cx="146304" cy="228600"/>
          </a:xfrm>
          <a:prstGeom prst="rightArrow">
            <a:avLst/>
          </a:prstGeom>
          <a:solidFill>
            <a:schemeClr val="accent6"/>
          </a:solidFill>
          <a:ln/>
        </p:spPr>
      </p:sp>
      <p:sp>
        <p:nvSpPr>
          <p:cNvPr id="15" name="qflow-chip-4"/>
          <p:cNvSpPr/>
          <p:nvPr/>
        </p:nvSpPr>
        <p:spPr>
          <a:xfrm>
            <a:off x="6035040" y="1280160"/>
            <a:ext cx="1188720" cy="731520"/>
          </a:xfrm>
          <a:prstGeom prst="roundRect">
            <a:avLst>
              <a:gd name="adj" fmla="val 12500"/>
            </a:avLst>
          </a:prstGeom>
          <a:solidFill>
            <a:srgbClr val="0F4C5C"/>
          </a:solidFill>
          <a:ln/>
        </p:spPr>
      </p:sp>
      <p:sp>
        <p:nvSpPr>
          <p:cNvPr id="16" name="qflow-text-4"/>
          <p:cNvSpPr txBox="1"/>
          <p:nvPr/>
        </p:nvSpPr>
        <p:spPr>
          <a:xfrm>
            <a:off x="6035040" y="1280160"/>
            <a:ext cx="1188720" cy="731520"/>
          </a:xfrm>
          <a:prstGeom prst="rect">
            <a:avLst/>
          </a:prstGeom>
          <a:noFill/>
          <a:ln/>
        </p:spPr>
        <p:txBody>
          <a:bodyPr wrap="square" lIns="0" tIns="0" rIns="0" bIns="0" rtlCol="0" anchor="ctr"/>
          <a:lstStyle/>
          <a:p>
            <a:pPr marL="0" indent="0" algn="ctr">
              <a:buNone/>
            </a:pPr>
            <a:r>
              <a:rPr lang="en-US" sz="1400" b="1" dirty="0">
                <a:solidFill>
                  <a:srgbClr val="FFFFFF"/>
                </a:solidFill>
              </a:rPr>
              <a:t>自動採点</a:t>
            </a:r>
            <a:endParaRPr lang="en-US" sz="1400" dirty="0"/>
          </a:p>
        </p:txBody>
      </p:sp>
      <p:sp>
        <p:nvSpPr>
          <p:cNvPr id="17" name="qflow-arrow-4"/>
          <p:cNvSpPr/>
          <p:nvPr/>
        </p:nvSpPr>
        <p:spPr>
          <a:xfrm>
            <a:off x="7242048" y="1536192"/>
            <a:ext cx="146304" cy="228600"/>
          </a:xfrm>
          <a:prstGeom prst="rightArrow">
            <a:avLst/>
          </a:prstGeom>
          <a:solidFill>
            <a:schemeClr val="accent6"/>
          </a:solidFill>
          <a:ln/>
        </p:spPr>
      </p:sp>
      <p:sp>
        <p:nvSpPr>
          <p:cNvPr id="18" name="qflow-chip-5"/>
          <p:cNvSpPr/>
          <p:nvPr/>
        </p:nvSpPr>
        <p:spPr>
          <a:xfrm>
            <a:off x="7406640" y="1280160"/>
            <a:ext cx="1188720" cy="731520"/>
          </a:xfrm>
          <a:prstGeom prst="roundRect">
            <a:avLst>
              <a:gd name="adj" fmla="val 12500"/>
            </a:avLst>
          </a:prstGeom>
          <a:solidFill>
            <a:srgbClr val="0F766E"/>
          </a:solidFill>
          <a:ln/>
        </p:spPr>
      </p:sp>
      <p:sp>
        <p:nvSpPr>
          <p:cNvPr id="19" name="qflow-text-5"/>
          <p:cNvSpPr txBox="1"/>
          <p:nvPr/>
        </p:nvSpPr>
        <p:spPr>
          <a:xfrm>
            <a:off x="7406640" y="1280160"/>
            <a:ext cx="1188720" cy="731520"/>
          </a:xfrm>
          <a:prstGeom prst="rect">
            <a:avLst/>
          </a:prstGeom>
          <a:noFill/>
          <a:ln/>
        </p:spPr>
        <p:txBody>
          <a:bodyPr wrap="square" lIns="0" tIns="0" rIns="0" bIns="0" rtlCol="0" anchor="ctr"/>
          <a:lstStyle/>
          <a:p>
            <a:pPr marL="0" indent="0" algn="ctr">
              <a:buNone/>
            </a:pPr>
            <a:r>
              <a:rPr lang="en-US" sz="1400" b="1" dirty="0">
                <a:solidFill>
                  <a:srgbClr val="FFFFFF"/>
                </a:solidFill>
              </a:rPr>
              <a:t>結果確認</a:t>
            </a:r>
            <a:endParaRPr lang="en-US" sz="1400" dirty="0"/>
          </a:p>
        </p:txBody>
      </p:sp>
      <p:sp>
        <p:nvSpPr>
          <p:cNvPr id="20" name="qcard-score"/>
          <p:cNvSpPr/>
          <p:nvPr/>
        </p:nvSpPr>
        <p:spPr>
          <a:xfrm>
            <a:off x="548640" y="2377440"/>
            <a:ext cx="2560320" cy="2240280"/>
          </a:xfrm>
          <a:prstGeom prst="roundRect">
            <a:avLst>
              <a:gd name="adj" fmla="val 4082"/>
            </a:avLst>
          </a:prstGeom>
          <a:solidFill>
            <a:srgbClr val="EAF3F4"/>
          </a:solidFill>
          <a:ln/>
        </p:spPr>
      </p:sp>
      <p:sp>
        <p:nvSpPr>
          <p:cNvPr id="21" name="qscore-title"/>
          <p:cNvSpPr txBox="1"/>
          <p:nvPr/>
        </p:nvSpPr>
        <p:spPr>
          <a:xfrm>
            <a:off x="731520" y="2514600"/>
            <a:ext cx="2194560" cy="365760"/>
          </a:xfrm>
          <a:prstGeom prst="rect">
            <a:avLst/>
          </a:prstGeom>
          <a:noFill/>
          <a:ln/>
        </p:spPr>
        <p:txBody>
          <a:bodyPr wrap="square" lIns="0" tIns="0" rIns="0" bIns="0" rtlCol="0" anchor="ctr"/>
          <a:lstStyle/>
          <a:p>
            <a:pPr marL="0" indent="0" algn="l">
              <a:buNone/>
            </a:pPr>
            <a:r>
              <a:rPr lang="en-US" sz="1600" b="1" dirty="0">
                <a:solidFill>
                  <a:schemeClr val="tx2"/>
                </a:solidFill>
              </a:rPr>
              <a:t>自動採点</a:t>
            </a:r>
            <a:endParaRPr lang="en-US" sz="1600" dirty="0"/>
          </a:p>
        </p:txBody>
      </p:sp>
      <p:sp>
        <p:nvSpPr>
          <p:cNvPr id="22" name="qscore-big"/>
          <p:cNvSpPr txBox="1"/>
          <p:nvPr/>
        </p:nvSpPr>
        <p:spPr>
          <a:xfrm>
            <a:off x="731520" y="2880360"/>
            <a:ext cx="2194560" cy="777240"/>
          </a:xfrm>
          <a:prstGeom prst="rect">
            <a:avLst/>
          </a:prstGeom>
          <a:noFill/>
          <a:ln/>
        </p:spPr>
        <p:txBody>
          <a:bodyPr wrap="square" lIns="0" tIns="0" rIns="0" bIns="0" rtlCol="0" anchor="ctr"/>
          <a:lstStyle/>
          <a:p>
            <a:pPr marL="0" indent="0" algn="l">
              <a:buNone/>
            </a:pPr>
            <a:r>
              <a:rPr lang="en-US" sz="4800" b="1" dirty="0">
                <a:solidFill>
                  <a:schemeClr val="accent1"/>
                </a:solidFill>
              </a:rPr>
              <a:t>80点</a:t>
            </a:r>
            <a:endParaRPr lang="en-US" sz="4800" dirty="0"/>
          </a:p>
        </p:txBody>
      </p:sp>
      <p:sp>
        <p:nvSpPr>
          <p:cNvPr id="23" name="qscore-detail"/>
          <p:cNvSpPr txBox="1"/>
          <p:nvPr/>
        </p:nvSpPr>
        <p:spPr>
          <a:xfrm>
            <a:off x="731520" y="3703320"/>
            <a:ext cx="2194560" cy="274320"/>
          </a:xfrm>
          <a:prstGeom prst="rect">
            <a:avLst/>
          </a:prstGeom>
          <a:noFill/>
          <a:ln/>
        </p:spPr>
        <p:txBody>
          <a:bodyPr wrap="square" lIns="0" tIns="0" rIns="0" bIns="0" rtlCol="0" anchor="ctr"/>
          <a:lstStyle/>
          <a:p>
            <a:pPr marL="0" indent="0" algn="l">
              <a:buNone/>
            </a:pPr>
            <a:r>
              <a:rPr lang="en-US" sz="1400" dirty="0">
                <a:solidFill>
                  <a:schemeClr val="tx1"/>
                </a:solidFill>
              </a:rPr>
              <a:t>全5問中4問正解</a:t>
            </a:r>
            <a:endParaRPr lang="en-US" sz="1400" dirty="0"/>
          </a:p>
        </p:txBody>
      </p:sp>
      <p:sp>
        <p:nvSpPr>
          <p:cNvPr id="24" name="qscore-save"/>
          <p:cNvSpPr txBox="1"/>
          <p:nvPr/>
        </p:nvSpPr>
        <p:spPr>
          <a:xfrm>
            <a:off x="731520" y="4069080"/>
            <a:ext cx="2194560" cy="274320"/>
          </a:xfrm>
          <a:prstGeom prst="rect">
            <a:avLst/>
          </a:prstGeom>
          <a:noFill/>
          <a:ln/>
        </p:spPr>
        <p:txBody>
          <a:bodyPr wrap="square" lIns="0" tIns="0" rIns="0" bIns="0" rtlCol="0" anchor="ctr"/>
          <a:lstStyle/>
          <a:p>
            <a:pPr marL="0" indent="0" algn="l">
              <a:buNone/>
            </a:pPr>
            <a:r>
              <a:rPr lang="en-US" sz="1400" dirty="0">
                <a:solidFill>
                  <a:schemeClr val="accent6"/>
                </a:solidFill>
              </a:rPr>
              <a:t>結果は自動で保存</a:t>
            </a:r>
            <a:endParaRPr lang="en-US" sz="1400" dirty="0"/>
          </a:p>
        </p:txBody>
      </p:sp>
      <p:sp>
        <p:nvSpPr>
          <p:cNvPr id="25" name="qcard-status"/>
          <p:cNvSpPr/>
          <p:nvPr/>
        </p:nvSpPr>
        <p:spPr>
          <a:xfrm>
            <a:off x="3291840" y="2377440"/>
            <a:ext cx="2560320" cy="2240280"/>
          </a:xfrm>
          <a:prstGeom prst="roundRect">
            <a:avLst>
              <a:gd name="adj" fmla="val 4082"/>
            </a:avLst>
          </a:prstGeom>
          <a:solidFill>
            <a:srgbClr val="EAF3F4"/>
          </a:solidFill>
          <a:ln/>
        </p:spPr>
      </p:sp>
      <p:sp>
        <p:nvSpPr>
          <p:cNvPr id="26" name="qstatus-title"/>
          <p:cNvSpPr txBox="1"/>
          <p:nvPr/>
        </p:nvSpPr>
        <p:spPr>
          <a:xfrm>
            <a:off x="3474720" y="2514600"/>
            <a:ext cx="2194560" cy="365760"/>
          </a:xfrm>
          <a:prstGeom prst="rect">
            <a:avLst/>
          </a:prstGeom>
          <a:noFill/>
          <a:ln/>
        </p:spPr>
        <p:txBody>
          <a:bodyPr wrap="square" lIns="0" tIns="0" rIns="0" bIns="0" rtlCol="0" anchor="ctr"/>
          <a:lstStyle/>
          <a:p>
            <a:pPr marL="0" indent="0" algn="l">
              <a:buNone/>
            </a:pPr>
            <a:r>
              <a:rPr lang="en-US" sz="1600" b="1" dirty="0">
                <a:solidFill>
                  <a:schemeClr val="tx2"/>
                </a:solidFill>
              </a:rPr>
              <a:t>クイズの状態</a:t>
            </a:r>
            <a:endParaRPr lang="en-US" sz="1600" dirty="0"/>
          </a:p>
        </p:txBody>
      </p:sp>
      <p:sp>
        <p:nvSpPr>
          <p:cNvPr id="27" name="qstatus-pill-0"/>
          <p:cNvSpPr/>
          <p:nvPr/>
        </p:nvSpPr>
        <p:spPr>
          <a:xfrm>
            <a:off x="3474720" y="3017520"/>
            <a:ext cx="2194560" cy="384048"/>
          </a:xfrm>
          <a:prstGeom prst="roundRect">
            <a:avLst>
              <a:gd name="adj" fmla="val 23810"/>
            </a:avLst>
          </a:prstGeom>
          <a:solidFill>
            <a:srgbClr val="64748B"/>
          </a:solidFill>
          <a:ln/>
        </p:spPr>
      </p:sp>
      <p:sp>
        <p:nvSpPr>
          <p:cNvPr id="28" name="qstatus-text-0"/>
          <p:cNvSpPr txBox="1"/>
          <p:nvPr/>
        </p:nvSpPr>
        <p:spPr>
          <a:xfrm>
            <a:off x="3474720" y="3017520"/>
            <a:ext cx="2194560" cy="384048"/>
          </a:xfrm>
          <a:prstGeom prst="rect">
            <a:avLst/>
          </a:prstGeom>
          <a:noFill/>
          <a:ln/>
        </p:spPr>
        <p:txBody>
          <a:bodyPr wrap="square" lIns="0" tIns="0" rIns="0" bIns="0" rtlCol="0" anchor="ctr"/>
          <a:lstStyle/>
          <a:p>
            <a:pPr marL="0" indent="0" algn="ctr">
              <a:buNone/>
            </a:pPr>
            <a:r>
              <a:rPr lang="en-US" sz="1400" b="1" dirty="0">
                <a:solidFill>
                  <a:srgbClr val="FFFFFF"/>
                </a:solidFill>
              </a:rPr>
              <a:t>下書き (draft)</a:t>
            </a:r>
            <a:endParaRPr lang="en-US" sz="1400" dirty="0"/>
          </a:p>
        </p:txBody>
      </p:sp>
      <p:sp>
        <p:nvSpPr>
          <p:cNvPr id="29" name="qstatus-pill-1"/>
          <p:cNvSpPr/>
          <p:nvPr/>
        </p:nvSpPr>
        <p:spPr>
          <a:xfrm>
            <a:off x="3474720" y="3520440"/>
            <a:ext cx="2194560" cy="384048"/>
          </a:xfrm>
          <a:prstGeom prst="roundRect">
            <a:avLst>
              <a:gd name="adj" fmla="val 23810"/>
            </a:avLst>
          </a:prstGeom>
          <a:solidFill>
            <a:srgbClr val="0F766E"/>
          </a:solidFill>
          <a:ln/>
        </p:spPr>
      </p:sp>
      <p:sp>
        <p:nvSpPr>
          <p:cNvPr id="30" name="qstatus-text-1"/>
          <p:cNvSpPr txBox="1"/>
          <p:nvPr/>
        </p:nvSpPr>
        <p:spPr>
          <a:xfrm>
            <a:off x="3474720" y="3520440"/>
            <a:ext cx="2194560" cy="384048"/>
          </a:xfrm>
          <a:prstGeom prst="rect">
            <a:avLst/>
          </a:prstGeom>
          <a:noFill/>
          <a:ln/>
        </p:spPr>
        <p:txBody>
          <a:bodyPr wrap="square" lIns="0" tIns="0" rIns="0" bIns="0" rtlCol="0" anchor="ctr"/>
          <a:lstStyle/>
          <a:p>
            <a:pPr marL="0" indent="0" algn="ctr">
              <a:buNone/>
            </a:pPr>
            <a:r>
              <a:rPr lang="en-US" sz="1400" b="1" dirty="0">
                <a:solidFill>
                  <a:srgbClr val="FFFFFF"/>
                </a:solidFill>
              </a:rPr>
              <a:t>出題中 (active)</a:t>
            </a:r>
            <a:endParaRPr lang="en-US" sz="1400" dirty="0"/>
          </a:p>
        </p:txBody>
      </p:sp>
      <p:sp>
        <p:nvSpPr>
          <p:cNvPr id="31" name="qstatus-pill-2"/>
          <p:cNvSpPr/>
          <p:nvPr/>
        </p:nvSpPr>
        <p:spPr>
          <a:xfrm>
            <a:off x="3474720" y="4023360"/>
            <a:ext cx="2194560" cy="384048"/>
          </a:xfrm>
          <a:prstGeom prst="roundRect">
            <a:avLst>
              <a:gd name="adj" fmla="val 23810"/>
            </a:avLst>
          </a:prstGeom>
          <a:solidFill>
            <a:srgbClr val="0F4C5C"/>
          </a:solidFill>
          <a:ln/>
        </p:spPr>
      </p:sp>
      <p:sp>
        <p:nvSpPr>
          <p:cNvPr id="32" name="qstatus-text-2"/>
          <p:cNvSpPr txBox="1"/>
          <p:nvPr/>
        </p:nvSpPr>
        <p:spPr>
          <a:xfrm>
            <a:off x="3474720" y="4023360"/>
            <a:ext cx="2194560" cy="384048"/>
          </a:xfrm>
          <a:prstGeom prst="rect">
            <a:avLst/>
          </a:prstGeom>
          <a:noFill/>
          <a:ln/>
        </p:spPr>
        <p:txBody>
          <a:bodyPr wrap="square" lIns="0" tIns="0" rIns="0" bIns="0" rtlCol="0" anchor="ctr"/>
          <a:lstStyle/>
          <a:p>
            <a:pPr marL="0" indent="0" algn="ctr">
              <a:buNone/>
            </a:pPr>
            <a:r>
              <a:rPr lang="en-US" sz="1400" b="1" dirty="0">
                <a:solidFill>
                  <a:srgbClr val="FFFFFF"/>
                </a:solidFill>
              </a:rPr>
              <a:t>終了 (ended)</a:t>
            </a:r>
            <a:endParaRPr lang="en-US" sz="1400" dirty="0"/>
          </a:p>
        </p:txBody>
      </p:sp>
      <p:sp>
        <p:nvSpPr>
          <p:cNvPr id="33" name="qcard-class"/>
          <p:cNvSpPr/>
          <p:nvPr/>
        </p:nvSpPr>
        <p:spPr>
          <a:xfrm>
            <a:off x="6035040" y="2377440"/>
            <a:ext cx="2560320" cy="2240280"/>
          </a:xfrm>
          <a:prstGeom prst="roundRect">
            <a:avLst>
              <a:gd name="adj" fmla="val 4082"/>
            </a:avLst>
          </a:prstGeom>
          <a:solidFill>
            <a:srgbClr val="EAF3F4"/>
          </a:solidFill>
          <a:ln/>
        </p:spPr>
      </p:sp>
      <p:sp>
        <p:nvSpPr>
          <p:cNvPr id="34" name="qclass-title"/>
          <p:cNvSpPr txBox="1"/>
          <p:nvPr/>
        </p:nvSpPr>
        <p:spPr>
          <a:xfrm>
            <a:off x="6217920" y="2514600"/>
            <a:ext cx="2194560" cy="365760"/>
          </a:xfrm>
          <a:prstGeom prst="rect">
            <a:avLst/>
          </a:prstGeom>
          <a:noFill/>
          <a:ln/>
        </p:spPr>
        <p:txBody>
          <a:bodyPr wrap="square" lIns="0" tIns="0" rIns="0" bIns="0" rtlCol="0" anchor="ctr"/>
          <a:lstStyle/>
          <a:p>
            <a:pPr marL="0" indent="0" algn="l">
              <a:buNone/>
            </a:pPr>
            <a:r>
              <a:rPr lang="en-US" sz="1600" b="1" dirty="0">
                <a:solidFill>
                  <a:schemeClr val="tx2"/>
                </a:solidFill>
              </a:rPr>
              <a:t>対象クラス</a:t>
            </a:r>
            <a:endParaRPr lang="en-US" sz="1600" dirty="0"/>
          </a:p>
        </p:txBody>
      </p:sp>
      <p:sp>
        <p:nvSpPr>
          <p:cNvPr id="35" name="qclass-list"/>
          <p:cNvSpPr txBox="1"/>
          <p:nvPr/>
        </p:nvSpPr>
        <p:spPr>
          <a:xfrm>
            <a:off x="6217920" y="2926080"/>
            <a:ext cx="2194560" cy="868680"/>
          </a:xfrm>
          <a:prstGeom prst="rect">
            <a:avLst/>
          </a:prstGeom>
          <a:noFill/>
          <a:ln/>
        </p:spPr>
        <p:txBody>
          <a:bodyPr wrap="square" lIns="0" tIns="0" rIns="0" bIns="0" rtlCol="0" anchor="t"/>
          <a:lstStyle/>
          <a:p>
            <a:pPr marL="0" indent="0" algn="l">
              <a:buNone/>
            </a:pPr>
            <a:r>
              <a:rPr lang="en-US" sz="1600" dirty="0">
                <a:solidFill>
                  <a:schemeClr val="tx1"/>
                </a:solidFill>
              </a:rPr>
              <a:t>☑ 1年1組</a:t>
            </a:r>
            <a:endParaRPr lang="en-US" sz="1600" dirty="0"/>
          </a:p>
          <a:p>
            <a:pPr marL="0" indent="0" algn="l">
              <a:buNone/>
            </a:pPr>
            <a:r>
              <a:rPr lang="en-US" sz="1600" dirty="0">
                <a:solidFill>
                  <a:schemeClr val="tx1"/>
                </a:solidFill>
              </a:rPr>
              <a:t>☑ 1年2組</a:t>
            </a:r>
            <a:endParaRPr lang="en-US" sz="1600" dirty="0"/>
          </a:p>
          <a:p>
            <a:pPr marL="0" indent="0" algn="l">
              <a:buNone/>
            </a:pPr>
            <a:r>
              <a:rPr lang="en-US" sz="1600" dirty="0">
                <a:solidFill>
                  <a:schemeClr val="tx1"/>
                </a:solidFill>
              </a:rPr>
              <a:t>☐ 1年3組</a:t>
            </a:r>
            <a:endParaRPr lang="en-US" sz="1600" dirty="0"/>
          </a:p>
        </p:txBody>
      </p:sp>
      <p:sp>
        <p:nvSpPr>
          <p:cNvPr id="36" name="qclass-caption"/>
          <p:cNvSpPr txBox="1"/>
          <p:nvPr/>
        </p:nvSpPr>
        <p:spPr>
          <a:xfrm>
            <a:off x="6217920" y="3840480"/>
            <a:ext cx="2194560" cy="640080"/>
          </a:xfrm>
          <a:prstGeom prst="rect">
            <a:avLst/>
          </a:prstGeom>
          <a:noFill/>
          <a:ln/>
        </p:spPr>
        <p:txBody>
          <a:bodyPr wrap="square" lIns="0" tIns="0" rIns="0" bIns="0" rtlCol="0" anchor="t"/>
          <a:lstStyle/>
          <a:p>
            <a:pPr marL="0" indent="0" algn="l">
              <a:buNone/>
            </a:pPr>
            <a:r>
              <a:rPr lang="en-US" sz="1400" dirty="0">
                <a:solidFill>
                  <a:schemeClr val="accent6"/>
                </a:solidFill>
              </a:rPr>
              <a:t>チェックしたクラスだけが回答できる</a:t>
            </a:r>
            <a:endParaRPr lang="en-US" sz="1400" dirty="0"/>
          </a:p>
        </p:txBody>
      </p:sp>
      <p:sp>
        <p:nvSpPr>
          <p:cNvPr id="37"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tx2"/>
                </a:solidFill>
              </a:rPr>
              <a:t>技術構成と権限管理</a:t>
            </a:r>
            <a:endParaRPr lang="en-US" sz="3200" dirty="0"/>
          </a:p>
        </p:txBody>
      </p:sp>
      <p:sp>
        <p:nvSpPr>
          <p:cNvPr id="3" name="stack-box-0"/>
          <p:cNvSpPr/>
          <p:nvPr/>
        </p:nvSpPr>
        <p:spPr>
          <a:xfrm>
            <a:off x="548640" y="1280160"/>
            <a:ext cx="3657600" cy="822960"/>
          </a:xfrm>
          <a:prstGeom prst="roundRect">
            <a:avLst>
              <a:gd name="adj" fmla="val 11111"/>
            </a:avLst>
          </a:prstGeom>
          <a:solidFill>
            <a:schemeClr val="accent1"/>
          </a:solidFill>
          <a:ln/>
          <a:effectLst>
            <a:outerShdw blurRad="76200" dist="25400" dir="5400000" algn="bl" rotWithShape="0">
              <a:srgbClr val="000000">
                <a:alpha val="15000"/>
              </a:srgbClr>
            </a:outerShdw>
          </a:effectLst>
        </p:spPr>
      </p:sp>
      <p:sp>
        <p:nvSpPr>
          <p:cNvPr id="4" name="stack-text-0"/>
          <p:cNvSpPr txBox="1"/>
          <p:nvPr/>
        </p:nvSpPr>
        <p:spPr>
          <a:xfrm>
            <a:off x="731520" y="1325880"/>
            <a:ext cx="3291840" cy="731520"/>
          </a:xfrm>
          <a:prstGeom prst="rect">
            <a:avLst/>
          </a:prstGeom>
          <a:noFill/>
          <a:ln/>
        </p:spPr>
        <p:txBody>
          <a:bodyPr wrap="square" lIns="0" tIns="0" rIns="0" bIns="0" rtlCol="0" anchor="ctr"/>
          <a:lstStyle/>
          <a:p>
            <a:pPr marL="0" indent="0" algn="l">
              <a:buNone/>
            </a:pPr>
            <a:r>
              <a:rPr lang="en-US" sz="1800" b="1" dirty="0">
                <a:solidFill>
                  <a:schemeClr val="bg1"/>
                </a:solidFill>
              </a:rPr>
              <a:t>Vue.js ＋ Fabric.js</a:t>
            </a:r>
            <a:endParaRPr lang="en-US" sz="1800" dirty="0"/>
          </a:p>
          <a:p>
            <a:pPr marL="0" indent="0" algn="l">
              <a:buNone/>
            </a:pPr>
            <a:r>
              <a:rPr lang="en-US" sz="1400" dirty="0">
                <a:solidFill>
                  <a:schemeClr val="bg1"/>
                </a:solidFill>
              </a:rPr>
              <a:t>画面・UI／キャンバス教材</a:t>
            </a:r>
            <a:endParaRPr lang="en-US" sz="1800" dirty="0"/>
          </a:p>
        </p:txBody>
      </p:sp>
      <p:sp>
        <p:nvSpPr>
          <p:cNvPr id="5" name="stack-arrow-0"/>
          <p:cNvSpPr/>
          <p:nvPr/>
        </p:nvSpPr>
        <p:spPr>
          <a:xfrm>
            <a:off x="2194560" y="2121408"/>
            <a:ext cx="274320" cy="192024"/>
          </a:xfrm>
          <a:prstGeom prst="downArrow">
            <a:avLst/>
          </a:prstGeom>
          <a:solidFill>
            <a:schemeClr val="accent6"/>
          </a:solidFill>
          <a:ln/>
        </p:spPr>
      </p:sp>
      <p:sp>
        <p:nvSpPr>
          <p:cNvPr id="6" name="stack-box-1"/>
          <p:cNvSpPr/>
          <p:nvPr/>
        </p:nvSpPr>
        <p:spPr>
          <a:xfrm>
            <a:off x="548640" y="2331720"/>
            <a:ext cx="3657600" cy="822960"/>
          </a:xfrm>
          <a:prstGeom prst="roundRect">
            <a:avLst>
              <a:gd name="adj" fmla="val 11111"/>
            </a:avLst>
          </a:prstGeom>
          <a:solidFill>
            <a:schemeClr val="tx2"/>
          </a:solidFill>
          <a:ln/>
          <a:effectLst>
            <a:outerShdw blurRad="76200" dist="25400" dir="5400000" algn="bl" rotWithShape="0">
              <a:srgbClr val="000000">
                <a:alpha val="15000"/>
              </a:srgbClr>
            </a:outerShdw>
          </a:effectLst>
        </p:spPr>
      </p:sp>
      <p:sp>
        <p:nvSpPr>
          <p:cNvPr id="7" name="stack-text-1"/>
          <p:cNvSpPr txBox="1"/>
          <p:nvPr/>
        </p:nvSpPr>
        <p:spPr>
          <a:xfrm>
            <a:off x="731520" y="2377440"/>
            <a:ext cx="3291840" cy="731520"/>
          </a:xfrm>
          <a:prstGeom prst="rect">
            <a:avLst/>
          </a:prstGeom>
          <a:noFill/>
          <a:ln/>
        </p:spPr>
        <p:txBody>
          <a:bodyPr wrap="square" lIns="0" tIns="0" rIns="0" bIns="0" rtlCol="0" anchor="ctr"/>
          <a:lstStyle/>
          <a:p>
            <a:pPr marL="0" indent="0" algn="l">
              <a:buNone/>
            </a:pPr>
            <a:r>
              <a:rPr lang="en-US" sz="1800" b="1" dirty="0">
                <a:solidFill>
                  <a:schemeClr val="bg1"/>
                </a:solidFill>
              </a:rPr>
              <a:t>Laravel（PHP）</a:t>
            </a:r>
            <a:endParaRPr lang="en-US" sz="1800" dirty="0"/>
          </a:p>
          <a:p>
            <a:pPr marL="0" indent="0" algn="l">
              <a:buNone/>
            </a:pPr>
            <a:r>
              <a:rPr lang="en-US" sz="1400" dirty="0">
                <a:solidFill>
                  <a:schemeClr val="bg1"/>
                </a:solidFill>
              </a:rPr>
              <a:t>API・認証・処理</a:t>
            </a:r>
            <a:endParaRPr lang="en-US" sz="1800" dirty="0"/>
          </a:p>
        </p:txBody>
      </p:sp>
      <p:sp>
        <p:nvSpPr>
          <p:cNvPr id="8" name="stack-arrow-1"/>
          <p:cNvSpPr/>
          <p:nvPr/>
        </p:nvSpPr>
        <p:spPr>
          <a:xfrm>
            <a:off x="2194560" y="3172968"/>
            <a:ext cx="274320" cy="192024"/>
          </a:xfrm>
          <a:prstGeom prst="downArrow">
            <a:avLst/>
          </a:prstGeom>
          <a:solidFill>
            <a:schemeClr val="accent6"/>
          </a:solidFill>
          <a:ln/>
        </p:spPr>
      </p:sp>
      <p:sp>
        <p:nvSpPr>
          <p:cNvPr id="9" name="stack-box-2"/>
          <p:cNvSpPr/>
          <p:nvPr/>
        </p:nvSpPr>
        <p:spPr>
          <a:xfrm>
            <a:off x="548640" y="3383280"/>
            <a:ext cx="3657600" cy="822960"/>
          </a:xfrm>
          <a:prstGeom prst="roundRect">
            <a:avLst>
              <a:gd name="adj" fmla="val 11111"/>
            </a:avLst>
          </a:prstGeom>
          <a:solidFill>
            <a:schemeClr val="tx1"/>
          </a:solidFill>
          <a:ln/>
          <a:effectLst>
            <a:outerShdw blurRad="76200" dist="25400" dir="5400000" algn="bl" rotWithShape="0">
              <a:srgbClr val="000000">
                <a:alpha val="15000"/>
              </a:srgbClr>
            </a:outerShdw>
          </a:effectLst>
        </p:spPr>
      </p:sp>
      <p:sp>
        <p:nvSpPr>
          <p:cNvPr id="10" name="stack-text-2"/>
          <p:cNvSpPr txBox="1"/>
          <p:nvPr/>
        </p:nvSpPr>
        <p:spPr>
          <a:xfrm>
            <a:off x="731520" y="3429000"/>
            <a:ext cx="3291840" cy="731520"/>
          </a:xfrm>
          <a:prstGeom prst="rect">
            <a:avLst/>
          </a:prstGeom>
          <a:noFill/>
          <a:ln/>
        </p:spPr>
        <p:txBody>
          <a:bodyPr wrap="square" lIns="0" tIns="0" rIns="0" bIns="0" rtlCol="0" anchor="ctr"/>
          <a:lstStyle/>
          <a:p>
            <a:pPr marL="0" indent="0" algn="l">
              <a:buNone/>
            </a:pPr>
            <a:r>
              <a:rPr lang="en-US" sz="1800" b="1" dirty="0">
                <a:solidFill>
                  <a:schemeClr val="bg1"/>
                </a:solidFill>
              </a:rPr>
              <a:t>MySQL</a:t>
            </a:r>
            <a:endParaRPr lang="en-US" sz="1800" dirty="0"/>
          </a:p>
          <a:p>
            <a:pPr marL="0" indent="0" algn="l">
              <a:buNone/>
            </a:pPr>
            <a:r>
              <a:rPr lang="en-US" sz="1400" dirty="0">
                <a:solidFill>
                  <a:schemeClr val="bg1"/>
                </a:solidFill>
              </a:rPr>
              <a:t>データ保存</a:t>
            </a:r>
            <a:endParaRPr lang="en-US" sz="1800" dirty="0"/>
          </a:p>
        </p:txBody>
      </p:sp>
      <p:sp>
        <p:nvSpPr>
          <p:cNvPr id="11" name="stack-note"/>
          <p:cNvSpPr txBox="1"/>
          <p:nvPr/>
        </p:nvSpPr>
        <p:spPr>
          <a:xfrm>
            <a:off x="548640" y="4297680"/>
            <a:ext cx="3657600" cy="320040"/>
          </a:xfrm>
          <a:prstGeom prst="rect">
            <a:avLst/>
          </a:prstGeom>
          <a:noFill/>
          <a:ln/>
        </p:spPr>
        <p:txBody>
          <a:bodyPr wrap="square" lIns="0" tIns="0" rIns="0" bIns="0" rtlCol="0" anchor="ctr"/>
          <a:lstStyle/>
          <a:p>
            <a:pPr marL="0" indent="0" algn="l">
              <a:buNone/>
            </a:pPr>
            <a:r>
              <a:rPr lang="en-US" sz="1400" dirty="0">
                <a:solidFill>
                  <a:schemeClr val="accent6"/>
                </a:solidFill>
              </a:rPr>
              <a:t>ビルドツール：Vite</a:t>
            </a:r>
            <a:endParaRPr lang="en-US" sz="1400" dirty="0"/>
          </a:p>
        </p:txBody>
      </p:sp>
      <p:graphicFrame>
        <p:nvGraphicFramePr>
          <p:cNvPr id="12" name="perm-table"/>
          <p:cNvGraphicFramePr>
            <a:graphicFrameLocks noGrp="1"/>
          </p:cNvGraphicFramePr>
          <p:nvPr>
            <p:extLst>
              <p:ext uri="{D42A27DB-BD31-4B8C-83A1-F6EECF244321}">
                <p14:modId xmlns:p14="http://schemas.microsoft.com/office/powerpoint/2010/main" val="1579011935"/>
              </p:ext>
            </p:extLst>
          </p:nvPr>
        </p:nvGraphicFramePr>
        <p:xfrm>
          <a:off x="4572000" y="1280160"/>
          <a:ext cx="4023360" cy="3072384"/>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438912">
                <a:tc>
                  <a:txBody>
                    <a:bodyPr/>
                    <a:lstStyle/>
                    <a:p>
                      <a:pPr marL="0" indent="0" algn="l">
                        <a:buNone/>
                      </a:pPr>
                      <a:r>
                        <a:rPr lang="en-US" sz="1400" b="1" dirty="0">
                          <a:solidFill>
                            <a:schemeClr val="bg1"/>
                          </a:solidFill>
                        </a:rPr>
                        <a:t>できること</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rPr>
                        <a:t>先生</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rPr>
                        <a:t>生徒</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38912">
                <a:tc>
                  <a:txBody>
                    <a:bodyPr/>
                    <a:lstStyle/>
                    <a:p>
                      <a:pPr marL="0" indent="0" algn="l">
                        <a:buNone/>
                      </a:pPr>
                      <a:r>
                        <a:rPr lang="en-US" sz="1400" dirty="0">
                          <a:solidFill>
                            <a:schemeClr val="tx1"/>
                          </a:solidFill>
                        </a:rPr>
                        <a:t>教材の作成・編集</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lgn="l">
                        <a:buNone/>
                      </a:pPr>
                      <a:r>
                        <a:rPr lang="en-US" sz="1400" dirty="0">
                          <a:solidFill>
                            <a:schemeClr val="tx1"/>
                          </a:solidFill>
                        </a:rPr>
                        <a:t>クラス・生徒管理</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lgn="l">
                        <a:buNone/>
                      </a:pPr>
                      <a:r>
                        <a:rPr lang="en-US" sz="1400" dirty="0">
                          <a:solidFill>
                            <a:schemeClr val="tx1"/>
                          </a:solidFill>
                        </a:rPr>
                        <a:t>教材への回答・提出</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lgn="l">
                        <a:buNone/>
                      </a:pPr>
                      <a:r>
                        <a:rPr lang="en-US" sz="1400" dirty="0">
                          <a:solidFill>
                            <a:schemeClr val="tx1"/>
                          </a:solidFill>
                        </a:rPr>
                        <a:t>クイズの作成・出題</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4"/>
                  </a:ext>
                </a:extLst>
              </a:tr>
              <a:tr h="438912">
                <a:tc>
                  <a:txBody>
                    <a:bodyPr/>
                    <a:lstStyle/>
                    <a:p>
                      <a:pPr marL="0" indent="0" algn="l">
                        <a:buNone/>
                      </a:pPr>
                      <a:r>
                        <a:rPr lang="en-US" sz="1400" dirty="0">
                          <a:solidFill>
                            <a:schemeClr val="tx1"/>
                          </a:solidFill>
                        </a:rPr>
                        <a:t>クイズへの回答</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5"/>
                  </a:ext>
                </a:extLst>
              </a:tr>
              <a:tr h="438912">
                <a:tc>
                  <a:txBody>
                    <a:bodyPr/>
                    <a:lstStyle/>
                    <a:p>
                      <a:pPr marL="0" indent="0" algn="l">
                        <a:buNone/>
                      </a:pPr>
                      <a:r>
                        <a:rPr lang="en-US" sz="1400" dirty="0">
                          <a:solidFill>
                            <a:schemeClr val="tx1"/>
                          </a:solidFill>
                        </a:rPr>
                        <a:t>提出・結果の確認</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1400" b="1" dirty="0">
                          <a:solidFill>
                            <a:schemeClr val="accent1"/>
                          </a:solidFill>
                        </a:rPr>
                        <a:t>−</a:t>
                      </a:r>
                      <a:endParaRPr lang="en-US" sz="1400" dirty="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tx2"/>
                </a:solidFill>
              </a:rPr>
              <a:t>開発状況と今後</a:t>
            </a:r>
            <a:endParaRPr lang="en-US" sz="3200" dirty="0"/>
          </a:p>
        </p:txBody>
      </p:sp>
      <p:sp>
        <p:nvSpPr>
          <p:cNvPr id="3" name="done-card"/>
          <p:cNvSpPr/>
          <p:nvPr/>
        </p:nvSpPr>
        <p:spPr>
          <a:xfrm>
            <a:off x="548640" y="1280160"/>
            <a:ext cx="4846320" cy="2514600"/>
          </a:xfrm>
          <a:prstGeom prst="roundRect">
            <a:avLst>
              <a:gd name="adj" fmla="val 3636"/>
            </a:avLst>
          </a:prstGeom>
          <a:solidFill>
            <a:srgbClr val="EAF3F4"/>
          </a:solidFill>
          <a:ln/>
        </p:spPr>
      </p:sp>
      <p:sp>
        <p:nvSpPr>
          <p:cNvPr id="4" name="done-circle"/>
          <p:cNvSpPr/>
          <p:nvPr/>
        </p:nvSpPr>
        <p:spPr>
          <a:xfrm>
            <a:off x="731520" y="1417320"/>
            <a:ext cx="457200" cy="457200"/>
          </a:xfrm>
          <a:prstGeom prst="ellipse">
            <a:avLst/>
          </a:prstGeom>
          <a:solidFill>
            <a:srgbClr val="0F766E"/>
          </a:solidFill>
          <a:ln/>
        </p:spPr>
      </p:sp>
      <p:pic>
        <p:nvPicPr>
          <p:cNvPr id="5" name="done-icon" descr="done"/>
          <p:cNvPicPr>
            <a:picLocks noChangeAspect="1"/>
          </p:cNvPicPr>
          <p:nvPr/>
        </p:nvPicPr>
        <p:blipFill>
          <a:blip r:embed="rId3"/>
          <a:stretch>
            <a:fillRect/>
          </a:stretch>
        </p:blipFill>
        <p:spPr>
          <a:xfrm>
            <a:off x="845820" y="1531620"/>
            <a:ext cx="228600" cy="228600"/>
          </a:xfrm>
          <a:prstGeom prst="rect">
            <a:avLst/>
          </a:prstGeom>
        </p:spPr>
      </p:pic>
      <p:sp>
        <p:nvSpPr>
          <p:cNvPr id="6" name="done-title"/>
          <p:cNvSpPr txBox="1"/>
          <p:nvPr/>
        </p:nvSpPr>
        <p:spPr>
          <a:xfrm>
            <a:off x="1325880" y="1417320"/>
            <a:ext cx="2743200" cy="457200"/>
          </a:xfrm>
          <a:prstGeom prst="rect">
            <a:avLst/>
          </a:prstGeom>
          <a:noFill/>
          <a:ln/>
        </p:spPr>
        <p:txBody>
          <a:bodyPr wrap="square" lIns="0" tIns="0" rIns="0" bIns="0" rtlCol="0" anchor="ctr"/>
          <a:lstStyle/>
          <a:p>
            <a:pPr marL="0" indent="0" algn="l">
              <a:buNone/>
            </a:pPr>
            <a:r>
              <a:rPr lang="en-US" sz="2000" b="1" dirty="0">
                <a:solidFill>
                  <a:schemeClr val="accent1"/>
                </a:solidFill>
              </a:rPr>
              <a:t>実装済み</a:t>
            </a:r>
            <a:endParaRPr lang="en-US" sz="2000" dirty="0"/>
          </a:p>
        </p:txBody>
      </p:sp>
      <p:sp>
        <p:nvSpPr>
          <p:cNvPr id="7" name="done-list"/>
          <p:cNvSpPr txBox="1"/>
          <p:nvPr/>
        </p:nvSpPr>
        <p:spPr>
          <a:xfrm>
            <a:off x="731520" y="2011680"/>
            <a:ext cx="4480560" cy="1920240"/>
          </a:xfrm>
          <a:prstGeom prst="rect">
            <a:avLst/>
          </a:prstGeom>
          <a:noFill/>
          <a:ln/>
        </p:spPr>
        <p:txBody>
          <a:bodyPr wrap="square" lIns="0" tIns="0" rIns="0" bIns="0" rtlCol="0" anchor="t"/>
          <a:lstStyle/>
          <a:p>
            <a:pPr marL="342900" indent="-342900" algn="l">
              <a:spcAft>
                <a:spcPts val="400"/>
              </a:spcAft>
              <a:buSzPct val="100000"/>
              <a:buChar char="•"/>
            </a:pPr>
            <a:r>
              <a:rPr lang="en-US" sz="1400" dirty="0">
                <a:solidFill>
                  <a:schemeClr val="tx1"/>
                </a:solidFill>
              </a:rPr>
              <a:t>ログイン・先生／生徒の権限分離</a:t>
            </a:r>
            <a:endParaRPr lang="en-US" sz="1400" dirty="0"/>
          </a:p>
          <a:p>
            <a:pPr marL="342900" indent="-342900" algn="l">
              <a:spcAft>
                <a:spcPts val="400"/>
              </a:spcAft>
              <a:buSzPct val="100000"/>
              <a:buChar char="•"/>
            </a:pPr>
            <a:r>
              <a:rPr lang="en-US" sz="1400" dirty="0">
                <a:solidFill>
                  <a:schemeClr val="tx1"/>
                </a:solidFill>
              </a:rPr>
              <a:t>キャンバス教材の作成・編集</a:t>
            </a:r>
            <a:endParaRPr lang="en-US" sz="1400" dirty="0"/>
          </a:p>
          <a:p>
            <a:pPr marL="342900" indent="-342900" algn="l">
              <a:spcAft>
                <a:spcPts val="400"/>
              </a:spcAft>
              <a:buSzPct val="100000"/>
              <a:buChar char="•"/>
            </a:pPr>
            <a:r>
              <a:rPr lang="en-US" sz="1400" dirty="0">
                <a:solidFill>
                  <a:schemeClr val="tx1"/>
                </a:solidFill>
              </a:rPr>
              <a:t>クラス・生徒管理</a:t>
            </a:r>
            <a:endParaRPr lang="en-US" sz="1400" dirty="0"/>
          </a:p>
          <a:p>
            <a:pPr marL="342900" indent="-342900" algn="l">
              <a:spcAft>
                <a:spcPts val="400"/>
              </a:spcAft>
              <a:buSzPct val="100000"/>
              <a:buChar char="•"/>
            </a:pPr>
            <a:r>
              <a:rPr lang="en-US" sz="1400" dirty="0">
                <a:solidFill>
                  <a:schemeClr val="tx1"/>
                </a:solidFill>
              </a:rPr>
              <a:t>教材への回答・提出・確認</a:t>
            </a:r>
            <a:endParaRPr lang="en-US" sz="1400" dirty="0"/>
          </a:p>
          <a:p>
            <a:pPr marL="342900" indent="-342900" algn="l">
              <a:spcAft>
                <a:spcPts val="400"/>
              </a:spcAft>
              <a:buSzPct val="100000"/>
              <a:buChar char="•"/>
            </a:pPr>
            <a:r>
              <a:rPr lang="en-US" sz="1400" dirty="0">
                <a:solidFill>
                  <a:schemeClr val="tx1"/>
                </a:solidFill>
              </a:rPr>
              <a:t>クイズの作成・出題・非公開</a:t>
            </a:r>
            <a:endParaRPr lang="en-US" sz="1400" dirty="0"/>
          </a:p>
          <a:p>
            <a:pPr marL="342900" indent="-342900" algn="l">
              <a:spcAft>
                <a:spcPts val="400"/>
              </a:spcAft>
              <a:buSzPct val="100000"/>
              <a:buChar char="•"/>
            </a:pPr>
            <a:r>
              <a:rPr lang="en-US" sz="1400" dirty="0">
                <a:solidFill>
                  <a:schemeClr val="tx1"/>
                </a:solidFill>
              </a:rPr>
              <a:t>クイズ回答・自動採点・結果確認</a:t>
            </a:r>
            <a:endParaRPr lang="en-US" sz="1400" dirty="0"/>
          </a:p>
        </p:txBody>
      </p:sp>
      <p:sp>
        <p:nvSpPr>
          <p:cNvPr id="8" name="wip-frame"/>
          <p:cNvSpPr/>
          <p:nvPr/>
        </p:nvSpPr>
        <p:spPr>
          <a:xfrm>
            <a:off x="5577840" y="1280160"/>
            <a:ext cx="3017520" cy="2514600"/>
          </a:xfrm>
          <a:prstGeom prst="roundRect">
            <a:avLst>
              <a:gd name="adj" fmla="val 3636"/>
            </a:avLst>
          </a:prstGeom>
          <a:solidFill>
            <a:schemeClr val="bg1"/>
          </a:solidFill>
          <a:ln w="25400">
            <a:solidFill>
              <a:srgbClr val="F59E0B"/>
            </a:solidFill>
            <a:prstDash val="solid"/>
          </a:ln>
        </p:spPr>
      </p:sp>
      <p:sp>
        <p:nvSpPr>
          <p:cNvPr id="9" name="wip-circle"/>
          <p:cNvSpPr/>
          <p:nvPr/>
        </p:nvSpPr>
        <p:spPr>
          <a:xfrm>
            <a:off x="5760720" y="1417320"/>
            <a:ext cx="457200" cy="457200"/>
          </a:xfrm>
          <a:prstGeom prst="ellipse">
            <a:avLst/>
          </a:prstGeom>
          <a:solidFill>
            <a:srgbClr val="F59E0B"/>
          </a:solidFill>
          <a:ln/>
        </p:spPr>
      </p:sp>
      <p:pic>
        <p:nvPicPr>
          <p:cNvPr id="10" name="wip-icon" descr="wip"/>
          <p:cNvPicPr>
            <a:picLocks noChangeAspect="1"/>
          </p:cNvPicPr>
          <p:nvPr/>
        </p:nvPicPr>
        <p:blipFill>
          <a:blip r:embed="rId4"/>
          <a:stretch>
            <a:fillRect/>
          </a:stretch>
        </p:blipFill>
        <p:spPr>
          <a:xfrm>
            <a:off x="5875020" y="1531620"/>
            <a:ext cx="228600" cy="228600"/>
          </a:xfrm>
          <a:prstGeom prst="rect">
            <a:avLst/>
          </a:prstGeom>
        </p:spPr>
      </p:pic>
      <p:sp>
        <p:nvSpPr>
          <p:cNvPr id="11" name="wip-title"/>
          <p:cNvSpPr txBox="1"/>
          <p:nvPr/>
        </p:nvSpPr>
        <p:spPr>
          <a:xfrm>
            <a:off x="6355080" y="1417320"/>
            <a:ext cx="2103120" cy="457200"/>
          </a:xfrm>
          <a:prstGeom prst="rect">
            <a:avLst/>
          </a:prstGeom>
          <a:noFill/>
          <a:ln/>
        </p:spPr>
        <p:txBody>
          <a:bodyPr wrap="square" lIns="0" tIns="0" rIns="0" bIns="0" rtlCol="0" anchor="ctr"/>
          <a:lstStyle/>
          <a:p>
            <a:pPr marL="0" indent="0" algn="l">
              <a:buNone/>
            </a:pPr>
            <a:r>
              <a:rPr lang="en-US" sz="2000" b="1" dirty="0">
                <a:solidFill>
                  <a:schemeClr val="tx1"/>
                </a:solidFill>
              </a:rPr>
              <a:t>調整中</a:t>
            </a:r>
            <a:endParaRPr lang="en-US" sz="2000" dirty="0"/>
          </a:p>
        </p:txBody>
      </p:sp>
      <p:sp>
        <p:nvSpPr>
          <p:cNvPr id="12" name="wip-list"/>
          <p:cNvSpPr txBox="1"/>
          <p:nvPr/>
        </p:nvSpPr>
        <p:spPr>
          <a:xfrm>
            <a:off x="5760720" y="2011680"/>
            <a:ext cx="2651760" cy="1920240"/>
          </a:xfrm>
          <a:prstGeom prst="rect">
            <a:avLst/>
          </a:prstGeom>
          <a:noFill/>
          <a:ln/>
        </p:spPr>
        <p:txBody>
          <a:bodyPr wrap="square" lIns="0" tIns="0" rIns="0" bIns="0" rtlCol="0" anchor="t"/>
          <a:lstStyle/>
          <a:p>
            <a:pPr marL="342900" indent="-342900" algn="l">
              <a:spcAft>
                <a:spcPts val="400"/>
              </a:spcAft>
              <a:buSzPct val="100000"/>
              <a:buChar char="•"/>
            </a:pPr>
            <a:r>
              <a:rPr lang="en-US" sz="1400" dirty="0">
                <a:solidFill>
                  <a:schemeClr val="tx1"/>
                </a:solidFill>
              </a:rPr>
              <a:t>クイズ削除機能</a:t>
            </a:r>
            <a:endParaRPr lang="en-US" sz="1400" dirty="0"/>
          </a:p>
          <a:p>
            <a:pPr marL="342900" indent="-342900" algn="l">
              <a:spcAft>
                <a:spcPts val="400"/>
              </a:spcAft>
              <a:buSzPct val="100000"/>
              <a:buChar char="•"/>
            </a:pPr>
            <a:r>
              <a:rPr lang="en-US" sz="1400" dirty="0">
                <a:solidFill>
                  <a:schemeClr val="tx1"/>
                </a:solidFill>
              </a:rPr>
              <a:t>UI調整</a:t>
            </a:r>
            <a:endParaRPr lang="en-US" sz="1400" dirty="0"/>
          </a:p>
          <a:p>
            <a:pPr marL="342900" indent="-342900" algn="l">
              <a:spcAft>
                <a:spcPts val="400"/>
              </a:spcAft>
              <a:buSzPct val="100000"/>
              <a:buChar char="•"/>
            </a:pPr>
            <a:r>
              <a:rPr lang="en-US" sz="1400" dirty="0">
                <a:solidFill>
                  <a:schemeClr val="tx1"/>
                </a:solidFill>
              </a:rPr>
              <a:t>各機能の動作確認</a:t>
            </a:r>
            <a:endParaRPr lang="en-US" sz="1400" dirty="0"/>
          </a:p>
        </p:txBody>
      </p:sp>
      <p:sp>
        <p:nvSpPr>
          <p:cNvPr id="13" name="next-steps"/>
          <p:cNvSpPr txBox="1"/>
          <p:nvPr/>
        </p:nvSpPr>
        <p:spPr>
          <a:xfrm>
            <a:off x="548640" y="4069080"/>
            <a:ext cx="8046720" cy="457200"/>
          </a:xfrm>
          <a:prstGeom prst="rect">
            <a:avLst/>
          </a:prstGeom>
          <a:noFill/>
          <a:ln/>
        </p:spPr>
        <p:txBody>
          <a:bodyPr wrap="square" lIns="0" tIns="0" rIns="0" bIns="0" rtlCol="0" anchor="ctr"/>
          <a:lstStyle/>
          <a:p>
            <a:pPr marL="0" indent="0" algn="l">
              <a:buNone/>
            </a:pPr>
            <a:r>
              <a:rPr lang="en-US" sz="1800" b="1" dirty="0">
                <a:solidFill>
                  <a:schemeClr val="tx2"/>
                </a:solidFill>
              </a:rPr>
              <a:t>今後：動作確認 → 不具合修正 → UI改善 → 全体テスト → 完成</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731520"/>
          </a:xfrm>
          <a:prstGeom prst="rect">
            <a:avLst/>
          </a:prstGeom>
          <a:noFill/>
          <a:ln/>
        </p:spPr>
        <p:txBody>
          <a:bodyPr wrap="square" lIns="0" tIns="0" rIns="0" bIns="0" rtlCol="0" anchor="ctr"/>
          <a:lstStyle/>
          <a:p>
            <a:pPr marL="0" indent="0" algn="l">
              <a:buNone/>
            </a:pPr>
            <a:r>
              <a:rPr lang="en-US" sz="3200" b="1" dirty="0">
                <a:solidFill>
                  <a:schemeClr val="bg1"/>
                </a:solidFill>
              </a:rPr>
              <a:t>まとめ</a:t>
            </a:r>
            <a:endParaRPr lang="en-US" sz="3200" dirty="0"/>
          </a:p>
        </p:txBody>
      </p:sp>
      <p:sp>
        <p:nvSpPr>
          <p:cNvPr id="3" name="summary-card"/>
          <p:cNvSpPr/>
          <p:nvPr/>
        </p:nvSpPr>
        <p:spPr>
          <a:xfrm>
            <a:off x="548640" y="1280160"/>
            <a:ext cx="8046720" cy="1325880"/>
          </a:xfrm>
          <a:prstGeom prst="roundRect">
            <a:avLst>
              <a:gd name="adj" fmla="val 6897"/>
            </a:avLst>
          </a:prstGeom>
          <a:solidFill>
            <a:srgbClr val="0F766E"/>
          </a:solidFill>
          <a:ln/>
        </p:spPr>
      </p:sp>
      <p:sp>
        <p:nvSpPr>
          <p:cNvPr id="4" name="summary-text"/>
          <p:cNvSpPr txBox="1"/>
          <p:nvPr/>
        </p:nvSpPr>
        <p:spPr>
          <a:xfrm>
            <a:off x="822960" y="1371600"/>
            <a:ext cx="7498080" cy="1143000"/>
          </a:xfrm>
          <a:prstGeom prst="rect">
            <a:avLst/>
          </a:prstGeom>
          <a:noFill/>
          <a:ln/>
        </p:spPr>
        <p:txBody>
          <a:bodyPr wrap="square" lIns="0" tIns="0" rIns="0" bIns="0" rtlCol="0" anchor="ctr"/>
          <a:lstStyle/>
          <a:p>
            <a:pPr marL="0" indent="0" algn="l">
              <a:buNone/>
            </a:pPr>
            <a:r>
              <a:rPr lang="en-US" sz="1800" b="1" dirty="0">
                <a:solidFill>
                  <a:schemeClr val="bg1"/>
                </a:solidFill>
              </a:rPr>
              <a:t>CanvasNoteは、教材の作成・配布から、生徒の回答・提出、</a:t>
            </a:r>
            <a:endParaRPr lang="en-US" sz="1800" dirty="0"/>
          </a:p>
          <a:p>
            <a:pPr marL="0" indent="0" algn="l">
              <a:buNone/>
            </a:pPr>
            <a:r>
              <a:rPr lang="en-US" sz="1800" b="1" dirty="0">
                <a:solidFill>
                  <a:schemeClr val="bg1"/>
                </a:solidFill>
              </a:rPr>
              <a:t>クイズの出題・自動採点・結果確認までを一つにまとめた</a:t>
            </a:r>
            <a:endParaRPr lang="en-US" sz="1800" dirty="0"/>
          </a:p>
          <a:p>
            <a:pPr marL="0" indent="0" algn="l">
              <a:buNone/>
            </a:pPr>
            <a:r>
              <a:rPr lang="en-US" sz="1800" b="1" dirty="0">
                <a:solidFill>
                  <a:schemeClr val="bg1"/>
                </a:solidFill>
              </a:rPr>
              <a:t>教育支援Webアプリです。</a:t>
            </a:r>
            <a:endParaRPr lang="en-US" sz="1800" dirty="0"/>
          </a:p>
        </p:txBody>
      </p:sp>
      <p:sp>
        <p:nvSpPr>
          <p:cNvPr id="5" name="point-card-0"/>
          <p:cNvSpPr/>
          <p:nvPr/>
        </p:nvSpPr>
        <p:spPr>
          <a:xfrm>
            <a:off x="548640" y="2880360"/>
            <a:ext cx="2560320" cy="1097280"/>
          </a:xfrm>
          <a:prstGeom prst="roundRect">
            <a:avLst>
              <a:gd name="adj" fmla="val 8333"/>
            </a:avLst>
          </a:prstGeom>
          <a:solidFill>
            <a:srgbClr val="1B2433"/>
          </a:solidFill>
          <a:ln/>
        </p:spPr>
      </p:sp>
      <p:sp>
        <p:nvSpPr>
          <p:cNvPr id="6" name="point-0-circle"/>
          <p:cNvSpPr/>
          <p:nvPr/>
        </p:nvSpPr>
        <p:spPr>
          <a:xfrm>
            <a:off x="731520" y="3108960"/>
            <a:ext cx="640080" cy="640080"/>
          </a:xfrm>
          <a:prstGeom prst="ellipse">
            <a:avLst/>
          </a:prstGeom>
          <a:solidFill>
            <a:srgbClr val="F59E0B"/>
          </a:solidFill>
          <a:ln/>
        </p:spPr>
      </p:sp>
      <p:pic>
        <p:nvPicPr>
          <p:cNvPr id="7" name="point-0-icon" descr="point-0"/>
          <p:cNvPicPr>
            <a:picLocks noChangeAspect="1"/>
          </p:cNvPicPr>
          <p:nvPr/>
        </p:nvPicPr>
        <p:blipFill>
          <a:blip r:embed="rId3"/>
          <a:stretch>
            <a:fillRect/>
          </a:stretch>
        </p:blipFill>
        <p:spPr>
          <a:xfrm>
            <a:off x="891540" y="3268980"/>
            <a:ext cx="320040" cy="320040"/>
          </a:xfrm>
          <a:prstGeom prst="rect">
            <a:avLst/>
          </a:prstGeom>
        </p:spPr>
      </p:pic>
      <p:sp>
        <p:nvSpPr>
          <p:cNvPr id="8" name="point-text-0"/>
          <p:cNvSpPr txBox="1"/>
          <p:nvPr/>
        </p:nvSpPr>
        <p:spPr>
          <a:xfrm>
            <a:off x="1508760" y="2971800"/>
            <a:ext cx="1508760" cy="914400"/>
          </a:xfrm>
          <a:prstGeom prst="rect">
            <a:avLst/>
          </a:prstGeom>
          <a:noFill/>
          <a:ln/>
        </p:spPr>
        <p:txBody>
          <a:bodyPr wrap="square" lIns="0" tIns="0" rIns="0" bIns="0" rtlCol="0" anchor="ctr"/>
          <a:lstStyle/>
          <a:p>
            <a:pPr marL="0" indent="0" algn="l">
              <a:buNone/>
            </a:pPr>
            <a:r>
              <a:rPr lang="en-US" sz="1400" b="1" dirty="0">
                <a:solidFill>
                  <a:schemeClr val="bg1"/>
                </a:solidFill>
              </a:rPr>
              <a:t>キャンバスで</a:t>
            </a:r>
            <a:endParaRPr lang="en-US" sz="1400" dirty="0"/>
          </a:p>
          <a:p>
            <a:pPr marL="0" indent="0" algn="l">
              <a:buNone/>
            </a:pPr>
            <a:r>
              <a:rPr lang="en-US" sz="1400" b="1" dirty="0">
                <a:solidFill>
                  <a:schemeClr val="bg1"/>
                </a:solidFill>
              </a:rPr>
              <a:t>教材を作れる</a:t>
            </a:r>
            <a:endParaRPr lang="en-US" sz="1400" dirty="0"/>
          </a:p>
        </p:txBody>
      </p:sp>
      <p:sp>
        <p:nvSpPr>
          <p:cNvPr id="9" name="point-card-1"/>
          <p:cNvSpPr/>
          <p:nvPr/>
        </p:nvSpPr>
        <p:spPr>
          <a:xfrm>
            <a:off x="3291840" y="2880360"/>
            <a:ext cx="2560320" cy="1097280"/>
          </a:xfrm>
          <a:prstGeom prst="roundRect">
            <a:avLst>
              <a:gd name="adj" fmla="val 8333"/>
            </a:avLst>
          </a:prstGeom>
          <a:solidFill>
            <a:srgbClr val="1B2433"/>
          </a:solidFill>
          <a:ln/>
        </p:spPr>
      </p:sp>
      <p:sp>
        <p:nvSpPr>
          <p:cNvPr id="10" name="point-1-circle"/>
          <p:cNvSpPr/>
          <p:nvPr/>
        </p:nvSpPr>
        <p:spPr>
          <a:xfrm>
            <a:off x="3474720" y="3108960"/>
            <a:ext cx="640080" cy="640080"/>
          </a:xfrm>
          <a:prstGeom prst="ellipse">
            <a:avLst/>
          </a:prstGeom>
          <a:solidFill>
            <a:srgbClr val="E76F51"/>
          </a:solidFill>
          <a:ln/>
        </p:spPr>
      </p:sp>
      <p:pic>
        <p:nvPicPr>
          <p:cNvPr id="11" name="point-1-icon" descr="point-1"/>
          <p:cNvPicPr>
            <a:picLocks noChangeAspect="1"/>
          </p:cNvPicPr>
          <p:nvPr/>
        </p:nvPicPr>
        <p:blipFill>
          <a:blip r:embed="rId4"/>
          <a:stretch>
            <a:fillRect/>
          </a:stretch>
        </p:blipFill>
        <p:spPr>
          <a:xfrm>
            <a:off x="3634740" y="3268980"/>
            <a:ext cx="320040" cy="320040"/>
          </a:xfrm>
          <a:prstGeom prst="rect">
            <a:avLst/>
          </a:prstGeom>
        </p:spPr>
      </p:pic>
      <p:sp>
        <p:nvSpPr>
          <p:cNvPr id="12" name="point-text-1"/>
          <p:cNvSpPr txBox="1"/>
          <p:nvPr/>
        </p:nvSpPr>
        <p:spPr>
          <a:xfrm>
            <a:off x="4251960" y="2971800"/>
            <a:ext cx="1508760" cy="914400"/>
          </a:xfrm>
          <a:prstGeom prst="rect">
            <a:avLst/>
          </a:prstGeom>
          <a:noFill/>
          <a:ln/>
        </p:spPr>
        <p:txBody>
          <a:bodyPr wrap="square" lIns="0" tIns="0" rIns="0" bIns="0" rtlCol="0" anchor="ctr"/>
          <a:lstStyle/>
          <a:p>
            <a:pPr marL="0" indent="0" algn="l">
              <a:buNone/>
            </a:pPr>
            <a:r>
              <a:rPr lang="en-US" sz="1400" b="1" dirty="0">
                <a:solidFill>
                  <a:schemeClr val="bg1"/>
                </a:solidFill>
              </a:rPr>
              <a:t>教材・提出・</a:t>
            </a:r>
            <a:endParaRPr lang="en-US" sz="1400" dirty="0"/>
          </a:p>
          <a:p>
            <a:pPr marL="0" indent="0" algn="l">
              <a:buNone/>
            </a:pPr>
            <a:r>
              <a:rPr lang="en-US" sz="1400" b="1" dirty="0">
                <a:solidFill>
                  <a:schemeClr val="bg1"/>
                </a:solidFill>
              </a:rPr>
              <a:t>クイズを一元管理</a:t>
            </a:r>
            <a:endParaRPr lang="en-US" sz="1400" dirty="0"/>
          </a:p>
        </p:txBody>
      </p:sp>
      <p:sp>
        <p:nvSpPr>
          <p:cNvPr id="13" name="point-card-2"/>
          <p:cNvSpPr/>
          <p:nvPr/>
        </p:nvSpPr>
        <p:spPr>
          <a:xfrm>
            <a:off x="6035040" y="2880360"/>
            <a:ext cx="2560320" cy="1097280"/>
          </a:xfrm>
          <a:prstGeom prst="roundRect">
            <a:avLst>
              <a:gd name="adj" fmla="val 8333"/>
            </a:avLst>
          </a:prstGeom>
          <a:solidFill>
            <a:srgbClr val="1B2433"/>
          </a:solidFill>
          <a:ln/>
        </p:spPr>
      </p:sp>
      <p:sp>
        <p:nvSpPr>
          <p:cNvPr id="14" name="point-2-circle"/>
          <p:cNvSpPr/>
          <p:nvPr/>
        </p:nvSpPr>
        <p:spPr>
          <a:xfrm>
            <a:off x="6217920" y="3108960"/>
            <a:ext cx="640080" cy="640080"/>
          </a:xfrm>
          <a:prstGeom prst="ellipse">
            <a:avLst/>
          </a:prstGeom>
          <a:solidFill>
            <a:srgbClr val="2A9D8F"/>
          </a:solidFill>
          <a:ln/>
        </p:spPr>
      </p:sp>
      <p:pic>
        <p:nvPicPr>
          <p:cNvPr id="15" name="point-2-icon" descr="point-2"/>
          <p:cNvPicPr>
            <a:picLocks noChangeAspect="1"/>
          </p:cNvPicPr>
          <p:nvPr/>
        </p:nvPicPr>
        <p:blipFill>
          <a:blip r:embed="rId5"/>
          <a:stretch>
            <a:fillRect/>
          </a:stretch>
        </p:blipFill>
        <p:spPr>
          <a:xfrm>
            <a:off x="6377940" y="3268980"/>
            <a:ext cx="320040" cy="320040"/>
          </a:xfrm>
          <a:prstGeom prst="rect">
            <a:avLst/>
          </a:prstGeom>
        </p:spPr>
      </p:pic>
      <p:sp>
        <p:nvSpPr>
          <p:cNvPr id="16" name="point-text-2"/>
          <p:cNvSpPr txBox="1"/>
          <p:nvPr/>
        </p:nvSpPr>
        <p:spPr>
          <a:xfrm>
            <a:off x="6995160" y="2971800"/>
            <a:ext cx="1508760" cy="914400"/>
          </a:xfrm>
          <a:prstGeom prst="rect">
            <a:avLst/>
          </a:prstGeom>
          <a:noFill/>
          <a:ln/>
        </p:spPr>
        <p:txBody>
          <a:bodyPr wrap="square" lIns="0" tIns="0" rIns="0" bIns="0" rtlCol="0" anchor="ctr"/>
          <a:lstStyle/>
          <a:p>
            <a:pPr marL="0" indent="0" algn="l">
              <a:buNone/>
            </a:pPr>
            <a:r>
              <a:rPr lang="en-US" sz="1400" b="1" dirty="0">
                <a:solidFill>
                  <a:schemeClr val="bg1"/>
                </a:solidFill>
              </a:rPr>
              <a:t>クラス単位で</a:t>
            </a:r>
            <a:endParaRPr lang="en-US" sz="1400" dirty="0"/>
          </a:p>
          <a:p>
            <a:pPr marL="0" indent="0" algn="l">
              <a:buNone/>
            </a:pPr>
            <a:r>
              <a:rPr lang="en-US" sz="1400" b="1" dirty="0">
                <a:solidFill>
                  <a:schemeClr val="bg1"/>
                </a:solidFill>
              </a:rPr>
              <a:t>管理できる</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extLst>
      <p:ext uri="{BB962C8B-B14F-4D97-AF65-F5344CB8AC3E}">
        <p14:creationId xmlns:p14="http://schemas.microsoft.com/office/powerpoint/2010/main" val="27845475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17" name="thanks"/>
          <p:cNvSpPr txBox="1"/>
          <p:nvPr/>
        </p:nvSpPr>
        <p:spPr>
          <a:xfrm>
            <a:off x="673331" y="2366010"/>
            <a:ext cx="8138160" cy="411480"/>
          </a:xfrm>
          <a:prstGeom prst="rect">
            <a:avLst/>
          </a:prstGeom>
          <a:noFill/>
          <a:ln/>
        </p:spPr>
        <p:txBody>
          <a:bodyPr wrap="square" lIns="0" tIns="0" rIns="0" bIns="0" rtlCol="0" anchor="ctr"/>
          <a:lstStyle/>
          <a:p>
            <a:pPr marL="0" indent="0" algn="l">
              <a:buNone/>
            </a:pPr>
            <a:r>
              <a:rPr lang="en-US" sz="4400" b="1" dirty="0">
                <a:solidFill>
                  <a:schemeClr val="accent2"/>
                </a:solidFill>
              </a:rPr>
              <a:t>ご清聴ありがとうございました</a:t>
            </a:r>
            <a:endParaRPr lang="en-US" sz="4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CanvasNote">
  <a:themeElements>
    <a:clrScheme name="CanvasNote">
      <a:dk1>
        <a:srgbClr val="1B2433"/>
      </a:dk1>
      <a:lt1>
        <a:srgbClr val="FFFFFF"/>
      </a:lt1>
      <a:dk2>
        <a:srgbClr val="0F4C5C"/>
      </a:dk2>
      <a:lt2>
        <a:srgbClr val="EAF3F4"/>
      </a:lt2>
      <a:accent1>
        <a:srgbClr val="0F766E"/>
      </a:accent1>
      <a:accent2>
        <a:srgbClr val="F59E0B"/>
      </a:accent2>
      <a:accent3>
        <a:srgbClr val="E76F51"/>
      </a:accent3>
      <a:accent4>
        <a:srgbClr val="2A9D8F"/>
      </a:accent4>
      <a:accent5>
        <a:srgbClr val="8AB17D"/>
      </a:accent5>
      <a:accent6>
        <a:srgbClr val="64748B"/>
      </a:accent6>
      <a:hlink>
        <a:srgbClr val="0F766E"/>
      </a:hlink>
      <a:folHlink>
        <a:srgbClr val="64748B"/>
      </a:folHlink>
    </a:clrScheme>
    <a:fontScheme name="CanvasNot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TotalTime>
  <Words>988</Words>
  <Application>Microsoft Office PowerPoint</Application>
  <PresentationFormat>画面に合わせる (16:9)</PresentationFormat>
  <Paragraphs>166</Paragraphs>
  <Slides>10</Slides>
  <Notes>10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10</vt:i4>
      </vt:variant>
    </vt:vector>
  </HeadingPairs>
  <TitlesOfParts>
    <vt:vector size="14" baseType="lpstr">
      <vt:lpstr>游ゴシック</vt:lpstr>
      <vt:lpstr>游ゴシック</vt:lpstr>
      <vt:lpstr>Arial</vt:lpstr>
      <vt:lpstr>CanvasNote</vt:lpstr>
      <vt:lpstr>CanvasNote</vt:lpstr>
      <vt:lpstr>開発背景と目的</vt:lpstr>
      <vt:lpstr>CanvasNoteとは</vt:lpstr>
      <vt:lpstr>主な機能</vt:lpstr>
      <vt:lpstr>教材作成機能</vt:lpstr>
      <vt:lpstr>クイズ機能</vt:lpstr>
      <vt:lpstr>技術構成と権限管理</vt:lpstr>
      <vt:lpstr>開発状況と今後</vt:lpstr>
      <vt:lpstr>まとめ</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CanvasNote 制作物発表</dc:title>
  <dc:subject>PptxGenJS Presentation</dc:subject>
  <dc:creator>PptxGenJS</dc:creator>
  <cp:lastModifiedBy>2025_CS 川田 暁子</cp:lastModifiedBy>
  <cp:revision>3</cp:revision>
  <dcterms:created xsi:type="dcterms:W3CDTF">2026-10-05T03:36:07Z</dcterms:created>
  <dcterms:modified xsi:type="dcterms:W3CDTF">2026-10-05T03:58:07Z</dcterms:modified>
</cp:coreProperties>
</file>