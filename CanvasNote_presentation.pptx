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85F3AD87-7F2E-8A81-2F14-41BA8FD94636}">
          <p14:sldIdLst>
            <p14:sldId id="256"/>
            <p14:sldId id="257"/>
            <p14:sldId id="258"/>
          </p14:sldIdLst>
        </p14:section>
        <p14:section name="機能" id="{75FC4F20-B748-CA6A-9547-6D6661DC211E}">
          <p14:sldIdLst>
            <p14:sldId id="259"/>
            <p14:sldId id="260"/>
            <p14:sldId id="261"/>
          </p14:sldIdLst>
        </p14:section>
        <p14:section name="技術と状況" id="{6492F55C-0BAF-59EE-C8FC-59C6BD65C022}">
          <p14:sldIdLst>
            <p14:sldId id="262"/>
            <p14:sldId id="263"/>
          </p14:sldIdLst>
        </p14:section>
        <p14:section name="まとめ" id="{A6E49110-C9FF-6860-674C-493C7DE00F59}">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841" autoAdjust="0"/>
  </p:normalViewPr>
  <p:slideViewPr>
    <p:cSldViewPr snapToGrid="0" snapToObjects="1">
      <p:cViewPr varScale="1">
        <p:scale>
          <a:sx n="92" d="100"/>
          <a:sy n="92" d="100"/>
        </p:scale>
        <p:origin x="11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3935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こんにちは。これから、授業の制作物として作成した「CanvasNote」について発表します。CanvasNoteは、教材・提出・クイズを一つにまとめた、先生と生徒のための教育支援Webアプリです。今日は、まず、なぜこのアプリを作ろうと思ったのかという背景からお話しして、次に、どんな機能があるのか、どんな技術で作ったのか、そして、現在どこまで完成しているのかを、順番にご紹介します。発表時間は10分ほどです。最後まで、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まず開発の背景です。授業では、先生は教材を作って配り、生徒の回答を集めて、提出状況を確認し、さらにクイズを出して採点する、というように、たくさんの作業があります。ところが、これらをバラバラのツールで管理していると、教材はここ、提出物はここ、クイズの結果はここ、というように、情報があちこちに分散してしまいます。そうなると、先生は探す手間がかかりますし、生徒も、どこで何を提出すればいいのか分かりにくくなります。そこで私は、授業に必要な教材、回答、提出状況、クイズの結果を、一つのWebアプリでまとめて管理できないかと考えました。これができれば、先生の教材管理も、生徒の学習も、もっと効率的になるはずです。これが、CanvasNoteの開発目的で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Noteを一言でいうと、先生と生徒の授業に必要な「教材・提出・クイズ」を一つにまとめるWebアプリです。基本的な流れを、この5つのステップで説明します。まず、先生が教材を作成します。次に、その教材をクラスへ配布します。すると、生徒は教材を開いて、回答を書き込みます。回答が終わったら、生徒が提出します。最後に、先生が、誰が提出したのかという提出状況と、回答の内容を確認します。このように、教材を作るところから、提出を確認するところまでが、一つのアプリの中で完結します。さらに、クイズも同じ流れで、出題、回答、自動採点、結果確認まで行えるようになっ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な機能を、5つのグループにまとめました。1つ目は教材管理です。教材の一覧、作成、編集ができます。2つ目は提出物管理です。生徒が教材に回答して提出し、先生は提出状況や回答内容を確認できます。3つ目はクラス管理です。クラスと生徒の所属を管理して、クラス単位で教材やクイズを配布できます。4つ目はクイズです。作成から出題、自動採点、結果確認までを行います。そして5つ目がユーザー管理で、ログインと、先生と生徒の権限の分離を行っています。この中で、特に特徴的な、教材作成機能とクイズ機能の2つを、この後もう少し詳しく説明し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教材作成機能です。この機能の一番の特徴は、キャンバス形式で教材を作れることです。普通のテキスト入力だけではなく、文字や図形を、キャンバスの上に自由に配置して、教材を作ることができます。左の図は、画面のイメージです。上にツールバー、左にページの一覧、そして中央に教材を作るキャンバスがあります。このキャンバスの操作には、Fabric.jsというライブラリを使っています。教材はページごとに管理することができて、授業で使う教材を、複数ページにまとめて作れます。生徒は、配布された同じ教材に直接回答を書き込んで、提出します。先生は、提出状況と、生徒の回答内容を確認でき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クイズ機能です。先生は、クイズのタイトルと、問題、A、B、C、Dの選択肢、そして正解を設定します。そのあと、対象のクラスを選んで、「出題する」を押すと、生徒の画面にクイズが表示されます。対象クラスは、右のように、チェックを入れたクラスだけが回答できる仕組みです。例えば、1年1組と2組にチェックを入れた場合、1年3組の生徒には表示されません。また、クイズには、下書き、出題中、終了という状態があります。実際の運用では、先生が作っている間は下書き、公開するときは出題中、というように、下書きと出題中を切り替えて使っています。生徒が回答すると、システムが正解と回答を比べて、正解数と得点を自動で計算し、結果を保存します。例えば、全5問中4問正解なら80点です。先生は、回答済みの人数や、生徒ごとの点数を、まとめて確認できます。さらに、今は、間違えて作ったクイズを削除できる機能も追加しています。削除するときは、生徒の回答結果も一緒に消えるという警告を表示するようにして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使用した技術です。画面を作る部分には、Vue.jsとFabric.jsを使っています。サーバー側は、PHPのフレームワークであるLaravelで、データはMySQLに保存しています。開発やビルドには、Viteを使っています。Vue.jsが画面を作って、Laravelが認証やデータの処理を担当し、MySQLにデータを保存する、という役割分担になっています。右の表は、先生と生徒の権限の違いです。教材やクイズの作成、クラスや生徒の管理、提出状況や結果の確認は、先生だけができます。反対に、教材への回答と提出、クイズへの回答は、生徒の操作です。このように役割を分けることで、先生と生徒が、それぞれに必要な機能だけを使えるようにしてい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現在の開発状況です。実装済みなのは、ログインと、先生・生徒の権限分離、キャンバス教材の作成と編集、クラスと生徒の管理、教材への回答、提出、確認、そして、クイズの作成から、出題、非公開、回答、自動採点、結果確認までです。現在調整している部分は、クイズの削除機能と、画面のUI調整、そして、各機能の動作確認です。今後は、まず動作を一つずつ確認して、見つかった不具合を修正し、UIを改善してから、全体のテストを行って、完成を目指し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まとめです。CanvasNoteは、教材の作成と配布から、生徒の回答と提出、さらに、クイズの出題、自動採点、結果確認までを、一つにまとめた教育支援Webアプリです。特徴は3つあります。1つ目は、キャンバスで教材を作れること。2つ目は、教材・提出・クイズを一元管理できること。3つ目は、クラス単位で管理できることです。今後も、テストと改善を重ねて、実際の授業で使いやすいアプリに仕上げていきたいと思います。以上で発表を終わります。ご清聴ありがとうございました。ご質問があれば、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F4C5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188720"/>
            <a:ext cx="5669280" cy="13716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743200"/>
            <a:ext cx="5486400" cy="91440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0F4C5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188720"/>
            <a:ext cx="5669280" cy="1371600"/>
          </a:xfrm>
          <a:prstGeom prst="rect">
            <a:avLst/>
          </a:prstGeom>
          <a:noFill/>
          <a:ln/>
        </p:spPr>
        <p:txBody>
          <a:bodyPr wrap="square" lIns="0" tIns="0" rIns="0" bIns="0" rtlCol="0" anchor="b"/>
          <a:lstStyle/>
          <a:p>
            <a:pPr marL="0" indent="0" algn="l">
              <a:buNone/>
            </a:pPr>
            <a:r>
              <a:rPr lang="en-US" sz="4800" b="1" dirty="0">
                <a:solidFill>
                  <a:schemeClr val="bg1"/>
                </a:solidFill>
              </a:rPr>
              <a:t>CanvasNote</a:t>
            </a:r>
            <a:endParaRPr lang="en-US" sz="4800" dirty="0"/>
          </a:p>
        </p:txBody>
      </p:sp>
      <p:sp>
        <p:nvSpPr>
          <p:cNvPr id="3" name="Text 0"/>
          <p:cNvSpPr>
            <a:spLocks noGrp="1"/>
          </p:cNvSpPr>
          <p:nvPr>
            <p:ph type="body" idx="101" hasCustomPrompt="1"/>
          </p:nvPr>
        </p:nvSpPr>
        <p:spPr>
          <a:xfrm>
            <a:off x="731520" y="2743200"/>
            <a:ext cx="5486400" cy="914400"/>
          </a:xfrm>
          <a:prstGeom prst="rect">
            <a:avLst/>
          </a:prstGeom>
          <a:noFill/>
          <a:ln/>
        </p:spPr>
        <p:txBody>
          <a:bodyPr wrap="square" lIns="0" tIns="0" rIns="0" bIns="0" rtlCol="0" anchor="t"/>
          <a:lstStyle/>
          <a:p>
            <a:pPr marL="0" indent="0" algn="l">
              <a:buNone/>
            </a:pPr>
            <a:r>
              <a:rPr lang="en-US" sz="2000" dirty="0">
                <a:solidFill>
                  <a:schemeClr val="bg2"/>
                </a:solidFill>
              </a:rPr>
              <a:t>教材・提出・クイズを一つにまとめる教育支援Webアプリ</a:t>
            </a:r>
            <a:endParaRPr lang="en-US" sz="2000" dirty="0"/>
          </a:p>
        </p:txBody>
      </p:sp>
      <p:sp>
        <p:nvSpPr>
          <p:cNvPr id="4" name="cover-label"/>
          <p:cNvSpPr txBox="1"/>
          <p:nvPr/>
        </p:nvSpPr>
        <p:spPr>
          <a:xfrm>
            <a:off x="731520" y="4206240"/>
            <a:ext cx="3657600" cy="320040"/>
          </a:xfrm>
          <a:prstGeom prst="rect">
            <a:avLst/>
          </a:prstGeom>
          <a:noFill/>
          <a:ln/>
        </p:spPr>
        <p:txBody>
          <a:bodyPr wrap="square" lIns="0" tIns="0" rIns="0" bIns="0" rtlCol="0" anchor="ctr"/>
          <a:lstStyle/>
          <a:p>
            <a:pPr marL="0" indent="0" algn="l">
              <a:buNone/>
            </a:pPr>
            <a:r>
              <a:rPr lang="en-US" sz="1400" dirty="0">
                <a:solidFill>
                  <a:schemeClr val="bg2"/>
                </a:solidFill>
              </a:rPr>
              <a:t>授業制作物発表</a:t>
            </a:r>
            <a:endParaRPr lang="en-US" sz="1400" dirty="0"/>
          </a:p>
        </p:txBody>
      </p:sp>
      <p:sp>
        <p:nvSpPr>
          <p:cNvPr id="5" name="cover-circle-0"/>
          <p:cNvSpPr/>
          <p:nvPr/>
        </p:nvSpPr>
        <p:spPr>
          <a:xfrm>
            <a:off x="7040880" y="1188720"/>
            <a:ext cx="914400" cy="914400"/>
          </a:xfrm>
          <a:prstGeom prst="ellipse">
            <a:avLst/>
          </a:prstGeom>
          <a:solidFill>
            <a:srgbClr val="0F766E"/>
          </a:solidFill>
          <a:ln/>
        </p:spPr>
      </p:sp>
      <p:pic>
        <p:nvPicPr>
          <p:cNvPr id="6" name="cover-icon-0" descr="教材"/>
          <p:cNvPicPr>
            <a:picLocks noChangeAspect="1"/>
          </p:cNvPicPr>
          <p:nvPr/>
        </p:nvPicPr>
        <p:blipFill>
          <a:blip r:embed="rId3"/>
          <a:stretch>
            <a:fillRect/>
          </a:stretch>
        </p:blipFill>
        <p:spPr>
          <a:xfrm>
            <a:off x="7269480" y="1417320"/>
            <a:ext cx="457200" cy="457200"/>
          </a:xfrm>
          <a:prstGeom prst="rect">
            <a:avLst/>
          </a:prstGeom>
        </p:spPr>
      </p:pic>
      <p:sp>
        <p:nvSpPr>
          <p:cNvPr id="7" name="cover-cap-0"/>
          <p:cNvSpPr txBox="1"/>
          <p:nvPr/>
        </p:nvSpPr>
        <p:spPr>
          <a:xfrm>
            <a:off x="8046720" y="1463040"/>
            <a:ext cx="822960" cy="365760"/>
          </a:xfrm>
          <a:prstGeom prst="rect">
            <a:avLst/>
          </a:prstGeom>
          <a:noFill/>
          <a:ln/>
        </p:spPr>
        <p:txBody>
          <a:bodyPr wrap="square" lIns="0" tIns="0" rIns="0" bIns="0" rtlCol="0" anchor="ctr"/>
          <a:lstStyle/>
          <a:p>
            <a:pPr marL="0" indent="0" algn="l">
              <a:buNone/>
            </a:pPr>
            <a:r>
              <a:rPr lang="en-US" sz="1400" b="1" dirty="0">
                <a:solidFill>
                  <a:schemeClr val="bg1"/>
                </a:solidFill>
              </a:rPr>
              <a:t>教材</a:t>
            </a:r>
            <a:endParaRPr lang="en-US" sz="1400" dirty="0"/>
          </a:p>
        </p:txBody>
      </p:sp>
      <p:sp>
        <p:nvSpPr>
          <p:cNvPr id="8" name="cover-circle-1"/>
          <p:cNvSpPr/>
          <p:nvPr/>
        </p:nvSpPr>
        <p:spPr>
          <a:xfrm>
            <a:off x="7040880" y="2377440"/>
            <a:ext cx="914400" cy="914400"/>
          </a:xfrm>
          <a:prstGeom prst="ellipse">
            <a:avLst/>
          </a:prstGeom>
          <a:solidFill>
            <a:srgbClr val="F59E0B"/>
          </a:solidFill>
          <a:ln/>
        </p:spPr>
      </p:sp>
      <p:pic>
        <p:nvPicPr>
          <p:cNvPr id="9" name="cover-icon-1" descr="提出"/>
          <p:cNvPicPr>
            <a:picLocks noChangeAspect="1"/>
          </p:cNvPicPr>
          <p:nvPr/>
        </p:nvPicPr>
        <p:blipFill>
          <a:blip r:embed="rId4"/>
          <a:stretch>
            <a:fillRect/>
          </a:stretch>
        </p:blipFill>
        <p:spPr>
          <a:xfrm>
            <a:off x="7269480" y="2606040"/>
            <a:ext cx="457200" cy="457200"/>
          </a:xfrm>
          <a:prstGeom prst="rect">
            <a:avLst/>
          </a:prstGeom>
        </p:spPr>
      </p:pic>
      <p:sp>
        <p:nvSpPr>
          <p:cNvPr id="10" name="cover-cap-1"/>
          <p:cNvSpPr txBox="1"/>
          <p:nvPr/>
        </p:nvSpPr>
        <p:spPr>
          <a:xfrm>
            <a:off x="8046720" y="2651760"/>
            <a:ext cx="822960" cy="365760"/>
          </a:xfrm>
          <a:prstGeom prst="rect">
            <a:avLst/>
          </a:prstGeom>
          <a:noFill/>
          <a:ln/>
        </p:spPr>
        <p:txBody>
          <a:bodyPr wrap="square" lIns="0" tIns="0" rIns="0" bIns="0" rtlCol="0" anchor="ctr"/>
          <a:lstStyle/>
          <a:p>
            <a:pPr marL="0" indent="0" algn="l">
              <a:buNone/>
            </a:pPr>
            <a:r>
              <a:rPr lang="en-US" sz="1400" b="1" dirty="0">
                <a:solidFill>
                  <a:schemeClr val="bg1"/>
                </a:solidFill>
              </a:rPr>
              <a:t>提出</a:t>
            </a:r>
            <a:endParaRPr lang="en-US" sz="1400" dirty="0"/>
          </a:p>
        </p:txBody>
      </p:sp>
      <p:sp>
        <p:nvSpPr>
          <p:cNvPr id="11" name="cover-circle-2"/>
          <p:cNvSpPr/>
          <p:nvPr/>
        </p:nvSpPr>
        <p:spPr>
          <a:xfrm>
            <a:off x="7040880" y="3566160"/>
            <a:ext cx="914400" cy="914400"/>
          </a:xfrm>
          <a:prstGeom prst="ellipse">
            <a:avLst/>
          </a:prstGeom>
          <a:solidFill>
            <a:srgbClr val="E76F51"/>
          </a:solidFill>
          <a:ln/>
        </p:spPr>
      </p:sp>
      <p:pic>
        <p:nvPicPr>
          <p:cNvPr id="12" name="cover-icon-2" descr="クイズ"/>
          <p:cNvPicPr>
            <a:picLocks noChangeAspect="1"/>
          </p:cNvPicPr>
          <p:nvPr/>
        </p:nvPicPr>
        <p:blipFill>
          <a:blip r:embed="rId5"/>
          <a:stretch>
            <a:fillRect/>
          </a:stretch>
        </p:blipFill>
        <p:spPr>
          <a:xfrm>
            <a:off x="7269480" y="3794760"/>
            <a:ext cx="457200" cy="457200"/>
          </a:xfrm>
          <a:prstGeom prst="rect">
            <a:avLst/>
          </a:prstGeom>
        </p:spPr>
      </p:pic>
      <p:sp>
        <p:nvSpPr>
          <p:cNvPr id="13" name="cover-cap-2"/>
          <p:cNvSpPr txBox="1"/>
          <p:nvPr/>
        </p:nvSpPr>
        <p:spPr>
          <a:xfrm>
            <a:off x="8046720" y="3840480"/>
            <a:ext cx="822960" cy="365760"/>
          </a:xfrm>
          <a:prstGeom prst="rect">
            <a:avLst/>
          </a:prstGeom>
          <a:noFill/>
          <a:ln/>
        </p:spPr>
        <p:txBody>
          <a:bodyPr wrap="square" lIns="0" tIns="0" rIns="0" bIns="0" rtlCol="0" anchor="ctr"/>
          <a:lstStyle/>
          <a:p>
            <a:pPr marL="0" indent="0" algn="l">
              <a:buNone/>
            </a:pPr>
            <a:r>
              <a:rPr lang="en-US" sz="1400" b="1" dirty="0">
                <a:solidFill>
                  <a:schemeClr val="bg1"/>
                </a:solidFill>
              </a:rPr>
              <a:t>クイズ</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開発背景と目的</a:t>
            </a:r>
            <a:endParaRPr lang="en-US" sz="3200" dirty="0"/>
          </a:p>
        </p:txBody>
      </p:sp>
      <p:sp>
        <p:nvSpPr>
          <p:cNvPr id="3" name="pain-card-0"/>
          <p:cNvSpPr/>
          <p:nvPr/>
        </p:nvSpPr>
        <p:spPr>
          <a:xfrm>
            <a:off x="548640" y="1280160"/>
            <a:ext cx="3474720" cy="777240"/>
          </a:xfrm>
          <a:prstGeom prst="roundRect">
            <a:avLst>
              <a:gd name="adj" fmla="val 11765"/>
            </a:avLst>
          </a:prstGeom>
          <a:solidFill>
            <a:srgbClr val="EAF3F4"/>
          </a:solidFill>
          <a:ln/>
        </p:spPr>
      </p:sp>
      <p:sp>
        <p:nvSpPr>
          <p:cNvPr id="4" name="pain-0-circle"/>
          <p:cNvSpPr/>
          <p:nvPr/>
        </p:nvSpPr>
        <p:spPr>
          <a:xfrm>
            <a:off x="685800" y="1417320"/>
            <a:ext cx="502920" cy="502920"/>
          </a:xfrm>
          <a:prstGeom prst="ellipse">
            <a:avLst/>
          </a:prstGeom>
          <a:solidFill>
            <a:srgbClr val="64748B"/>
          </a:solidFill>
          <a:ln/>
        </p:spPr>
      </p:sp>
      <p:pic>
        <p:nvPicPr>
          <p:cNvPr id="5" name="pain-0-icon" descr="pain-0"/>
          <p:cNvPicPr>
            <a:picLocks noChangeAspect="1"/>
          </p:cNvPicPr>
          <p:nvPr/>
        </p:nvPicPr>
        <p:blipFill>
          <a:blip r:embed="rId3"/>
          <a:stretch>
            <a:fillRect/>
          </a:stretch>
        </p:blipFill>
        <p:spPr>
          <a:xfrm>
            <a:off x="811530" y="1543050"/>
            <a:ext cx="251460" cy="251460"/>
          </a:xfrm>
          <a:prstGeom prst="rect">
            <a:avLst/>
          </a:prstGeom>
        </p:spPr>
      </p:pic>
      <p:sp>
        <p:nvSpPr>
          <p:cNvPr id="6" name="pain-text-0"/>
          <p:cNvSpPr txBox="1"/>
          <p:nvPr/>
        </p:nvSpPr>
        <p:spPr>
          <a:xfrm>
            <a:off x="1371600" y="1371600"/>
            <a:ext cx="2560320" cy="594360"/>
          </a:xfrm>
          <a:prstGeom prst="rect">
            <a:avLst/>
          </a:prstGeom>
          <a:noFill/>
          <a:ln/>
        </p:spPr>
        <p:txBody>
          <a:bodyPr wrap="square" lIns="0" tIns="0" rIns="0" bIns="0" rtlCol="0" anchor="ctr"/>
          <a:lstStyle/>
          <a:p>
            <a:pPr marL="0" indent="0" algn="l">
              <a:buNone/>
            </a:pPr>
            <a:r>
              <a:rPr lang="en-US" sz="1600" b="1" dirty="0">
                <a:solidFill>
                  <a:schemeClr val="tx1"/>
                </a:solidFill>
              </a:rPr>
              <a:t>教材の作成・配布</a:t>
            </a:r>
            <a:endParaRPr lang="en-US" sz="1600" dirty="0"/>
          </a:p>
        </p:txBody>
      </p:sp>
      <p:sp>
        <p:nvSpPr>
          <p:cNvPr id="7" name="pain-card-1"/>
          <p:cNvSpPr/>
          <p:nvPr/>
        </p:nvSpPr>
        <p:spPr>
          <a:xfrm>
            <a:off x="548640" y="2194560"/>
            <a:ext cx="3474720" cy="777240"/>
          </a:xfrm>
          <a:prstGeom prst="roundRect">
            <a:avLst>
              <a:gd name="adj" fmla="val 11765"/>
            </a:avLst>
          </a:prstGeom>
          <a:solidFill>
            <a:srgbClr val="EAF3F4"/>
          </a:solidFill>
          <a:ln/>
        </p:spPr>
      </p:sp>
      <p:sp>
        <p:nvSpPr>
          <p:cNvPr id="8" name="pain-1-circle"/>
          <p:cNvSpPr/>
          <p:nvPr/>
        </p:nvSpPr>
        <p:spPr>
          <a:xfrm>
            <a:off x="685800" y="2331720"/>
            <a:ext cx="502920" cy="502920"/>
          </a:xfrm>
          <a:prstGeom prst="ellipse">
            <a:avLst/>
          </a:prstGeom>
          <a:solidFill>
            <a:srgbClr val="64748B"/>
          </a:solidFill>
          <a:ln/>
        </p:spPr>
      </p:sp>
      <p:pic>
        <p:nvPicPr>
          <p:cNvPr id="9" name="pain-1-icon" descr="pain-1"/>
          <p:cNvPicPr>
            <a:picLocks noChangeAspect="1"/>
          </p:cNvPicPr>
          <p:nvPr/>
        </p:nvPicPr>
        <p:blipFill>
          <a:blip r:embed="rId4"/>
          <a:stretch>
            <a:fillRect/>
          </a:stretch>
        </p:blipFill>
        <p:spPr>
          <a:xfrm>
            <a:off x="811530" y="2457450"/>
            <a:ext cx="251460" cy="251460"/>
          </a:xfrm>
          <a:prstGeom prst="rect">
            <a:avLst/>
          </a:prstGeom>
        </p:spPr>
      </p:pic>
      <p:sp>
        <p:nvSpPr>
          <p:cNvPr id="10" name="pain-text-1"/>
          <p:cNvSpPr txBox="1"/>
          <p:nvPr/>
        </p:nvSpPr>
        <p:spPr>
          <a:xfrm>
            <a:off x="1371600" y="2286000"/>
            <a:ext cx="2560320" cy="594360"/>
          </a:xfrm>
          <a:prstGeom prst="rect">
            <a:avLst/>
          </a:prstGeom>
          <a:noFill/>
          <a:ln/>
        </p:spPr>
        <p:txBody>
          <a:bodyPr wrap="square" lIns="0" tIns="0" rIns="0" bIns="0" rtlCol="0" anchor="ctr"/>
          <a:lstStyle/>
          <a:p>
            <a:pPr marL="0" indent="0" algn="l">
              <a:buNone/>
            </a:pPr>
            <a:r>
              <a:rPr lang="en-US" sz="1600" b="1" dirty="0">
                <a:solidFill>
                  <a:schemeClr val="tx1"/>
                </a:solidFill>
              </a:rPr>
              <a:t>回答の回収・提出確認</a:t>
            </a:r>
            <a:endParaRPr lang="en-US" sz="1600" dirty="0"/>
          </a:p>
        </p:txBody>
      </p:sp>
      <p:sp>
        <p:nvSpPr>
          <p:cNvPr id="11" name="pain-card-2"/>
          <p:cNvSpPr/>
          <p:nvPr/>
        </p:nvSpPr>
        <p:spPr>
          <a:xfrm>
            <a:off x="548640" y="3108960"/>
            <a:ext cx="3474720" cy="777240"/>
          </a:xfrm>
          <a:prstGeom prst="roundRect">
            <a:avLst>
              <a:gd name="adj" fmla="val 11765"/>
            </a:avLst>
          </a:prstGeom>
          <a:solidFill>
            <a:srgbClr val="EAF3F4"/>
          </a:solidFill>
          <a:ln/>
        </p:spPr>
      </p:sp>
      <p:sp>
        <p:nvSpPr>
          <p:cNvPr id="12" name="pain-2-circle"/>
          <p:cNvSpPr/>
          <p:nvPr/>
        </p:nvSpPr>
        <p:spPr>
          <a:xfrm>
            <a:off x="685800" y="3246120"/>
            <a:ext cx="502920" cy="502920"/>
          </a:xfrm>
          <a:prstGeom prst="ellipse">
            <a:avLst/>
          </a:prstGeom>
          <a:solidFill>
            <a:srgbClr val="64748B"/>
          </a:solidFill>
          <a:ln/>
        </p:spPr>
      </p:sp>
      <p:pic>
        <p:nvPicPr>
          <p:cNvPr id="13" name="pain-2-icon" descr="pain-2"/>
          <p:cNvPicPr>
            <a:picLocks noChangeAspect="1"/>
          </p:cNvPicPr>
          <p:nvPr/>
        </p:nvPicPr>
        <p:blipFill>
          <a:blip r:embed="rId5"/>
          <a:stretch>
            <a:fillRect/>
          </a:stretch>
        </p:blipFill>
        <p:spPr>
          <a:xfrm>
            <a:off x="811530" y="3371850"/>
            <a:ext cx="251460" cy="251460"/>
          </a:xfrm>
          <a:prstGeom prst="rect">
            <a:avLst/>
          </a:prstGeom>
        </p:spPr>
      </p:pic>
      <p:sp>
        <p:nvSpPr>
          <p:cNvPr id="14" name="pain-text-2"/>
          <p:cNvSpPr txBox="1"/>
          <p:nvPr/>
        </p:nvSpPr>
        <p:spPr>
          <a:xfrm>
            <a:off x="1371600" y="3200400"/>
            <a:ext cx="2560320" cy="594360"/>
          </a:xfrm>
          <a:prstGeom prst="rect">
            <a:avLst/>
          </a:prstGeom>
          <a:noFill/>
          <a:ln/>
        </p:spPr>
        <p:txBody>
          <a:bodyPr wrap="square" lIns="0" tIns="0" rIns="0" bIns="0" rtlCol="0" anchor="ctr"/>
          <a:lstStyle/>
          <a:p>
            <a:pPr marL="0" indent="0" algn="l">
              <a:buNone/>
            </a:pPr>
            <a:r>
              <a:rPr lang="en-US" sz="1600" b="1" dirty="0">
                <a:solidFill>
                  <a:schemeClr val="tx1"/>
                </a:solidFill>
              </a:rPr>
              <a:t>クイズの採点・結果確認</a:t>
            </a:r>
            <a:endParaRPr lang="en-US" sz="1600" dirty="0"/>
          </a:p>
        </p:txBody>
      </p:sp>
      <p:sp>
        <p:nvSpPr>
          <p:cNvPr id="15" name="pain-caption"/>
          <p:cNvSpPr txBox="1"/>
          <p:nvPr/>
        </p:nvSpPr>
        <p:spPr>
          <a:xfrm>
            <a:off x="548640" y="4114800"/>
            <a:ext cx="3566160" cy="502920"/>
          </a:xfrm>
          <a:prstGeom prst="rect">
            <a:avLst/>
          </a:prstGeom>
          <a:noFill/>
          <a:ln/>
        </p:spPr>
        <p:txBody>
          <a:bodyPr wrap="square" lIns="0" tIns="0" rIns="0" bIns="0" rtlCol="0" anchor="ctr"/>
          <a:lstStyle/>
          <a:p>
            <a:pPr marL="0" indent="0" algn="l">
              <a:buNone/>
            </a:pPr>
            <a:r>
              <a:rPr lang="en-US" sz="1400" dirty="0">
                <a:solidFill>
                  <a:schemeClr val="accent6"/>
                </a:solidFill>
              </a:rPr>
              <a:t>別々に管理すると、情報が分散して大変</a:t>
            </a:r>
            <a:endParaRPr lang="en-US" sz="1400" dirty="0"/>
          </a:p>
        </p:txBody>
      </p:sp>
      <p:sp>
        <p:nvSpPr>
          <p:cNvPr id="16" name="arrow-to-goal"/>
          <p:cNvSpPr/>
          <p:nvPr/>
        </p:nvSpPr>
        <p:spPr>
          <a:xfrm>
            <a:off x="4160520" y="2514600"/>
            <a:ext cx="548640" cy="457200"/>
          </a:xfrm>
          <a:prstGeom prst="rightArrow">
            <a:avLst/>
          </a:prstGeom>
          <a:solidFill>
            <a:schemeClr val="accent2"/>
          </a:solidFill>
          <a:ln/>
        </p:spPr>
      </p:sp>
      <p:sp>
        <p:nvSpPr>
          <p:cNvPr id="17" name="goal-card"/>
          <p:cNvSpPr/>
          <p:nvPr/>
        </p:nvSpPr>
        <p:spPr>
          <a:xfrm>
            <a:off x="4846320" y="1280160"/>
            <a:ext cx="3749040" cy="2834640"/>
          </a:xfrm>
          <a:prstGeom prst="roundRect">
            <a:avLst>
              <a:gd name="adj" fmla="val 3226"/>
            </a:avLst>
          </a:prstGeom>
          <a:solidFill>
            <a:srgbClr val="0F766E"/>
          </a:solidFill>
          <a:ln/>
          <a:effectLst>
            <a:outerShdw blurRad="76200" dist="25400" dir="5400000" algn="bl" rotWithShape="0">
              <a:srgbClr val="000000">
                <a:alpha val="15000"/>
              </a:srgbClr>
            </a:outerShdw>
          </a:effectLst>
        </p:spPr>
      </p:sp>
      <p:sp>
        <p:nvSpPr>
          <p:cNvPr id="18" name="goal-title"/>
          <p:cNvSpPr txBox="1"/>
          <p:nvPr/>
        </p:nvSpPr>
        <p:spPr>
          <a:xfrm>
            <a:off x="5120640" y="1463040"/>
            <a:ext cx="3200400" cy="411480"/>
          </a:xfrm>
          <a:prstGeom prst="rect">
            <a:avLst/>
          </a:prstGeom>
          <a:noFill/>
          <a:ln/>
        </p:spPr>
        <p:txBody>
          <a:bodyPr wrap="square" lIns="0" tIns="0" rIns="0" bIns="0" rtlCol="0" anchor="ctr"/>
          <a:lstStyle/>
          <a:p>
            <a:pPr marL="0" indent="0" algn="l">
              <a:buNone/>
            </a:pPr>
            <a:r>
              <a:rPr lang="en-US" sz="2000" b="1" dirty="0">
                <a:solidFill>
                  <a:schemeClr val="bg1"/>
                </a:solidFill>
              </a:rPr>
              <a:t>開発目的</a:t>
            </a:r>
            <a:endParaRPr lang="en-US" sz="2000" dirty="0"/>
          </a:p>
        </p:txBody>
      </p:sp>
      <p:sp>
        <p:nvSpPr>
          <p:cNvPr id="19" name="goal-text"/>
          <p:cNvSpPr txBox="1"/>
          <p:nvPr/>
        </p:nvSpPr>
        <p:spPr>
          <a:xfrm>
            <a:off x="5120640" y="2011680"/>
            <a:ext cx="3200400" cy="1920240"/>
          </a:xfrm>
          <a:prstGeom prst="rect">
            <a:avLst/>
          </a:prstGeom>
          <a:noFill/>
          <a:ln/>
        </p:spPr>
        <p:txBody>
          <a:bodyPr wrap="square" lIns="0" tIns="0" rIns="0" bIns="0" rtlCol="0" anchor="t"/>
          <a:lstStyle/>
          <a:p>
            <a:pPr marL="0" indent="0" algn="l">
              <a:buNone/>
            </a:pPr>
            <a:r>
              <a:rPr lang="en-US" sz="1800" dirty="0">
                <a:solidFill>
                  <a:schemeClr val="bg1"/>
                </a:solidFill>
              </a:rPr>
              <a:t>授業に必要な情報を一つのWebアプリで管理し、先生の教材管理と生徒の学習を効率化する</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CanvasNoteとは</a:t>
            </a:r>
            <a:endParaRPr lang="en-US" sz="3200" dirty="0"/>
          </a:p>
        </p:txBody>
      </p:sp>
      <p:sp>
        <p:nvSpPr>
          <p:cNvPr id="3" name="oneliner-card"/>
          <p:cNvSpPr/>
          <p:nvPr/>
        </p:nvSpPr>
        <p:spPr>
          <a:xfrm>
            <a:off x="548640" y="1234440"/>
            <a:ext cx="8046720" cy="914400"/>
          </a:xfrm>
          <a:prstGeom prst="roundRect">
            <a:avLst>
              <a:gd name="adj" fmla="val 10000"/>
            </a:avLst>
          </a:prstGeom>
          <a:solidFill>
            <a:srgbClr val="EAF3F4"/>
          </a:solidFill>
          <a:ln/>
        </p:spPr>
      </p:sp>
      <p:sp>
        <p:nvSpPr>
          <p:cNvPr id="4" name="oneliner-text"/>
          <p:cNvSpPr txBox="1"/>
          <p:nvPr/>
        </p:nvSpPr>
        <p:spPr>
          <a:xfrm>
            <a:off x="777240" y="1280160"/>
            <a:ext cx="7589520" cy="822960"/>
          </a:xfrm>
          <a:prstGeom prst="rect">
            <a:avLst/>
          </a:prstGeom>
          <a:noFill/>
          <a:ln/>
        </p:spPr>
        <p:txBody>
          <a:bodyPr wrap="square" lIns="0" tIns="0" rIns="0" bIns="0" rtlCol="0" anchor="ctr"/>
          <a:lstStyle/>
          <a:p>
            <a:pPr marL="0" indent="0" algn="l">
              <a:buNone/>
            </a:pPr>
            <a:r>
              <a:rPr lang="en-US" sz="1800" b="1" dirty="0">
                <a:solidFill>
                  <a:schemeClr val="tx2"/>
                </a:solidFill>
              </a:rPr>
              <a:t>先生と生徒の授業に必要な「教材・提出・クイズ」を一つにまとめるWebアプリ</a:t>
            </a:r>
            <a:endParaRPr lang="en-US" sz="1800" dirty="0"/>
          </a:p>
        </p:txBody>
      </p:sp>
      <p:sp>
        <p:nvSpPr>
          <p:cNvPr id="5" name="step-card-0"/>
          <p:cNvSpPr/>
          <p:nvPr/>
        </p:nvSpPr>
        <p:spPr>
          <a:xfrm>
            <a:off x="548640" y="2423160"/>
            <a:ext cx="1463040" cy="1463040"/>
          </a:xfrm>
          <a:prstGeom prst="roundRect">
            <a:avLst>
              <a:gd name="adj" fmla="val 6250"/>
            </a:avLst>
          </a:prstGeom>
          <a:solidFill>
            <a:srgbClr val="0F766E"/>
          </a:solidFill>
          <a:ln/>
          <a:effectLst>
            <a:outerShdw blurRad="76200" dist="25400" dir="5400000" algn="bl" rotWithShape="0">
              <a:srgbClr val="000000">
                <a:alpha val="15000"/>
              </a:srgbClr>
            </a:outerShdw>
          </a:effectLst>
        </p:spPr>
      </p:sp>
      <p:sp>
        <p:nvSpPr>
          <p:cNvPr id="6" name="step-num-0"/>
          <p:cNvSpPr txBox="1"/>
          <p:nvPr/>
        </p:nvSpPr>
        <p:spPr>
          <a:xfrm>
            <a:off x="640080" y="2514600"/>
            <a:ext cx="365760" cy="365760"/>
          </a:xfrm>
          <a:prstGeom prst="rect">
            <a:avLst/>
          </a:prstGeom>
          <a:noFill/>
          <a:ln/>
        </p:spPr>
        <p:txBody>
          <a:bodyPr wrap="square" lIns="0" tIns="0" rIns="0" bIns="0" rtlCol="0" anchor="ctr"/>
          <a:lstStyle/>
          <a:p>
            <a:pPr marL="0" indent="0" algn="l">
              <a:buNone/>
            </a:pPr>
            <a:r>
              <a:rPr lang="en-US" sz="1800" b="1" dirty="0">
                <a:solidFill>
                  <a:schemeClr val="bg1"/>
                </a:solidFill>
              </a:rPr>
              <a:t>1</a:t>
            </a:r>
            <a:endParaRPr lang="en-US" sz="1800" dirty="0"/>
          </a:p>
        </p:txBody>
      </p:sp>
      <p:sp>
        <p:nvSpPr>
          <p:cNvPr id="7" name="step-label-0"/>
          <p:cNvSpPr txBox="1"/>
          <p:nvPr/>
        </p:nvSpPr>
        <p:spPr>
          <a:xfrm>
            <a:off x="640080" y="2926080"/>
            <a:ext cx="1280160" cy="594360"/>
          </a:xfrm>
          <a:prstGeom prst="rect">
            <a:avLst/>
          </a:prstGeom>
          <a:noFill/>
          <a:ln/>
        </p:spPr>
        <p:txBody>
          <a:bodyPr wrap="square" lIns="0" tIns="0" rIns="0" bIns="0" rtlCol="0" anchor="t"/>
          <a:lstStyle/>
          <a:p>
            <a:pPr marL="0" indent="0" algn="l">
              <a:buNone/>
            </a:pPr>
            <a:r>
              <a:rPr lang="en-US" sz="1500" b="1" dirty="0">
                <a:solidFill>
                  <a:schemeClr val="bg1"/>
                </a:solidFill>
              </a:rPr>
              <a:t>教材を作成</a:t>
            </a:r>
            <a:endParaRPr lang="en-US" sz="1500" dirty="0"/>
          </a:p>
        </p:txBody>
      </p:sp>
      <p:sp>
        <p:nvSpPr>
          <p:cNvPr id="8" name="step-role-0"/>
          <p:cNvSpPr txBox="1"/>
          <p:nvPr/>
        </p:nvSpPr>
        <p:spPr>
          <a:xfrm>
            <a:off x="640080" y="3547872"/>
            <a:ext cx="1234440" cy="228600"/>
          </a:xfrm>
          <a:prstGeom prst="rect">
            <a:avLst/>
          </a:prstGeom>
          <a:noFill/>
          <a:ln/>
        </p:spPr>
        <p:txBody>
          <a:bodyPr wrap="square" lIns="0" tIns="0" rIns="0" bIns="0" rtlCol="0" anchor="ctr"/>
          <a:lstStyle/>
          <a:p>
            <a:pPr marL="0" indent="0" algn="l">
              <a:buNone/>
            </a:pPr>
            <a:r>
              <a:rPr lang="en-US" sz="1200" dirty="0">
                <a:solidFill>
                  <a:schemeClr val="bg1"/>
                </a:solidFill>
              </a:rPr>
              <a:t>先生</a:t>
            </a:r>
            <a:endParaRPr lang="en-US" sz="1200" dirty="0"/>
          </a:p>
        </p:txBody>
      </p:sp>
      <p:sp>
        <p:nvSpPr>
          <p:cNvPr id="9" name="step-arrow-0"/>
          <p:cNvSpPr/>
          <p:nvPr/>
        </p:nvSpPr>
        <p:spPr>
          <a:xfrm>
            <a:off x="2029968" y="3035808"/>
            <a:ext cx="146304" cy="228600"/>
          </a:xfrm>
          <a:prstGeom prst="rightArrow">
            <a:avLst/>
          </a:prstGeom>
          <a:solidFill>
            <a:schemeClr val="accent6"/>
          </a:solidFill>
          <a:ln/>
        </p:spPr>
      </p:sp>
      <p:sp>
        <p:nvSpPr>
          <p:cNvPr id="10" name="step-card-1"/>
          <p:cNvSpPr/>
          <p:nvPr/>
        </p:nvSpPr>
        <p:spPr>
          <a:xfrm>
            <a:off x="2194560" y="2423160"/>
            <a:ext cx="1463040" cy="1463040"/>
          </a:xfrm>
          <a:prstGeom prst="roundRect">
            <a:avLst>
              <a:gd name="adj" fmla="val 6250"/>
            </a:avLst>
          </a:prstGeom>
          <a:solidFill>
            <a:srgbClr val="0F766E"/>
          </a:solidFill>
          <a:ln/>
          <a:effectLst>
            <a:outerShdw blurRad="76200" dist="25400" dir="5400000" algn="bl" rotWithShape="0">
              <a:srgbClr val="000000">
                <a:alpha val="15000"/>
              </a:srgbClr>
            </a:outerShdw>
          </a:effectLst>
        </p:spPr>
      </p:sp>
      <p:sp>
        <p:nvSpPr>
          <p:cNvPr id="11" name="step-num-1"/>
          <p:cNvSpPr txBox="1"/>
          <p:nvPr/>
        </p:nvSpPr>
        <p:spPr>
          <a:xfrm>
            <a:off x="2286000" y="2514600"/>
            <a:ext cx="365760" cy="365760"/>
          </a:xfrm>
          <a:prstGeom prst="rect">
            <a:avLst/>
          </a:prstGeom>
          <a:noFill/>
          <a:ln/>
        </p:spPr>
        <p:txBody>
          <a:bodyPr wrap="square" lIns="0" tIns="0" rIns="0" bIns="0" rtlCol="0" anchor="ctr"/>
          <a:lstStyle/>
          <a:p>
            <a:pPr marL="0" indent="0" algn="l">
              <a:buNone/>
            </a:pPr>
            <a:r>
              <a:rPr lang="en-US" sz="1800" b="1" dirty="0">
                <a:solidFill>
                  <a:schemeClr val="bg1"/>
                </a:solidFill>
              </a:rPr>
              <a:t>2</a:t>
            </a:r>
            <a:endParaRPr lang="en-US" sz="1800" dirty="0"/>
          </a:p>
        </p:txBody>
      </p:sp>
      <p:sp>
        <p:nvSpPr>
          <p:cNvPr id="12" name="step-label-1"/>
          <p:cNvSpPr txBox="1"/>
          <p:nvPr/>
        </p:nvSpPr>
        <p:spPr>
          <a:xfrm>
            <a:off x="2286000" y="2926080"/>
            <a:ext cx="1280160" cy="594360"/>
          </a:xfrm>
          <a:prstGeom prst="rect">
            <a:avLst/>
          </a:prstGeom>
          <a:noFill/>
          <a:ln/>
        </p:spPr>
        <p:txBody>
          <a:bodyPr wrap="square" lIns="0" tIns="0" rIns="0" bIns="0" rtlCol="0" anchor="t"/>
          <a:lstStyle/>
          <a:p>
            <a:pPr marL="0" indent="0" algn="l">
              <a:buNone/>
            </a:pPr>
            <a:r>
              <a:rPr lang="en-US" sz="1500" b="1" dirty="0">
                <a:solidFill>
                  <a:schemeClr val="bg1"/>
                </a:solidFill>
              </a:rPr>
              <a:t>クラスへ配布</a:t>
            </a:r>
            <a:endParaRPr lang="en-US" sz="1500" dirty="0"/>
          </a:p>
        </p:txBody>
      </p:sp>
      <p:sp>
        <p:nvSpPr>
          <p:cNvPr id="13" name="step-role-1"/>
          <p:cNvSpPr txBox="1"/>
          <p:nvPr/>
        </p:nvSpPr>
        <p:spPr>
          <a:xfrm>
            <a:off x="2286000" y="3547872"/>
            <a:ext cx="1234440" cy="228600"/>
          </a:xfrm>
          <a:prstGeom prst="rect">
            <a:avLst/>
          </a:prstGeom>
          <a:noFill/>
          <a:ln/>
        </p:spPr>
        <p:txBody>
          <a:bodyPr wrap="square" lIns="0" tIns="0" rIns="0" bIns="0" rtlCol="0" anchor="ctr"/>
          <a:lstStyle/>
          <a:p>
            <a:pPr marL="0" indent="0" algn="l">
              <a:buNone/>
            </a:pPr>
            <a:r>
              <a:rPr lang="en-US" sz="1200" dirty="0">
                <a:solidFill>
                  <a:schemeClr val="bg1"/>
                </a:solidFill>
              </a:rPr>
              <a:t>先生</a:t>
            </a:r>
            <a:endParaRPr lang="en-US" sz="1200" dirty="0"/>
          </a:p>
        </p:txBody>
      </p:sp>
      <p:sp>
        <p:nvSpPr>
          <p:cNvPr id="14" name="step-arrow-1"/>
          <p:cNvSpPr/>
          <p:nvPr/>
        </p:nvSpPr>
        <p:spPr>
          <a:xfrm>
            <a:off x="3675888" y="3035808"/>
            <a:ext cx="146304" cy="228600"/>
          </a:xfrm>
          <a:prstGeom prst="rightArrow">
            <a:avLst/>
          </a:prstGeom>
          <a:solidFill>
            <a:schemeClr val="accent6"/>
          </a:solidFill>
          <a:ln/>
        </p:spPr>
      </p:sp>
      <p:sp>
        <p:nvSpPr>
          <p:cNvPr id="15" name="step-card-2"/>
          <p:cNvSpPr/>
          <p:nvPr/>
        </p:nvSpPr>
        <p:spPr>
          <a:xfrm>
            <a:off x="3840480" y="2423160"/>
            <a:ext cx="1463040" cy="1463040"/>
          </a:xfrm>
          <a:prstGeom prst="roundRect">
            <a:avLst>
              <a:gd name="adj" fmla="val 6250"/>
            </a:avLst>
          </a:prstGeom>
          <a:solidFill>
            <a:srgbClr val="F59E0B"/>
          </a:solidFill>
          <a:ln/>
          <a:effectLst>
            <a:outerShdw blurRad="76200" dist="25400" dir="5400000" algn="bl" rotWithShape="0">
              <a:srgbClr val="000000">
                <a:alpha val="15000"/>
              </a:srgbClr>
            </a:outerShdw>
          </a:effectLst>
        </p:spPr>
      </p:sp>
      <p:sp>
        <p:nvSpPr>
          <p:cNvPr id="16" name="step-num-2"/>
          <p:cNvSpPr txBox="1"/>
          <p:nvPr/>
        </p:nvSpPr>
        <p:spPr>
          <a:xfrm>
            <a:off x="3931920" y="2514600"/>
            <a:ext cx="365760" cy="365760"/>
          </a:xfrm>
          <a:prstGeom prst="rect">
            <a:avLst/>
          </a:prstGeom>
          <a:noFill/>
          <a:ln/>
        </p:spPr>
        <p:txBody>
          <a:bodyPr wrap="square" lIns="0" tIns="0" rIns="0" bIns="0" rtlCol="0" anchor="ctr"/>
          <a:lstStyle/>
          <a:p>
            <a:pPr marL="0" indent="0" algn="l">
              <a:buNone/>
            </a:pPr>
            <a:r>
              <a:rPr lang="en-US" sz="1800" b="1" dirty="0">
                <a:solidFill>
                  <a:schemeClr val="tx1"/>
                </a:solidFill>
              </a:rPr>
              <a:t>3</a:t>
            </a:r>
            <a:endParaRPr lang="en-US" sz="1800" dirty="0"/>
          </a:p>
        </p:txBody>
      </p:sp>
      <p:sp>
        <p:nvSpPr>
          <p:cNvPr id="17" name="step-label-2"/>
          <p:cNvSpPr txBox="1"/>
          <p:nvPr/>
        </p:nvSpPr>
        <p:spPr>
          <a:xfrm>
            <a:off x="3931920" y="2926080"/>
            <a:ext cx="1280160" cy="594360"/>
          </a:xfrm>
          <a:prstGeom prst="rect">
            <a:avLst/>
          </a:prstGeom>
          <a:noFill/>
          <a:ln/>
        </p:spPr>
        <p:txBody>
          <a:bodyPr wrap="square" lIns="0" tIns="0" rIns="0" bIns="0" rtlCol="0" anchor="t"/>
          <a:lstStyle/>
          <a:p>
            <a:pPr marL="0" indent="0" algn="l">
              <a:buNone/>
            </a:pPr>
            <a:r>
              <a:rPr lang="en-US" sz="1500" b="1" dirty="0">
                <a:solidFill>
                  <a:schemeClr val="tx1"/>
                </a:solidFill>
              </a:rPr>
              <a:t>教材を開いて</a:t>
            </a:r>
            <a:endParaRPr lang="en-US" sz="1500" dirty="0"/>
          </a:p>
          <a:p>
            <a:pPr marL="0" indent="0" algn="l">
              <a:buNone/>
            </a:pPr>
            <a:r>
              <a:rPr lang="en-US" sz="1500" b="1" dirty="0">
                <a:solidFill>
                  <a:schemeClr val="tx1"/>
                </a:solidFill>
              </a:rPr>
              <a:t>回答</a:t>
            </a:r>
            <a:endParaRPr lang="en-US" sz="1500" dirty="0"/>
          </a:p>
        </p:txBody>
      </p:sp>
      <p:sp>
        <p:nvSpPr>
          <p:cNvPr id="18" name="step-role-2"/>
          <p:cNvSpPr txBox="1"/>
          <p:nvPr/>
        </p:nvSpPr>
        <p:spPr>
          <a:xfrm>
            <a:off x="3931920" y="3547872"/>
            <a:ext cx="1234440" cy="228600"/>
          </a:xfrm>
          <a:prstGeom prst="rect">
            <a:avLst/>
          </a:prstGeom>
          <a:noFill/>
          <a:ln/>
        </p:spPr>
        <p:txBody>
          <a:bodyPr wrap="square" lIns="0" tIns="0" rIns="0" bIns="0" rtlCol="0" anchor="ctr"/>
          <a:lstStyle/>
          <a:p>
            <a:pPr marL="0" indent="0" algn="l">
              <a:buNone/>
            </a:pPr>
            <a:r>
              <a:rPr lang="en-US" sz="1200" dirty="0">
                <a:solidFill>
                  <a:schemeClr val="tx1"/>
                </a:solidFill>
              </a:rPr>
              <a:t>生徒</a:t>
            </a:r>
            <a:endParaRPr lang="en-US" sz="1200" dirty="0"/>
          </a:p>
        </p:txBody>
      </p:sp>
      <p:sp>
        <p:nvSpPr>
          <p:cNvPr id="19" name="step-arrow-2"/>
          <p:cNvSpPr/>
          <p:nvPr/>
        </p:nvSpPr>
        <p:spPr>
          <a:xfrm>
            <a:off x="5321808" y="3035808"/>
            <a:ext cx="146304" cy="228600"/>
          </a:xfrm>
          <a:prstGeom prst="rightArrow">
            <a:avLst/>
          </a:prstGeom>
          <a:solidFill>
            <a:schemeClr val="accent6"/>
          </a:solidFill>
          <a:ln/>
        </p:spPr>
      </p:sp>
      <p:sp>
        <p:nvSpPr>
          <p:cNvPr id="20" name="step-card-3"/>
          <p:cNvSpPr/>
          <p:nvPr/>
        </p:nvSpPr>
        <p:spPr>
          <a:xfrm>
            <a:off x="5486400" y="2423160"/>
            <a:ext cx="1463040" cy="1463040"/>
          </a:xfrm>
          <a:prstGeom prst="roundRect">
            <a:avLst>
              <a:gd name="adj" fmla="val 6250"/>
            </a:avLst>
          </a:prstGeom>
          <a:solidFill>
            <a:srgbClr val="F59E0B"/>
          </a:solidFill>
          <a:ln/>
          <a:effectLst>
            <a:outerShdw blurRad="76200" dist="25400" dir="5400000" algn="bl" rotWithShape="0">
              <a:srgbClr val="000000">
                <a:alpha val="15000"/>
              </a:srgbClr>
            </a:outerShdw>
          </a:effectLst>
        </p:spPr>
      </p:sp>
      <p:sp>
        <p:nvSpPr>
          <p:cNvPr id="21" name="step-num-3"/>
          <p:cNvSpPr txBox="1"/>
          <p:nvPr/>
        </p:nvSpPr>
        <p:spPr>
          <a:xfrm>
            <a:off x="5577840" y="2514600"/>
            <a:ext cx="365760" cy="365760"/>
          </a:xfrm>
          <a:prstGeom prst="rect">
            <a:avLst/>
          </a:prstGeom>
          <a:noFill/>
          <a:ln/>
        </p:spPr>
        <p:txBody>
          <a:bodyPr wrap="square" lIns="0" tIns="0" rIns="0" bIns="0" rtlCol="0" anchor="ctr"/>
          <a:lstStyle/>
          <a:p>
            <a:pPr marL="0" indent="0" algn="l">
              <a:buNone/>
            </a:pPr>
            <a:r>
              <a:rPr lang="en-US" sz="1800" b="1" dirty="0">
                <a:solidFill>
                  <a:schemeClr val="tx1"/>
                </a:solidFill>
              </a:rPr>
              <a:t>4</a:t>
            </a:r>
            <a:endParaRPr lang="en-US" sz="1800" dirty="0"/>
          </a:p>
        </p:txBody>
      </p:sp>
      <p:sp>
        <p:nvSpPr>
          <p:cNvPr id="22" name="step-label-3"/>
          <p:cNvSpPr txBox="1"/>
          <p:nvPr/>
        </p:nvSpPr>
        <p:spPr>
          <a:xfrm>
            <a:off x="5577840" y="2926080"/>
            <a:ext cx="1280160" cy="594360"/>
          </a:xfrm>
          <a:prstGeom prst="rect">
            <a:avLst/>
          </a:prstGeom>
          <a:noFill/>
          <a:ln/>
        </p:spPr>
        <p:txBody>
          <a:bodyPr wrap="square" lIns="0" tIns="0" rIns="0" bIns="0" rtlCol="0" anchor="t"/>
          <a:lstStyle/>
          <a:p>
            <a:pPr marL="0" indent="0" algn="l">
              <a:buNone/>
            </a:pPr>
            <a:r>
              <a:rPr lang="en-US" sz="1500" b="1" dirty="0">
                <a:solidFill>
                  <a:schemeClr val="tx1"/>
                </a:solidFill>
              </a:rPr>
              <a:t>提出</a:t>
            </a:r>
            <a:endParaRPr lang="en-US" sz="1500" dirty="0"/>
          </a:p>
        </p:txBody>
      </p:sp>
      <p:sp>
        <p:nvSpPr>
          <p:cNvPr id="23" name="step-role-3"/>
          <p:cNvSpPr txBox="1"/>
          <p:nvPr/>
        </p:nvSpPr>
        <p:spPr>
          <a:xfrm>
            <a:off x="5577840" y="3547872"/>
            <a:ext cx="1234440" cy="228600"/>
          </a:xfrm>
          <a:prstGeom prst="rect">
            <a:avLst/>
          </a:prstGeom>
          <a:noFill/>
          <a:ln/>
        </p:spPr>
        <p:txBody>
          <a:bodyPr wrap="square" lIns="0" tIns="0" rIns="0" bIns="0" rtlCol="0" anchor="ctr"/>
          <a:lstStyle/>
          <a:p>
            <a:pPr marL="0" indent="0" algn="l">
              <a:buNone/>
            </a:pPr>
            <a:r>
              <a:rPr lang="en-US" sz="1200" dirty="0">
                <a:solidFill>
                  <a:schemeClr val="tx1"/>
                </a:solidFill>
              </a:rPr>
              <a:t>生徒</a:t>
            </a:r>
            <a:endParaRPr lang="en-US" sz="1200" dirty="0"/>
          </a:p>
        </p:txBody>
      </p:sp>
      <p:sp>
        <p:nvSpPr>
          <p:cNvPr id="24" name="step-arrow-3"/>
          <p:cNvSpPr/>
          <p:nvPr/>
        </p:nvSpPr>
        <p:spPr>
          <a:xfrm>
            <a:off x="6967728" y="3035808"/>
            <a:ext cx="146304" cy="228600"/>
          </a:xfrm>
          <a:prstGeom prst="rightArrow">
            <a:avLst/>
          </a:prstGeom>
          <a:solidFill>
            <a:schemeClr val="accent6"/>
          </a:solidFill>
          <a:ln/>
        </p:spPr>
      </p:sp>
      <p:sp>
        <p:nvSpPr>
          <p:cNvPr id="25" name="step-card-4"/>
          <p:cNvSpPr/>
          <p:nvPr/>
        </p:nvSpPr>
        <p:spPr>
          <a:xfrm>
            <a:off x="7132320" y="2423160"/>
            <a:ext cx="1463040" cy="1463040"/>
          </a:xfrm>
          <a:prstGeom prst="roundRect">
            <a:avLst>
              <a:gd name="adj" fmla="val 6250"/>
            </a:avLst>
          </a:prstGeom>
          <a:solidFill>
            <a:srgbClr val="0F766E"/>
          </a:solidFill>
          <a:ln/>
          <a:effectLst>
            <a:outerShdw blurRad="76200" dist="25400" dir="5400000" algn="bl" rotWithShape="0">
              <a:srgbClr val="000000">
                <a:alpha val="15000"/>
              </a:srgbClr>
            </a:outerShdw>
          </a:effectLst>
        </p:spPr>
      </p:sp>
      <p:sp>
        <p:nvSpPr>
          <p:cNvPr id="26" name="step-num-4"/>
          <p:cNvSpPr txBox="1"/>
          <p:nvPr/>
        </p:nvSpPr>
        <p:spPr>
          <a:xfrm>
            <a:off x="7223760" y="2514600"/>
            <a:ext cx="365760" cy="365760"/>
          </a:xfrm>
          <a:prstGeom prst="rect">
            <a:avLst/>
          </a:prstGeom>
          <a:noFill/>
          <a:ln/>
        </p:spPr>
        <p:txBody>
          <a:bodyPr wrap="square" lIns="0" tIns="0" rIns="0" bIns="0" rtlCol="0" anchor="ctr"/>
          <a:lstStyle/>
          <a:p>
            <a:pPr marL="0" indent="0" algn="l">
              <a:buNone/>
            </a:pPr>
            <a:r>
              <a:rPr lang="en-US" sz="1800" b="1" dirty="0">
                <a:solidFill>
                  <a:schemeClr val="bg1"/>
                </a:solidFill>
              </a:rPr>
              <a:t>5</a:t>
            </a:r>
            <a:endParaRPr lang="en-US" sz="1800" dirty="0"/>
          </a:p>
        </p:txBody>
      </p:sp>
      <p:sp>
        <p:nvSpPr>
          <p:cNvPr id="27" name="step-label-4"/>
          <p:cNvSpPr txBox="1"/>
          <p:nvPr/>
        </p:nvSpPr>
        <p:spPr>
          <a:xfrm>
            <a:off x="7223760" y="2926080"/>
            <a:ext cx="1280160" cy="594360"/>
          </a:xfrm>
          <a:prstGeom prst="rect">
            <a:avLst/>
          </a:prstGeom>
          <a:noFill/>
          <a:ln/>
        </p:spPr>
        <p:txBody>
          <a:bodyPr wrap="square" lIns="0" tIns="0" rIns="0" bIns="0" rtlCol="0" anchor="t"/>
          <a:lstStyle/>
          <a:p>
            <a:pPr marL="0" indent="0" algn="l">
              <a:buNone/>
            </a:pPr>
            <a:r>
              <a:rPr lang="en-US" sz="1500" b="1" dirty="0">
                <a:solidFill>
                  <a:schemeClr val="bg1"/>
                </a:solidFill>
              </a:rPr>
              <a:t>提出状況・</a:t>
            </a:r>
            <a:endParaRPr lang="en-US" sz="1500" dirty="0"/>
          </a:p>
          <a:p>
            <a:pPr marL="0" indent="0" algn="l">
              <a:buNone/>
            </a:pPr>
            <a:r>
              <a:rPr lang="en-US" sz="1500" b="1" dirty="0">
                <a:solidFill>
                  <a:schemeClr val="bg1"/>
                </a:solidFill>
              </a:rPr>
              <a:t>回答を確認</a:t>
            </a:r>
            <a:endParaRPr lang="en-US" sz="1500" dirty="0"/>
          </a:p>
        </p:txBody>
      </p:sp>
      <p:sp>
        <p:nvSpPr>
          <p:cNvPr id="28" name="step-role-4"/>
          <p:cNvSpPr txBox="1"/>
          <p:nvPr/>
        </p:nvSpPr>
        <p:spPr>
          <a:xfrm>
            <a:off x="7223760" y="3547872"/>
            <a:ext cx="1234440" cy="228600"/>
          </a:xfrm>
          <a:prstGeom prst="rect">
            <a:avLst/>
          </a:prstGeom>
          <a:noFill/>
          <a:ln/>
        </p:spPr>
        <p:txBody>
          <a:bodyPr wrap="square" lIns="0" tIns="0" rIns="0" bIns="0" rtlCol="0" anchor="ctr"/>
          <a:lstStyle/>
          <a:p>
            <a:pPr marL="0" indent="0" algn="l">
              <a:buNone/>
            </a:pPr>
            <a:r>
              <a:rPr lang="en-US" sz="1200" dirty="0">
                <a:solidFill>
                  <a:schemeClr val="bg1"/>
                </a:solidFill>
              </a:rPr>
              <a:t>先生</a:t>
            </a:r>
            <a:endParaRPr lang="en-US" sz="1200" dirty="0"/>
          </a:p>
        </p:txBody>
      </p:sp>
      <p:sp>
        <p:nvSpPr>
          <p:cNvPr id="29" name="legend-teacher"/>
          <p:cNvSpPr/>
          <p:nvPr/>
        </p:nvSpPr>
        <p:spPr>
          <a:xfrm>
            <a:off x="548640" y="4160520"/>
            <a:ext cx="1188720" cy="310896"/>
          </a:xfrm>
          <a:prstGeom prst="roundRect">
            <a:avLst>
              <a:gd name="adj" fmla="val 29412"/>
            </a:avLst>
          </a:prstGeom>
          <a:solidFill>
            <a:srgbClr val="0F766E"/>
          </a:solidFill>
          <a:ln/>
        </p:spPr>
      </p:sp>
      <p:sp>
        <p:nvSpPr>
          <p:cNvPr id="30" name="legend-teacher-text"/>
          <p:cNvSpPr txBox="1"/>
          <p:nvPr/>
        </p:nvSpPr>
        <p:spPr>
          <a:xfrm>
            <a:off x="548640" y="4160520"/>
            <a:ext cx="1188720" cy="310896"/>
          </a:xfrm>
          <a:prstGeom prst="rect">
            <a:avLst/>
          </a:prstGeom>
          <a:noFill/>
          <a:ln/>
        </p:spPr>
        <p:txBody>
          <a:bodyPr wrap="square" lIns="0" tIns="0" rIns="0" bIns="0" rtlCol="0" anchor="ctr"/>
          <a:lstStyle/>
          <a:p>
            <a:pPr marL="0" indent="0" algn="ctr">
              <a:buNone/>
            </a:pPr>
            <a:r>
              <a:rPr lang="en-US" sz="1200" b="1" dirty="0">
                <a:solidFill>
                  <a:schemeClr val="bg1"/>
                </a:solidFill>
              </a:rPr>
              <a:t>先生の操作</a:t>
            </a:r>
            <a:endParaRPr lang="en-US" sz="1200" dirty="0"/>
          </a:p>
        </p:txBody>
      </p:sp>
      <p:sp>
        <p:nvSpPr>
          <p:cNvPr id="31" name="legend-student"/>
          <p:cNvSpPr/>
          <p:nvPr/>
        </p:nvSpPr>
        <p:spPr>
          <a:xfrm>
            <a:off x="1874520" y="4160520"/>
            <a:ext cx="1188720" cy="310896"/>
          </a:xfrm>
          <a:prstGeom prst="roundRect">
            <a:avLst>
              <a:gd name="adj" fmla="val 29412"/>
            </a:avLst>
          </a:prstGeom>
          <a:solidFill>
            <a:srgbClr val="F59E0B"/>
          </a:solidFill>
          <a:ln/>
        </p:spPr>
      </p:sp>
      <p:sp>
        <p:nvSpPr>
          <p:cNvPr id="32" name="legend-student-text"/>
          <p:cNvSpPr txBox="1"/>
          <p:nvPr/>
        </p:nvSpPr>
        <p:spPr>
          <a:xfrm>
            <a:off x="1874520" y="4160520"/>
            <a:ext cx="1188720" cy="310896"/>
          </a:xfrm>
          <a:prstGeom prst="rect">
            <a:avLst/>
          </a:prstGeom>
          <a:noFill/>
          <a:ln/>
        </p:spPr>
        <p:txBody>
          <a:bodyPr wrap="square" lIns="0" tIns="0" rIns="0" bIns="0" rtlCol="0" anchor="ctr"/>
          <a:lstStyle/>
          <a:p>
            <a:pPr marL="0" indent="0" algn="ctr">
              <a:buNone/>
            </a:pPr>
            <a:r>
              <a:rPr lang="en-US" sz="1200" b="1" dirty="0">
                <a:solidFill>
                  <a:schemeClr val="tx1"/>
                </a:solidFill>
              </a:rPr>
              <a:t>生徒の操作</a:t>
            </a:r>
            <a:endParaRPr lang="en-US" sz="1200" dirty="0"/>
          </a:p>
        </p:txBody>
      </p:sp>
      <p:sp>
        <p:nvSpPr>
          <p:cNvPr id="33" name="quiz-flow-note"/>
          <p:cNvSpPr txBox="1"/>
          <p:nvPr/>
        </p:nvSpPr>
        <p:spPr>
          <a:xfrm>
            <a:off x="3291840" y="4114800"/>
            <a:ext cx="4937760" cy="411480"/>
          </a:xfrm>
          <a:prstGeom prst="rect">
            <a:avLst/>
          </a:prstGeom>
          <a:noFill/>
          <a:ln/>
        </p:spPr>
        <p:txBody>
          <a:bodyPr wrap="square" lIns="0" tIns="0" rIns="0" bIns="0" rtlCol="0" anchor="ctr"/>
          <a:lstStyle/>
          <a:p>
            <a:pPr marL="0" indent="0" algn="l">
              <a:buNone/>
            </a:pPr>
            <a:r>
              <a:rPr lang="en-US" sz="1400" dirty="0">
                <a:solidFill>
                  <a:schemeClr val="tx1"/>
                </a:solidFill>
              </a:rPr>
              <a:t>クイズも同じ流れ：出題 → 回答 → 自動採点 → 結果確認</a:t>
            </a:r>
            <a:endParaRPr lang="en-US" sz="1400" dirty="0"/>
          </a:p>
        </p:txBody>
      </p:sp>
      <p:sp>
        <p:nvSpPr>
          <p:cNvPr id="34"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主な機能</a:t>
            </a:r>
            <a:endParaRPr lang="en-US" sz="3200" dirty="0"/>
          </a:p>
        </p:txBody>
      </p:sp>
      <p:sp>
        <p:nvSpPr>
          <p:cNvPr id="3" name="feat-card-0"/>
          <p:cNvSpPr/>
          <p:nvPr/>
        </p:nvSpPr>
        <p:spPr>
          <a:xfrm>
            <a:off x="548640" y="1280160"/>
            <a:ext cx="2560320" cy="1600200"/>
          </a:xfrm>
          <a:prstGeom prst="roundRect">
            <a:avLst>
              <a:gd name="adj" fmla="val 5714"/>
            </a:avLst>
          </a:prstGeom>
          <a:solidFill>
            <a:srgbClr val="EAF3F4"/>
          </a:solidFill>
          <a:ln/>
        </p:spPr>
      </p:sp>
      <p:sp>
        <p:nvSpPr>
          <p:cNvPr id="4" name="feat-0-circle"/>
          <p:cNvSpPr/>
          <p:nvPr/>
        </p:nvSpPr>
        <p:spPr>
          <a:xfrm>
            <a:off x="731520" y="1463040"/>
            <a:ext cx="502920" cy="502920"/>
          </a:xfrm>
          <a:prstGeom prst="ellipse">
            <a:avLst/>
          </a:prstGeom>
          <a:solidFill>
            <a:srgbClr val="0F766E"/>
          </a:solidFill>
          <a:ln/>
        </p:spPr>
      </p:sp>
      <p:pic>
        <p:nvPicPr>
          <p:cNvPr id="5" name="feat-0-icon" descr="feat-0"/>
          <p:cNvPicPr>
            <a:picLocks noChangeAspect="1"/>
          </p:cNvPicPr>
          <p:nvPr/>
        </p:nvPicPr>
        <p:blipFill>
          <a:blip r:embed="rId3"/>
          <a:stretch>
            <a:fillRect/>
          </a:stretch>
        </p:blipFill>
        <p:spPr>
          <a:xfrm>
            <a:off x="857250" y="1588770"/>
            <a:ext cx="251460" cy="251460"/>
          </a:xfrm>
          <a:prstGeom prst="rect">
            <a:avLst/>
          </a:prstGeom>
        </p:spPr>
      </p:pic>
      <p:sp>
        <p:nvSpPr>
          <p:cNvPr id="6" name="feat-title-0"/>
          <p:cNvSpPr txBox="1"/>
          <p:nvPr/>
        </p:nvSpPr>
        <p:spPr>
          <a:xfrm>
            <a:off x="1371600" y="1463040"/>
            <a:ext cx="1554480" cy="502920"/>
          </a:xfrm>
          <a:prstGeom prst="rect">
            <a:avLst/>
          </a:prstGeom>
          <a:noFill/>
          <a:ln/>
        </p:spPr>
        <p:txBody>
          <a:bodyPr wrap="square" lIns="0" tIns="0" rIns="0" bIns="0" rtlCol="0" anchor="ctr"/>
          <a:lstStyle/>
          <a:p>
            <a:pPr marL="0" indent="0" algn="l">
              <a:buNone/>
            </a:pPr>
            <a:r>
              <a:rPr lang="en-US" sz="1800" b="1" dirty="0">
                <a:solidFill>
                  <a:schemeClr val="tx2"/>
                </a:solidFill>
              </a:rPr>
              <a:t>教材管理</a:t>
            </a:r>
            <a:endParaRPr lang="en-US" sz="1800" dirty="0"/>
          </a:p>
        </p:txBody>
      </p:sp>
      <p:sp>
        <p:nvSpPr>
          <p:cNvPr id="7" name="feat-items-0"/>
          <p:cNvSpPr txBox="1"/>
          <p:nvPr/>
        </p:nvSpPr>
        <p:spPr>
          <a:xfrm>
            <a:off x="731520" y="2103120"/>
            <a:ext cx="2194560" cy="685800"/>
          </a:xfrm>
          <a:prstGeom prst="rect">
            <a:avLst/>
          </a:prstGeom>
          <a:noFill/>
          <a:ln/>
        </p:spPr>
        <p:txBody>
          <a:bodyPr wrap="square" lIns="0" tIns="0" rIns="0" bIns="0" rtlCol="0" anchor="t"/>
          <a:lstStyle/>
          <a:p>
            <a:pPr marL="0" indent="0" algn="l">
              <a:buNone/>
            </a:pPr>
            <a:r>
              <a:rPr lang="en-US" sz="1400" dirty="0">
                <a:solidFill>
                  <a:schemeClr val="tx1"/>
                </a:solidFill>
              </a:rPr>
              <a:t>一覧・作成・編集</a:t>
            </a:r>
            <a:endParaRPr lang="en-US" sz="1400" dirty="0"/>
          </a:p>
          <a:p>
            <a:pPr marL="0" indent="0" algn="l">
              <a:buNone/>
            </a:pPr>
            <a:r>
              <a:rPr lang="en-US" sz="1400" dirty="0">
                <a:solidFill>
                  <a:schemeClr val="tx1"/>
                </a:solidFill>
              </a:rPr>
              <a:t>キャンバス・ページ</a:t>
            </a:r>
            <a:endParaRPr lang="en-US" sz="1400" dirty="0"/>
          </a:p>
        </p:txBody>
      </p:sp>
      <p:sp>
        <p:nvSpPr>
          <p:cNvPr id="8" name="feat-card-1"/>
          <p:cNvSpPr/>
          <p:nvPr/>
        </p:nvSpPr>
        <p:spPr>
          <a:xfrm>
            <a:off x="3291840" y="1280160"/>
            <a:ext cx="2560320" cy="1600200"/>
          </a:xfrm>
          <a:prstGeom prst="roundRect">
            <a:avLst>
              <a:gd name="adj" fmla="val 5714"/>
            </a:avLst>
          </a:prstGeom>
          <a:solidFill>
            <a:srgbClr val="EAF3F4"/>
          </a:solidFill>
          <a:ln/>
        </p:spPr>
      </p:sp>
      <p:sp>
        <p:nvSpPr>
          <p:cNvPr id="9" name="feat-1-circle"/>
          <p:cNvSpPr/>
          <p:nvPr/>
        </p:nvSpPr>
        <p:spPr>
          <a:xfrm>
            <a:off x="3474720" y="1463040"/>
            <a:ext cx="502920" cy="502920"/>
          </a:xfrm>
          <a:prstGeom prst="ellipse">
            <a:avLst/>
          </a:prstGeom>
          <a:solidFill>
            <a:srgbClr val="F59E0B"/>
          </a:solidFill>
          <a:ln/>
        </p:spPr>
      </p:sp>
      <p:pic>
        <p:nvPicPr>
          <p:cNvPr id="10" name="feat-1-icon" descr="feat-1"/>
          <p:cNvPicPr>
            <a:picLocks noChangeAspect="1"/>
          </p:cNvPicPr>
          <p:nvPr/>
        </p:nvPicPr>
        <p:blipFill>
          <a:blip r:embed="rId4"/>
          <a:stretch>
            <a:fillRect/>
          </a:stretch>
        </p:blipFill>
        <p:spPr>
          <a:xfrm>
            <a:off x="3600450" y="1588770"/>
            <a:ext cx="251460" cy="251460"/>
          </a:xfrm>
          <a:prstGeom prst="rect">
            <a:avLst/>
          </a:prstGeom>
        </p:spPr>
      </p:pic>
      <p:sp>
        <p:nvSpPr>
          <p:cNvPr id="11" name="feat-title-1"/>
          <p:cNvSpPr txBox="1"/>
          <p:nvPr/>
        </p:nvSpPr>
        <p:spPr>
          <a:xfrm>
            <a:off x="4114800" y="1463040"/>
            <a:ext cx="1554480" cy="502920"/>
          </a:xfrm>
          <a:prstGeom prst="rect">
            <a:avLst/>
          </a:prstGeom>
          <a:noFill/>
          <a:ln/>
        </p:spPr>
        <p:txBody>
          <a:bodyPr wrap="square" lIns="0" tIns="0" rIns="0" bIns="0" rtlCol="0" anchor="ctr"/>
          <a:lstStyle/>
          <a:p>
            <a:pPr marL="0" indent="0" algn="l">
              <a:buNone/>
            </a:pPr>
            <a:r>
              <a:rPr lang="en-US" sz="1800" b="1" dirty="0">
                <a:solidFill>
                  <a:schemeClr val="tx2"/>
                </a:solidFill>
              </a:rPr>
              <a:t>提出物管理</a:t>
            </a:r>
            <a:endParaRPr lang="en-US" sz="1800" dirty="0"/>
          </a:p>
        </p:txBody>
      </p:sp>
      <p:sp>
        <p:nvSpPr>
          <p:cNvPr id="12" name="feat-items-1"/>
          <p:cNvSpPr txBox="1"/>
          <p:nvPr/>
        </p:nvSpPr>
        <p:spPr>
          <a:xfrm>
            <a:off x="3474720" y="2103120"/>
            <a:ext cx="2194560" cy="685800"/>
          </a:xfrm>
          <a:prstGeom prst="rect">
            <a:avLst/>
          </a:prstGeom>
          <a:noFill/>
          <a:ln/>
        </p:spPr>
        <p:txBody>
          <a:bodyPr wrap="square" lIns="0" tIns="0" rIns="0" bIns="0" rtlCol="0" anchor="t"/>
          <a:lstStyle/>
          <a:p>
            <a:pPr marL="0" indent="0" algn="l">
              <a:buNone/>
            </a:pPr>
            <a:r>
              <a:rPr lang="en-US" sz="1400" dirty="0">
                <a:solidFill>
                  <a:schemeClr val="tx1"/>
                </a:solidFill>
              </a:rPr>
              <a:t>回答・提出</a:t>
            </a:r>
            <a:endParaRPr lang="en-US" sz="1400" dirty="0"/>
          </a:p>
          <a:p>
            <a:pPr marL="0" indent="0" algn="l">
              <a:buNone/>
            </a:pPr>
            <a:r>
              <a:rPr lang="en-US" sz="1400" dirty="0">
                <a:solidFill>
                  <a:schemeClr val="tx1"/>
                </a:solidFill>
              </a:rPr>
              <a:t>提出状況・回答確認</a:t>
            </a:r>
            <a:endParaRPr lang="en-US" sz="1400" dirty="0"/>
          </a:p>
        </p:txBody>
      </p:sp>
      <p:sp>
        <p:nvSpPr>
          <p:cNvPr id="13" name="feat-card-2"/>
          <p:cNvSpPr/>
          <p:nvPr/>
        </p:nvSpPr>
        <p:spPr>
          <a:xfrm>
            <a:off x="6035040" y="1280160"/>
            <a:ext cx="2560320" cy="1600200"/>
          </a:xfrm>
          <a:prstGeom prst="roundRect">
            <a:avLst>
              <a:gd name="adj" fmla="val 5714"/>
            </a:avLst>
          </a:prstGeom>
          <a:solidFill>
            <a:srgbClr val="EAF3F4"/>
          </a:solidFill>
          <a:ln/>
        </p:spPr>
      </p:sp>
      <p:sp>
        <p:nvSpPr>
          <p:cNvPr id="14" name="feat-2-circle"/>
          <p:cNvSpPr/>
          <p:nvPr/>
        </p:nvSpPr>
        <p:spPr>
          <a:xfrm>
            <a:off x="6217920" y="1463040"/>
            <a:ext cx="502920" cy="502920"/>
          </a:xfrm>
          <a:prstGeom prst="ellipse">
            <a:avLst/>
          </a:prstGeom>
          <a:solidFill>
            <a:srgbClr val="E76F51"/>
          </a:solidFill>
          <a:ln/>
        </p:spPr>
      </p:sp>
      <p:pic>
        <p:nvPicPr>
          <p:cNvPr id="15" name="feat-2-icon" descr="feat-2"/>
          <p:cNvPicPr>
            <a:picLocks noChangeAspect="1"/>
          </p:cNvPicPr>
          <p:nvPr/>
        </p:nvPicPr>
        <p:blipFill>
          <a:blip r:embed="rId5"/>
          <a:stretch>
            <a:fillRect/>
          </a:stretch>
        </p:blipFill>
        <p:spPr>
          <a:xfrm>
            <a:off x="6343650" y="1588770"/>
            <a:ext cx="251460" cy="251460"/>
          </a:xfrm>
          <a:prstGeom prst="rect">
            <a:avLst/>
          </a:prstGeom>
        </p:spPr>
      </p:pic>
      <p:sp>
        <p:nvSpPr>
          <p:cNvPr id="16" name="feat-title-2"/>
          <p:cNvSpPr txBox="1"/>
          <p:nvPr/>
        </p:nvSpPr>
        <p:spPr>
          <a:xfrm>
            <a:off x="6858000" y="1463040"/>
            <a:ext cx="1554480" cy="502920"/>
          </a:xfrm>
          <a:prstGeom prst="rect">
            <a:avLst/>
          </a:prstGeom>
          <a:noFill/>
          <a:ln/>
        </p:spPr>
        <p:txBody>
          <a:bodyPr wrap="square" lIns="0" tIns="0" rIns="0" bIns="0" rtlCol="0" anchor="ctr"/>
          <a:lstStyle/>
          <a:p>
            <a:pPr marL="0" indent="0" algn="l">
              <a:buNone/>
            </a:pPr>
            <a:r>
              <a:rPr lang="en-US" sz="1800" b="1" dirty="0">
                <a:solidFill>
                  <a:schemeClr val="tx2"/>
                </a:solidFill>
              </a:rPr>
              <a:t>クラス管理</a:t>
            </a:r>
            <a:endParaRPr lang="en-US" sz="1800" dirty="0"/>
          </a:p>
        </p:txBody>
      </p:sp>
      <p:sp>
        <p:nvSpPr>
          <p:cNvPr id="17" name="feat-items-2"/>
          <p:cNvSpPr txBox="1"/>
          <p:nvPr/>
        </p:nvSpPr>
        <p:spPr>
          <a:xfrm>
            <a:off x="6217920" y="2103120"/>
            <a:ext cx="2194560" cy="685800"/>
          </a:xfrm>
          <a:prstGeom prst="rect">
            <a:avLst/>
          </a:prstGeom>
          <a:noFill/>
          <a:ln/>
        </p:spPr>
        <p:txBody>
          <a:bodyPr wrap="square" lIns="0" tIns="0" rIns="0" bIns="0" rtlCol="0" anchor="t"/>
          <a:lstStyle/>
          <a:p>
            <a:pPr marL="0" indent="0" algn="l">
              <a:buNone/>
            </a:pPr>
            <a:r>
              <a:rPr lang="en-US" sz="1400" dirty="0">
                <a:solidFill>
                  <a:schemeClr val="tx1"/>
                </a:solidFill>
              </a:rPr>
              <a:t>クラス・生徒の管理</a:t>
            </a:r>
            <a:endParaRPr lang="en-US" sz="1400" dirty="0"/>
          </a:p>
          <a:p>
            <a:pPr marL="0" indent="0" algn="l">
              <a:buNone/>
            </a:pPr>
            <a:r>
              <a:rPr lang="en-US" sz="1400" dirty="0">
                <a:solidFill>
                  <a:schemeClr val="tx1"/>
                </a:solidFill>
              </a:rPr>
              <a:t>クラス単位で配布</a:t>
            </a:r>
            <a:endParaRPr lang="en-US" sz="1400" dirty="0"/>
          </a:p>
        </p:txBody>
      </p:sp>
      <p:sp>
        <p:nvSpPr>
          <p:cNvPr id="18" name="feat-card-3"/>
          <p:cNvSpPr/>
          <p:nvPr/>
        </p:nvSpPr>
        <p:spPr>
          <a:xfrm>
            <a:off x="548640" y="3063240"/>
            <a:ext cx="3931920" cy="1600200"/>
          </a:xfrm>
          <a:prstGeom prst="roundRect">
            <a:avLst>
              <a:gd name="adj" fmla="val 5714"/>
            </a:avLst>
          </a:prstGeom>
          <a:solidFill>
            <a:srgbClr val="EAF3F4"/>
          </a:solidFill>
          <a:ln/>
        </p:spPr>
      </p:sp>
      <p:sp>
        <p:nvSpPr>
          <p:cNvPr id="19" name="feat-3-circle"/>
          <p:cNvSpPr/>
          <p:nvPr/>
        </p:nvSpPr>
        <p:spPr>
          <a:xfrm>
            <a:off x="731520" y="3246120"/>
            <a:ext cx="502920" cy="502920"/>
          </a:xfrm>
          <a:prstGeom prst="ellipse">
            <a:avLst/>
          </a:prstGeom>
          <a:solidFill>
            <a:srgbClr val="0F4C5C"/>
          </a:solidFill>
          <a:ln/>
        </p:spPr>
      </p:sp>
      <p:pic>
        <p:nvPicPr>
          <p:cNvPr id="20" name="feat-3-icon" descr="feat-3"/>
          <p:cNvPicPr>
            <a:picLocks noChangeAspect="1"/>
          </p:cNvPicPr>
          <p:nvPr/>
        </p:nvPicPr>
        <p:blipFill>
          <a:blip r:embed="rId6"/>
          <a:stretch>
            <a:fillRect/>
          </a:stretch>
        </p:blipFill>
        <p:spPr>
          <a:xfrm>
            <a:off x="857250" y="3371850"/>
            <a:ext cx="251460" cy="251460"/>
          </a:xfrm>
          <a:prstGeom prst="rect">
            <a:avLst/>
          </a:prstGeom>
        </p:spPr>
      </p:pic>
      <p:sp>
        <p:nvSpPr>
          <p:cNvPr id="21" name="feat-title-3"/>
          <p:cNvSpPr txBox="1"/>
          <p:nvPr/>
        </p:nvSpPr>
        <p:spPr>
          <a:xfrm>
            <a:off x="1371600" y="3246120"/>
            <a:ext cx="2926080" cy="502920"/>
          </a:xfrm>
          <a:prstGeom prst="rect">
            <a:avLst/>
          </a:prstGeom>
          <a:noFill/>
          <a:ln/>
        </p:spPr>
        <p:txBody>
          <a:bodyPr wrap="square" lIns="0" tIns="0" rIns="0" bIns="0" rtlCol="0" anchor="ctr"/>
          <a:lstStyle/>
          <a:p>
            <a:pPr marL="0" indent="0" algn="l">
              <a:buNone/>
            </a:pPr>
            <a:r>
              <a:rPr lang="en-US" sz="1800" b="1" dirty="0">
                <a:solidFill>
                  <a:schemeClr val="tx2"/>
                </a:solidFill>
              </a:rPr>
              <a:t>クイズ</a:t>
            </a:r>
            <a:endParaRPr lang="en-US" sz="1800" dirty="0"/>
          </a:p>
        </p:txBody>
      </p:sp>
      <p:sp>
        <p:nvSpPr>
          <p:cNvPr id="22" name="feat-items-3"/>
          <p:cNvSpPr txBox="1"/>
          <p:nvPr/>
        </p:nvSpPr>
        <p:spPr>
          <a:xfrm>
            <a:off x="731520" y="3886200"/>
            <a:ext cx="3566160" cy="685800"/>
          </a:xfrm>
          <a:prstGeom prst="rect">
            <a:avLst/>
          </a:prstGeom>
          <a:noFill/>
          <a:ln/>
        </p:spPr>
        <p:txBody>
          <a:bodyPr wrap="square" lIns="0" tIns="0" rIns="0" bIns="0" rtlCol="0" anchor="t"/>
          <a:lstStyle/>
          <a:p>
            <a:pPr marL="0" indent="0" algn="l">
              <a:buNone/>
            </a:pPr>
            <a:r>
              <a:rPr lang="en-US" sz="1400" dirty="0">
                <a:solidFill>
                  <a:schemeClr val="tx1"/>
                </a:solidFill>
              </a:rPr>
              <a:t>作成・クラス指定・出題</a:t>
            </a:r>
            <a:endParaRPr lang="en-US" sz="1400" dirty="0"/>
          </a:p>
          <a:p>
            <a:pPr marL="0" indent="0" algn="l">
              <a:buNone/>
            </a:pPr>
            <a:r>
              <a:rPr lang="en-US" sz="1400" dirty="0">
                <a:solidFill>
                  <a:schemeClr val="tx1"/>
                </a:solidFill>
              </a:rPr>
              <a:t>自動採点・結果確認</a:t>
            </a:r>
            <a:endParaRPr lang="en-US" sz="1400" dirty="0"/>
          </a:p>
        </p:txBody>
      </p:sp>
      <p:sp>
        <p:nvSpPr>
          <p:cNvPr id="23" name="feat-card-4"/>
          <p:cNvSpPr/>
          <p:nvPr/>
        </p:nvSpPr>
        <p:spPr>
          <a:xfrm>
            <a:off x="4663440" y="3063240"/>
            <a:ext cx="3931920" cy="1600200"/>
          </a:xfrm>
          <a:prstGeom prst="roundRect">
            <a:avLst>
              <a:gd name="adj" fmla="val 5714"/>
            </a:avLst>
          </a:prstGeom>
          <a:solidFill>
            <a:srgbClr val="EAF3F4"/>
          </a:solidFill>
          <a:ln/>
        </p:spPr>
      </p:sp>
      <p:sp>
        <p:nvSpPr>
          <p:cNvPr id="24" name="feat-4-circle"/>
          <p:cNvSpPr/>
          <p:nvPr/>
        </p:nvSpPr>
        <p:spPr>
          <a:xfrm>
            <a:off x="4846320" y="3246120"/>
            <a:ext cx="502920" cy="502920"/>
          </a:xfrm>
          <a:prstGeom prst="ellipse">
            <a:avLst/>
          </a:prstGeom>
          <a:solidFill>
            <a:srgbClr val="64748B"/>
          </a:solidFill>
          <a:ln/>
        </p:spPr>
      </p:sp>
      <p:pic>
        <p:nvPicPr>
          <p:cNvPr id="25" name="feat-4-icon" descr="feat-4"/>
          <p:cNvPicPr>
            <a:picLocks noChangeAspect="1"/>
          </p:cNvPicPr>
          <p:nvPr/>
        </p:nvPicPr>
        <p:blipFill>
          <a:blip r:embed="rId7"/>
          <a:stretch>
            <a:fillRect/>
          </a:stretch>
        </p:blipFill>
        <p:spPr>
          <a:xfrm>
            <a:off x="4972050" y="3371850"/>
            <a:ext cx="251460" cy="251460"/>
          </a:xfrm>
          <a:prstGeom prst="rect">
            <a:avLst/>
          </a:prstGeom>
        </p:spPr>
      </p:pic>
      <p:sp>
        <p:nvSpPr>
          <p:cNvPr id="26" name="feat-title-4"/>
          <p:cNvSpPr txBox="1"/>
          <p:nvPr/>
        </p:nvSpPr>
        <p:spPr>
          <a:xfrm>
            <a:off x="5486400" y="3246120"/>
            <a:ext cx="2926080" cy="502920"/>
          </a:xfrm>
          <a:prstGeom prst="rect">
            <a:avLst/>
          </a:prstGeom>
          <a:noFill/>
          <a:ln/>
        </p:spPr>
        <p:txBody>
          <a:bodyPr wrap="square" lIns="0" tIns="0" rIns="0" bIns="0" rtlCol="0" anchor="ctr"/>
          <a:lstStyle/>
          <a:p>
            <a:pPr marL="0" indent="0" algn="l">
              <a:buNone/>
            </a:pPr>
            <a:r>
              <a:rPr lang="en-US" sz="1800" b="1" dirty="0">
                <a:solidFill>
                  <a:schemeClr val="tx2"/>
                </a:solidFill>
              </a:rPr>
              <a:t>ユーザー管理</a:t>
            </a:r>
            <a:endParaRPr lang="en-US" sz="1800" dirty="0"/>
          </a:p>
        </p:txBody>
      </p:sp>
      <p:sp>
        <p:nvSpPr>
          <p:cNvPr id="27" name="feat-items-4"/>
          <p:cNvSpPr txBox="1"/>
          <p:nvPr/>
        </p:nvSpPr>
        <p:spPr>
          <a:xfrm>
            <a:off x="4846320" y="3886200"/>
            <a:ext cx="3566160" cy="685800"/>
          </a:xfrm>
          <a:prstGeom prst="rect">
            <a:avLst/>
          </a:prstGeom>
          <a:noFill/>
          <a:ln/>
        </p:spPr>
        <p:txBody>
          <a:bodyPr wrap="square" lIns="0" tIns="0" rIns="0" bIns="0" rtlCol="0" anchor="t"/>
          <a:lstStyle/>
          <a:p>
            <a:pPr marL="0" indent="0" algn="l">
              <a:buNone/>
            </a:pPr>
            <a:r>
              <a:rPr lang="en-US" sz="1400" dirty="0">
                <a:solidFill>
                  <a:schemeClr val="tx1"/>
                </a:solidFill>
              </a:rPr>
              <a:t>ログイン／先生・生徒の権限分離</a:t>
            </a:r>
            <a:endParaRPr lang="en-US" sz="1400" dirty="0"/>
          </a:p>
        </p:txBody>
      </p:sp>
      <p:sp>
        <p:nvSpPr>
          <p:cNvPr id="28"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教材作成機能</a:t>
            </a:r>
            <a:endParaRPr lang="en-US" sz="3200" dirty="0"/>
          </a:p>
        </p:txBody>
      </p:sp>
      <p:sp>
        <p:nvSpPr>
          <p:cNvPr id="3" name="mock-frame"/>
          <p:cNvSpPr/>
          <p:nvPr/>
        </p:nvSpPr>
        <p:spPr>
          <a:xfrm>
            <a:off x="548640" y="1280160"/>
            <a:ext cx="4754880" cy="3108960"/>
          </a:xfrm>
          <a:prstGeom prst="rect">
            <a:avLst/>
          </a:prstGeom>
          <a:solidFill>
            <a:schemeClr val="bg2"/>
          </a:solidFill>
          <a:ln w="9525">
            <a:solidFill>
              <a:srgbClr val="64748B"/>
            </a:solidFill>
            <a:prstDash val="solid"/>
          </a:ln>
          <a:effectLst>
            <a:outerShdw blurRad="76200" dist="25400" dir="5400000" algn="bl" rotWithShape="0">
              <a:srgbClr val="000000">
                <a:alpha val="15000"/>
              </a:srgbClr>
            </a:outerShdw>
          </a:effectLst>
        </p:spPr>
      </p:sp>
      <p:sp>
        <p:nvSpPr>
          <p:cNvPr id="4" name="mock-toolbar"/>
          <p:cNvSpPr/>
          <p:nvPr/>
        </p:nvSpPr>
        <p:spPr>
          <a:xfrm>
            <a:off x="548640" y="1280160"/>
            <a:ext cx="4754880" cy="457200"/>
          </a:xfrm>
          <a:prstGeom prst="rect">
            <a:avLst/>
          </a:prstGeom>
          <a:solidFill>
            <a:schemeClr val="tx2"/>
          </a:solidFill>
          <a:ln/>
        </p:spPr>
      </p:sp>
      <p:sp>
        <p:nvSpPr>
          <p:cNvPr id="5" name="mock-tool-0"/>
          <p:cNvSpPr/>
          <p:nvPr/>
        </p:nvSpPr>
        <p:spPr>
          <a:xfrm>
            <a:off x="731520" y="1408176"/>
            <a:ext cx="201168" cy="201168"/>
          </a:xfrm>
          <a:prstGeom prst="ellipse">
            <a:avLst/>
          </a:prstGeom>
          <a:solidFill>
            <a:schemeClr val="bg1"/>
          </a:solidFill>
          <a:ln/>
        </p:spPr>
      </p:sp>
      <p:sp>
        <p:nvSpPr>
          <p:cNvPr id="6" name="mock-tool-1"/>
          <p:cNvSpPr/>
          <p:nvPr/>
        </p:nvSpPr>
        <p:spPr>
          <a:xfrm>
            <a:off x="1097280" y="1408176"/>
            <a:ext cx="201168" cy="201168"/>
          </a:xfrm>
          <a:prstGeom prst="ellipse">
            <a:avLst/>
          </a:prstGeom>
          <a:solidFill>
            <a:schemeClr val="bg1"/>
          </a:solidFill>
          <a:ln/>
        </p:spPr>
      </p:sp>
      <p:sp>
        <p:nvSpPr>
          <p:cNvPr id="7" name="mock-tool-2"/>
          <p:cNvSpPr/>
          <p:nvPr/>
        </p:nvSpPr>
        <p:spPr>
          <a:xfrm>
            <a:off x="1463040" y="1408176"/>
            <a:ext cx="201168" cy="201168"/>
          </a:xfrm>
          <a:prstGeom prst="ellipse">
            <a:avLst/>
          </a:prstGeom>
          <a:solidFill>
            <a:schemeClr val="bg1"/>
          </a:solidFill>
          <a:ln/>
        </p:spPr>
      </p:sp>
      <p:sp>
        <p:nvSpPr>
          <p:cNvPr id="8" name="mock-tool-3"/>
          <p:cNvSpPr/>
          <p:nvPr/>
        </p:nvSpPr>
        <p:spPr>
          <a:xfrm>
            <a:off x="1828800" y="1408176"/>
            <a:ext cx="201168" cy="201168"/>
          </a:xfrm>
          <a:prstGeom prst="ellipse">
            <a:avLst/>
          </a:prstGeom>
          <a:solidFill>
            <a:schemeClr val="bg1"/>
          </a:solidFill>
          <a:ln/>
        </p:spPr>
      </p:sp>
      <p:sp>
        <p:nvSpPr>
          <p:cNvPr id="9" name="mock-tool-4"/>
          <p:cNvSpPr/>
          <p:nvPr/>
        </p:nvSpPr>
        <p:spPr>
          <a:xfrm>
            <a:off x="2194560" y="1408176"/>
            <a:ext cx="201168" cy="201168"/>
          </a:xfrm>
          <a:prstGeom prst="ellipse">
            <a:avLst/>
          </a:prstGeom>
          <a:solidFill>
            <a:schemeClr val="bg1"/>
          </a:solidFill>
          <a:ln/>
        </p:spPr>
      </p:sp>
      <p:sp>
        <p:nvSpPr>
          <p:cNvPr id="10" name="mock-toolbar-label"/>
          <p:cNvSpPr txBox="1"/>
          <p:nvPr/>
        </p:nvSpPr>
        <p:spPr>
          <a:xfrm>
            <a:off x="4023360" y="1280160"/>
            <a:ext cx="1188720" cy="457200"/>
          </a:xfrm>
          <a:prstGeom prst="rect">
            <a:avLst/>
          </a:prstGeom>
          <a:noFill/>
          <a:ln/>
        </p:spPr>
        <p:txBody>
          <a:bodyPr wrap="square" lIns="0" tIns="0" rIns="0" bIns="0" rtlCol="0" anchor="ctr"/>
          <a:lstStyle/>
          <a:p>
            <a:pPr marL="0" indent="0" algn="r">
              <a:buNone/>
            </a:pPr>
            <a:r>
              <a:rPr lang="en-US" sz="1200" dirty="0">
                <a:solidFill>
                  <a:schemeClr val="bg1"/>
                </a:solidFill>
              </a:rPr>
              <a:t>ツールバー</a:t>
            </a:r>
            <a:endParaRPr lang="en-US" sz="1200" dirty="0"/>
          </a:p>
        </p:txBody>
      </p:sp>
      <p:sp>
        <p:nvSpPr>
          <p:cNvPr id="11" name="mock-pages-label"/>
          <p:cNvSpPr txBox="1"/>
          <p:nvPr/>
        </p:nvSpPr>
        <p:spPr>
          <a:xfrm>
            <a:off x="685800" y="1810512"/>
            <a:ext cx="822960" cy="228600"/>
          </a:xfrm>
          <a:prstGeom prst="rect">
            <a:avLst/>
          </a:prstGeom>
          <a:noFill/>
          <a:ln/>
        </p:spPr>
        <p:txBody>
          <a:bodyPr wrap="square" lIns="0" tIns="0" rIns="0" bIns="0" rtlCol="0" anchor="ctr"/>
          <a:lstStyle/>
          <a:p>
            <a:pPr marL="0" indent="0" algn="l">
              <a:buNone/>
            </a:pPr>
            <a:r>
              <a:rPr lang="en-US" sz="1200" dirty="0">
                <a:solidFill>
                  <a:schemeClr val="accent6"/>
                </a:solidFill>
              </a:rPr>
              <a:t>ページ</a:t>
            </a:r>
            <a:endParaRPr lang="en-US" sz="1200" dirty="0"/>
          </a:p>
        </p:txBody>
      </p:sp>
      <p:sp>
        <p:nvSpPr>
          <p:cNvPr id="12" name="mock-page-0"/>
          <p:cNvSpPr/>
          <p:nvPr/>
        </p:nvSpPr>
        <p:spPr>
          <a:xfrm>
            <a:off x="731520" y="2103120"/>
            <a:ext cx="731520" cy="548640"/>
          </a:xfrm>
          <a:prstGeom prst="rect">
            <a:avLst/>
          </a:prstGeom>
          <a:solidFill>
            <a:schemeClr val="bg1"/>
          </a:solidFill>
          <a:ln w="6350">
            <a:solidFill>
              <a:srgbClr val="64748B"/>
            </a:solidFill>
            <a:prstDash val="solid"/>
          </a:ln>
        </p:spPr>
      </p:sp>
      <p:sp>
        <p:nvSpPr>
          <p:cNvPr id="13" name="mock-page-num-0"/>
          <p:cNvSpPr txBox="1"/>
          <p:nvPr/>
        </p:nvSpPr>
        <p:spPr>
          <a:xfrm>
            <a:off x="731520" y="2103120"/>
            <a:ext cx="731520" cy="548640"/>
          </a:xfrm>
          <a:prstGeom prst="rect">
            <a:avLst/>
          </a:prstGeom>
          <a:noFill/>
          <a:ln/>
        </p:spPr>
        <p:txBody>
          <a:bodyPr wrap="square" lIns="0" tIns="0" rIns="0" bIns="0" rtlCol="0" anchor="ctr"/>
          <a:lstStyle/>
          <a:p>
            <a:pPr marL="0" indent="0" algn="ctr">
              <a:buNone/>
            </a:pPr>
            <a:r>
              <a:rPr lang="en-US" sz="1200" dirty="0">
                <a:solidFill>
                  <a:schemeClr val="accent6"/>
                </a:solidFill>
              </a:rPr>
              <a:t>1</a:t>
            </a:r>
            <a:endParaRPr lang="en-US" sz="1200" dirty="0"/>
          </a:p>
        </p:txBody>
      </p:sp>
      <p:sp>
        <p:nvSpPr>
          <p:cNvPr id="14" name="mock-page-1"/>
          <p:cNvSpPr/>
          <p:nvPr/>
        </p:nvSpPr>
        <p:spPr>
          <a:xfrm>
            <a:off x="731520" y="2834640"/>
            <a:ext cx="731520" cy="548640"/>
          </a:xfrm>
          <a:prstGeom prst="rect">
            <a:avLst/>
          </a:prstGeom>
          <a:solidFill>
            <a:schemeClr val="bg1"/>
          </a:solidFill>
          <a:ln w="6350">
            <a:solidFill>
              <a:srgbClr val="64748B"/>
            </a:solidFill>
            <a:prstDash val="solid"/>
          </a:ln>
        </p:spPr>
      </p:sp>
      <p:sp>
        <p:nvSpPr>
          <p:cNvPr id="15" name="mock-page-num-1"/>
          <p:cNvSpPr txBox="1"/>
          <p:nvPr/>
        </p:nvSpPr>
        <p:spPr>
          <a:xfrm>
            <a:off x="731520" y="2834640"/>
            <a:ext cx="731520" cy="548640"/>
          </a:xfrm>
          <a:prstGeom prst="rect">
            <a:avLst/>
          </a:prstGeom>
          <a:noFill/>
          <a:ln/>
        </p:spPr>
        <p:txBody>
          <a:bodyPr wrap="square" lIns="0" tIns="0" rIns="0" bIns="0" rtlCol="0" anchor="ctr"/>
          <a:lstStyle/>
          <a:p>
            <a:pPr marL="0" indent="0" algn="ctr">
              <a:buNone/>
            </a:pPr>
            <a:r>
              <a:rPr lang="en-US" sz="1200" dirty="0">
                <a:solidFill>
                  <a:schemeClr val="accent6"/>
                </a:solidFill>
              </a:rPr>
              <a:t>2</a:t>
            </a:r>
            <a:endParaRPr lang="en-US" sz="1200" dirty="0"/>
          </a:p>
        </p:txBody>
      </p:sp>
      <p:sp>
        <p:nvSpPr>
          <p:cNvPr id="16" name="mock-page-2"/>
          <p:cNvSpPr/>
          <p:nvPr/>
        </p:nvSpPr>
        <p:spPr>
          <a:xfrm>
            <a:off x="731520" y="3566160"/>
            <a:ext cx="731520" cy="548640"/>
          </a:xfrm>
          <a:prstGeom prst="rect">
            <a:avLst/>
          </a:prstGeom>
          <a:solidFill>
            <a:schemeClr val="bg1"/>
          </a:solidFill>
          <a:ln w="6350">
            <a:solidFill>
              <a:srgbClr val="64748B"/>
            </a:solidFill>
            <a:prstDash val="solid"/>
          </a:ln>
        </p:spPr>
      </p:sp>
      <p:sp>
        <p:nvSpPr>
          <p:cNvPr id="17" name="mock-page-num-2"/>
          <p:cNvSpPr txBox="1"/>
          <p:nvPr/>
        </p:nvSpPr>
        <p:spPr>
          <a:xfrm>
            <a:off x="731520" y="3566160"/>
            <a:ext cx="731520" cy="548640"/>
          </a:xfrm>
          <a:prstGeom prst="rect">
            <a:avLst/>
          </a:prstGeom>
          <a:noFill/>
          <a:ln/>
        </p:spPr>
        <p:txBody>
          <a:bodyPr wrap="square" lIns="0" tIns="0" rIns="0" bIns="0" rtlCol="0" anchor="ctr"/>
          <a:lstStyle/>
          <a:p>
            <a:pPr marL="0" indent="0" algn="ctr">
              <a:buNone/>
            </a:pPr>
            <a:r>
              <a:rPr lang="en-US" sz="1200" dirty="0">
                <a:solidFill>
                  <a:schemeClr val="accent6"/>
                </a:solidFill>
              </a:rPr>
              <a:t>3</a:t>
            </a:r>
            <a:endParaRPr lang="en-US" sz="1200" dirty="0"/>
          </a:p>
        </p:txBody>
      </p:sp>
      <p:sp>
        <p:nvSpPr>
          <p:cNvPr id="18" name="mock-canvas"/>
          <p:cNvSpPr/>
          <p:nvPr/>
        </p:nvSpPr>
        <p:spPr>
          <a:xfrm>
            <a:off x="1691640" y="1874520"/>
            <a:ext cx="3474720" cy="2377440"/>
          </a:xfrm>
          <a:prstGeom prst="rect">
            <a:avLst/>
          </a:prstGeom>
          <a:solidFill>
            <a:schemeClr val="bg1"/>
          </a:solidFill>
          <a:ln w="6350">
            <a:solidFill>
              <a:srgbClr val="64748B"/>
            </a:solidFill>
            <a:prstDash val="solid"/>
          </a:ln>
        </p:spPr>
      </p:sp>
      <p:sp>
        <p:nvSpPr>
          <p:cNvPr id="19" name="mock-canvas-label"/>
          <p:cNvSpPr txBox="1"/>
          <p:nvPr/>
        </p:nvSpPr>
        <p:spPr>
          <a:xfrm>
            <a:off x="1874520" y="1965960"/>
            <a:ext cx="2286000" cy="365760"/>
          </a:xfrm>
          <a:prstGeom prst="rect">
            <a:avLst/>
          </a:prstGeom>
          <a:noFill/>
          <a:ln/>
        </p:spPr>
        <p:txBody>
          <a:bodyPr wrap="square" lIns="0" tIns="0" rIns="0" bIns="0" rtlCol="0" anchor="ctr"/>
          <a:lstStyle/>
          <a:p>
            <a:pPr marL="0" indent="0" algn="l">
              <a:buNone/>
            </a:pPr>
            <a:r>
              <a:rPr lang="en-US" sz="1400" b="1" dirty="0">
                <a:solidFill>
                  <a:schemeClr val="tx2"/>
                </a:solidFill>
              </a:rPr>
              <a:t>教材キャンバス</a:t>
            </a:r>
            <a:endParaRPr lang="en-US" sz="1400" dirty="0"/>
          </a:p>
        </p:txBody>
      </p:sp>
      <p:sp>
        <p:nvSpPr>
          <p:cNvPr id="20" name="mock-shape-rect"/>
          <p:cNvSpPr/>
          <p:nvPr/>
        </p:nvSpPr>
        <p:spPr>
          <a:xfrm>
            <a:off x="1874520" y="2514600"/>
            <a:ext cx="1280160" cy="822960"/>
          </a:xfrm>
          <a:prstGeom prst="rect">
            <a:avLst/>
          </a:prstGeom>
          <a:solidFill>
            <a:schemeClr val="accent1"/>
          </a:solidFill>
          <a:ln/>
        </p:spPr>
      </p:sp>
      <p:sp>
        <p:nvSpPr>
          <p:cNvPr id="21" name="mock-shape-circle"/>
          <p:cNvSpPr/>
          <p:nvPr/>
        </p:nvSpPr>
        <p:spPr>
          <a:xfrm>
            <a:off x="3520440" y="2514600"/>
            <a:ext cx="822960" cy="822960"/>
          </a:xfrm>
          <a:prstGeom prst="ellipse">
            <a:avLst/>
          </a:prstGeom>
          <a:solidFill>
            <a:schemeClr val="accent2"/>
          </a:solidFill>
          <a:ln/>
        </p:spPr>
      </p:sp>
      <p:sp>
        <p:nvSpPr>
          <p:cNvPr id="22" name="mock-textbox"/>
          <p:cNvSpPr/>
          <p:nvPr/>
        </p:nvSpPr>
        <p:spPr>
          <a:xfrm>
            <a:off x="1874520" y="3611880"/>
            <a:ext cx="3108960" cy="411480"/>
          </a:xfrm>
          <a:prstGeom prst="rect">
            <a:avLst/>
          </a:prstGeom>
          <a:solidFill>
            <a:schemeClr val="bg1"/>
          </a:solidFill>
          <a:ln w="9525">
            <a:solidFill>
              <a:srgbClr val="64748B"/>
            </a:solidFill>
            <a:prstDash val="dash"/>
          </a:ln>
        </p:spPr>
      </p:sp>
      <p:sp>
        <p:nvSpPr>
          <p:cNvPr id="23" name="mock-textbox-text"/>
          <p:cNvSpPr txBox="1"/>
          <p:nvPr/>
        </p:nvSpPr>
        <p:spPr>
          <a:xfrm>
            <a:off x="1965960" y="3611880"/>
            <a:ext cx="2926080" cy="411480"/>
          </a:xfrm>
          <a:prstGeom prst="rect">
            <a:avLst/>
          </a:prstGeom>
          <a:noFill/>
          <a:ln/>
        </p:spPr>
        <p:txBody>
          <a:bodyPr wrap="square" lIns="0" tIns="0" rIns="0" bIns="0" rtlCol="0" anchor="ctr"/>
          <a:lstStyle/>
          <a:p>
            <a:pPr marL="0" indent="0" algn="l">
              <a:buNone/>
            </a:pPr>
            <a:r>
              <a:rPr lang="en-US" sz="1400" dirty="0">
                <a:solidFill>
                  <a:schemeClr val="accent6"/>
                </a:solidFill>
              </a:rPr>
              <a:t>問題文を入力…</a:t>
            </a:r>
            <a:endParaRPr lang="en-US" sz="1400" dirty="0"/>
          </a:p>
        </p:txBody>
      </p:sp>
      <p:sp>
        <p:nvSpPr>
          <p:cNvPr id="24" name="mock-caption"/>
          <p:cNvSpPr txBox="1"/>
          <p:nvPr/>
        </p:nvSpPr>
        <p:spPr>
          <a:xfrm>
            <a:off x="548640" y="4434840"/>
            <a:ext cx="2743200" cy="228600"/>
          </a:xfrm>
          <a:prstGeom prst="rect">
            <a:avLst/>
          </a:prstGeom>
          <a:noFill/>
          <a:ln/>
        </p:spPr>
        <p:txBody>
          <a:bodyPr wrap="square" lIns="0" tIns="0" rIns="0" bIns="0" rtlCol="0" anchor="ctr"/>
          <a:lstStyle/>
          <a:p>
            <a:pPr marL="0" indent="0" algn="l">
              <a:buNone/>
            </a:pPr>
            <a:r>
              <a:rPr lang="en-US" sz="1200" dirty="0">
                <a:solidFill>
                  <a:schemeClr val="accent6"/>
                </a:solidFill>
              </a:rPr>
              <a:t>※画面のイメージ図</a:t>
            </a:r>
            <a:endParaRPr lang="en-US" sz="1200" dirty="0"/>
          </a:p>
        </p:txBody>
      </p:sp>
      <p:sp>
        <p:nvSpPr>
          <p:cNvPr id="25" name="mock-heading"/>
          <p:cNvSpPr txBox="1"/>
          <p:nvPr/>
        </p:nvSpPr>
        <p:spPr>
          <a:xfrm>
            <a:off x="5669280" y="1280160"/>
            <a:ext cx="2926080" cy="457200"/>
          </a:xfrm>
          <a:prstGeom prst="rect">
            <a:avLst/>
          </a:prstGeom>
          <a:noFill/>
          <a:ln/>
        </p:spPr>
        <p:txBody>
          <a:bodyPr wrap="square" lIns="0" tIns="0" rIns="0" bIns="0" rtlCol="0" anchor="ctr"/>
          <a:lstStyle/>
          <a:p>
            <a:pPr marL="0" indent="0" algn="l">
              <a:buNone/>
            </a:pPr>
            <a:r>
              <a:rPr lang="en-US" sz="2000" b="1" dirty="0">
                <a:solidFill>
                  <a:schemeClr val="accent1"/>
                </a:solidFill>
              </a:rPr>
              <a:t>Fabric.jsで作る教材</a:t>
            </a:r>
            <a:endParaRPr lang="en-US" sz="2000" dirty="0"/>
          </a:p>
        </p:txBody>
      </p:sp>
      <p:sp>
        <p:nvSpPr>
          <p:cNvPr id="26" name="mock-bullets"/>
          <p:cNvSpPr txBox="1"/>
          <p:nvPr/>
        </p:nvSpPr>
        <p:spPr>
          <a:xfrm>
            <a:off x="5669280" y="1874520"/>
            <a:ext cx="2926080" cy="2560320"/>
          </a:xfrm>
          <a:prstGeom prst="rect">
            <a:avLst/>
          </a:prstGeom>
          <a:noFill/>
          <a:ln/>
        </p:spPr>
        <p:txBody>
          <a:bodyPr wrap="square" lIns="0" tIns="0" rIns="0" bIns="0" rtlCol="0" anchor="t"/>
          <a:lstStyle/>
          <a:p>
            <a:pPr marL="342900" indent="-342900" algn="l">
              <a:spcAft>
                <a:spcPts val="800"/>
              </a:spcAft>
              <a:buSzPct val="100000"/>
              <a:buChar char="•"/>
            </a:pPr>
            <a:r>
              <a:rPr lang="en-US" sz="1500" dirty="0">
                <a:solidFill>
                  <a:schemeClr val="tx1"/>
                </a:solidFill>
              </a:rPr>
              <a:t>文字・図形をキャンバス上に自由に配置</a:t>
            </a:r>
            <a:endParaRPr lang="en-US" sz="1500" dirty="0"/>
          </a:p>
          <a:p>
            <a:pPr marL="342900" indent="-342900" algn="l">
              <a:spcAft>
                <a:spcPts val="800"/>
              </a:spcAft>
              <a:buSzPct val="100000"/>
              <a:buChar char="•"/>
            </a:pPr>
            <a:r>
              <a:rPr lang="en-US" sz="1500" dirty="0">
                <a:solidFill>
                  <a:schemeClr val="tx1"/>
                </a:solidFill>
              </a:rPr>
              <a:t>ページ単位で教材を管理</a:t>
            </a:r>
            <a:endParaRPr lang="en-US" sz="1500" dirty="0"/>
          </a:p>
          <a:p>
            <a:pPr marL="342900" indent="-342900" algn="l">
              <a:spcAft>
                <a:spcPts val="800"/>
              </a:spcAft>
              <a:buSzPct val="100000"/>
              <a:buChar char="•"/>
            </a:pPr>
            <a:r>
              <a:rPr lang="en-US" sz="1500" dirty="0">
                <a:solidFill>
                  <a:schemeClr val="tx1"/>
                </a:solidFill>
              </a:rPr>
              <a:t>生徒は同じ教材に直接回答して提出</a:t>
            </a:r>
            <a:endParaRPr lang="en-US" sz="1500" dirty="0"/>
          </a:p>
          <a:p>
            <a:pPr marL="342900" indent="-342900" algn="l">
              <a:spcAft>
                <a:spcPts val="800"/>
              </a:spcAft>
              <a:buSzPct val="100000"/>
              <a:buChar char="•"/>
            </a:pPr>
            <a:r>
              <a:rPr lang="en-US" sz="1500" dirty="0">
                <a:solidFill>
                  <a:schemeClr val="tx1"/>
                </a:solidFill>
              </a:rPr>
              <a:t>先生が提出状況と回答を確認</a:t>
            </a:r>
            <a:endParaRPr lang="en-US" sz="1500" dirty="0"/>
          </a:p>
        </p:txBody>
      </p:sp>
      <p:sp>
        <p:nvSpPr>
          <p:cNvPr id="27"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クイズ機能</a:t>
            </a:r>
            <a:endParaRPr lang="en-US" sz="3200" dirty="0"/>
          </a:p>
        </p:txBody>
      </p:sp>
      <p:sp>
        <p:nvSpPr>
          <p:cNvPr id="3" name="qflow-chip-0"/>
          <p:cNvSpPr/>
          <p:nvPr/>
        </p:nvSpPr>
        <p:spPr>
          <a:xfrm>
            <a:off x="548640" y="1280160"/>
            <a:ext cx="1188720" cy="731520"/>
          </a:xfrm>
          <a:prstGeom prst="roundRect">
            <a:avLst>
              <a:gd name="adj" fmla="val 12500"/>
            </a:avLst>
          </a:prstGeom>
          <a:solidFill>
            <a:srgbClr val="0F766E"/>
          </a:solidFill>
          <a:ln/>
        </p:spPr>
      </p:sp>
      <p:sp>
        <p:nvSpPr>
          <p:cNvPr id="4" name="qflow-text-0"/>
          <p:cNvSpPr txBox="1"/>
          <p:nvPr/>
        </p:nvSpPr>
        <p:spPr>
          <a:xfrm>
            <a:off x="548640" y="1280160"/>
            <a:ext cx="1188720" cy="731520"/>
          </a:xfrm>
          <a:prstGeom prst="rect">
            <a:avLst/>
          </a:prstGeom>
          <a:noFill/>
          <a:ln/>
        </p:spPr>
        <p:txBody>
          <a:bodyPr wrap="square" lIns="0" tIns="0" rIns="0" bIns="0" rtlCol="0" anchor="ctr"/>
          <a:lstStyle/>
          <a:p>
            <a:pPr marL="0" indent="0" algn="ctr">
              <a:buNone/>
            </a:pPr>
            <a:r>
              <a:rPr lang="en-US" sz="1400" b="1" dirty="0">
                <a:solidFill>
                  <a:srgbClr val="FFFFFF"/>
                </a:solidFill>
              </a:rPr>
              <a:t>作成</a:t>
            </a:r>
            <a:endParaRPr lang="en-US" sz="1400" dirty="0"/>
          </a:p>
        </p:txBody>
      </p:sp>
      <p:sp>
        <p:nvSpPr>
          <p:cNvPr id="5" name="qflow-arrow-0"/>
          <p:cNvSpPr/>
          <p:nvPr/>
        </p:nvSpPr>
        <p:spPr>
          <a:xfrm>
            <a:off x="1755648" y="1536192"/>
            <a:ext cx="146304" cy="228600"/>
          </a:xfrm>
          <a:prstGeom prst="rightArrow">
            <a:avLst/>
          </a:prstGeom>
          <a:solidFill>
            <a:schemeClr val="accent6"/>
          </a:solidFill>
          <a:ln/>
        </p:spPr>
      </p:sp>
      <p:sp>
        <p:nvSpPr>
          <p:cNvPr id="6" name="qflow-chip-1"/>
          <p:cNvSpPr/>
          <p:nvPr/>
        </p:nvSpPr>
        <p:spPr>
          <a:xfrm>
            <a:off x="1920240" y="1280160"/>
            <a:ext cx="1188720" cy="731520"/>
          </a:xfrm>
          <a:prstGeom prst="roundRect">
            <a:avLst>
              <a:gd name="adj" fmla="val 12500"/>
            </a:avLst>
          </a:prstGeom>
          <a:solidFill>
            <a:srgbClr val="0F766E"/>
          </a:solidFill>
          <a:ln/>
        </p:spPr>
      </p:sp>
      <p:sp>
        <p:nvSpPr>
          <p:cNvPr id="7" name="qflow-text-1"/>
          <p:cNvSpPr txBox="1"/>
          <p:nvPr/>
        </p:nvSpPr>
        <p:spPr>
          <a:xfrm>
            <a:off x="1920240" y="1280160"/>
            <a:ext cx="1188720" cy="731520"/>
          </a:xfrm>
          <a:prstGeom prst="rect">
            <a:avLst/>
          </a:prstGeom>
          <a:noFill/>
          <a:ln/>
        </p:spPr>
        <p:txBody>
          <a:bodyPr wrap="square" lIns="0" tIns="0" rIns="0" bIns="0" rtlCol="0" anchor="ctr"/>
          <a:lstStyle/>
          <a:p>
            <a:pPr marL="0" indent="0" algn="ctr">
              <a:buNone/>
            </a:pPr>
            <a:r>
              <a:rPr lang="en-US" sz="1400" b="1" dirty="0">
                <a:solidFill>
                  <a:srgbClr val="FFFFFF"/>
                </a:solidFill>
              </a:rPr>
              <a:t>クラス指定</a:t>
            </a:r>
            <a:endParaRPr lang="en-US" sz="1400" dirty="0"/>
          </a:p>
        </p:txBody>
      </p:sp>
      <p:sp>
        <p:nvSpPr>
          <p:cNvPr id="8" name="qflow-arrow-1"/>
          <p:cNvSpPr/>
          <p:nvPr/>
        </p:nvSpPr>
        <p:spPr>
          <a:xfrm>
            <a:off x="3127248" y="1536192"/>
            <a:ext cx="146304" cy="228600"/>
          </a:xfrm>
          <a:prstGeom prst="rightArrow">
            <a:avLst/>
          </a:prstGeom>
          <a:solidFill>
            <a:schemeClr val="accent6"/>
          </a:solidFill>
          <a:ln/>
        </p:spPr>
      </p:sp>
      <p:sp>
        <p:nvSpPr>
          <p:cNvPr id="9" name="qflow-chip-2"/>
          <p:cNvSpPr/>
          <p:nvPr/>
        </p:nvSpPr>
        <p:spPr>
          <a:xfrm>
            <a:off x="3291840" y="1280160"/>
            <a:ext cx="1188720" cy="731520"/>
          </a:xfrm>
          <a:prstGeom prst="roundRect">
            <a:avLst>
              <a:gd name="adj" fmla="val 12500"/>
            </a:avLst>
          </a:prstGeom>
          <a:solidFill>
            <a:srgbClr val="0F766E"/>
          </a:solidFill>
          <a:ln/>
        </p:spPr>
      </p:sp>
      <p:sp>
        <p:nvSpPr>
          <p:cNvPr id="10" name="qflow-text-2"/>
          <p:cNvSpPr txBox="1"/>
          <p:nvPr/>
        </p:nvSpPr>
        <p:spPr>
          <a:xfrm>
            <a:off x="3291840" y="1280160"/>
            <a:ext cx="1188720" cy="731520"/>
          </a:xfrm>
          <a:prstGeom prst="rect">
            <a:avLst/>
          </a:prstGeom>
          <a:noFill/>
          <a:ln/>
        </p:spPr>
        <p:txBody>
          <a:bodyPr wrap="square" lIns="0" tIns="0" rIns="0" bIns="0" rtlCol="0" anchor="ctr"/>
          <a:lstStyle/>
          <a:p>
            <a:pPr marL="0" indent="0" algn="ctr">
              <a:buNone/>
            </a:pPr>
            <a:r>
              <a:rPr lang="en-US" sz="1400" b="1" dirty="0">
                <a:solidFill>
                  <a:srgbClr val="FFFFFF"/>
                </a:solidFill>
              </a:rPr>
              <a:t>出題</a:t>
            </a:r>
            <a:endParaRPr lang="en-US" sz="1400" dirty="0"/>
          </a:p>
        </p:txBody>
      </p:sp>
      <p:sp>
        <p:nvSpPr>
          <p:cNvPr id="11" name="qflow-arrow-2"/>
          <p:cNvSpPr/>
          <p:nvPr/>
        </p:nvSpPr>
        <p:spPr>
          <a:xfrm>
            <a:off x="4498848" y="1536192"/>
            <a:ext cx="146304" cy="228600"/>
          </a:xfrm>
          <a:prstGeom prst="rightArrow">
            <a:avLst/>
          </a:prstGeom>
          <a:solidFill>
            <a:schemeClr val="accent6"/>
          </a:solidFill>
          <a:ln/>
        </p:spPr>
      </p:sp>
      <p:sp>
        <p:nvSpPr>
          <p:cNvPr id="12" name="qflow-chip-3"/>
          <p:cNvSpPr/>
          <p:nvPr/>
        </p:nvSpPr>
        <p:spPr>
          <a:xfrm>
            <a:off x="4663440" y="1280160"/>
            <a:ext cx="1188720" cy="731520"/>
          </a:xfrm>
          <a:prstGeom prst="roundRect">
            <a:avLst>
              <a:gd name="adj" fmla="val 12500"/>
            </a:avLst>
          </a:prstGeom>
          <a:solidFill>
            <a:srgbClr val="F59E0B"/>
          </a:solidFill>
          <a:ln/>
        </p:spPr>
      </p:sp>
      <p:sp>
        <p:nvSpPr>
          <p:cNvPr id="13" name="qflow-text-3"/>
          <p:cNvSpPr txBox="1"/>
          <p:nvPr/>
        </p:nvSpPr>
        <p:spPr>
          <a:xfrm>
            <a:off x="4663440" y="1280160"/>
            <a:ext cx="1188720" cy="731520"/>
          </a:xfrm>
          <a:prstGeom prst="rect">
            <a:avLst/>
          </a:prstGeom>
          <a:noFill/>
          <a:ln/>
        </p:spPr>
        <p:txBody>
          <a:bodyPr wrap="square" lIns="0" tIns="0" rIns="0" bIns="0" rtlCol="0" anchor="ctr"/>
          <a:lstStyle/>
          <a:p>
            <a:pPr marL="0" indent="0" algn="ctr">
              <a:buNone/>
            </a:pPr>
            <a:r>
              <a:rPr lang="en-US" sz="1400" b="1" dirty="0">
                <a:solidFill>
                  <a:srgbClr val="1B2433"/>
                </a:solidFill>
              </a:rPr>
              <a:t>生徒が回答</a:t>
            </a:r>
            <a:endParaRPr lang="en-US" sz="1400" dirty="0"/>
          </a:p>
        </p:txBody>
      </p:sp>
      <p:sp>
        <p:nvSpPr>
          <p:cNvPr id="14" name="qflow-arrow-3"/>
          <p:cNvSpPr/>
          <p:nvPr/>
        </p:nvSpPr>
        <p:spPr>
          <a:xfrm>
            <a:off x="5870448" y="1536192"/>
            <a:ext cx="146304" cy="228600"/>
          </a:xfrm>
          <a:prstGeom prst="rightArrow">
            <a:avLst/>
          </a:prstGeom>
          <a:solidFill>
            <a:schemeClr val="accent6"/>
          </a:solidFill>
          <a:ln/>
        </p:spPr>
      </p:sp>
      <p:sp>
        <p:nvSpPr>
          <p:cNvPr id="15" name="qflow-chip-4"/>
          <p:cNvSpPr/>
          <p:nvPr/>
        </p:nvSpPr>
        <p:spPr>
          <a:xfrm>
            <a:off x="6035040" y="1280160"/>
            <a:ext cx="1188720" cy="731520"/>
          </a:xfrm>
          <a:prstGeom prst="roundRect">
            <a:avLst>
              <a:gd name="adj" fmla="val 12500"/>
            </a:avLst>
          </a:prstGeom>
          <a:solidFill>
            <a:srgbClr val="0F4C5C"/>
          </a:solidFill>
          <a:ln/>
        </p:spPr>
      </p:sp>
      <p:sp>
        <p:nvSpPr>
          <p:cNvPr id="16" name="qflow-text-4"/>
          <p:cNvSpPr txBox="1"/>
          <p:nvPr/>
        </p:nvSpPr>
        <p:spPr>
          <a:xfrm>
            <a:off x="6035040" y="1280160"/>
            <a:ext cx="1188720" cy="731520"/>
          </a:xfrm>
          <a:prstGeom prst="rect">
            <a:avLst/>
          </a:prstGeom>
          <a:noFill/>
          <a:ln/>
        </p:spPr>
        <p:txBody>
          <a:bodyPr wrap="square" lIns="0" tIns="0" rIns="0" bIns="0" rtlCol="0" anchor="ctr"/>
          <a:lstStyle/>
          <a:p>
            <a:pPr marL="0" indent="0" algn="ctr">
              <a:buNone/>
            </a:pPr>
            <a:r>
              <a:rPr lang="en-US" sz="1400" b="1" dirty="0">
                <a:solidFill>
                  <a:srgbClr val="FFFFFF"/>
                </a:solidFill>
              </a:rPr>
              <a:t>自動採点</a:t>
            </a:r>
            <a:endParaRPr lang="en-US" sz="1400" dirty="0"/>
          </a:p>
        </p:txBody>
      </p:sp>
      <p:sp>
        <p:nvSpPr>
          <p:cNvPr id="17" name="qflow-arrow-4"/>
          <p:cNvSpPr/>
          <p:nvPr/>
        </p:nvSpPr>
        <p:spPr>
          <a:xfrm>
            <a:off x="7242048" y="1536192"/>
            <a:ext cx="146304" cy="228600"/>
          </a:xfrm>
          <a:prstGeom prst="rightArrow">
            <a:avLst/>
          </a:prstGeom>
          <a:solidFill>
            <a:schemeClr val="accent6"/>
          </a:solidFill>
          <a:ln/>
        </p:spPr>
      </p:sp>
      <p:sp>
        <p:nvSpPr>
          <p:cNvPr id="18" name="qflow-chip-5"/>
          <p:cNvSpPr/>
          <p:nvPr/>
        </p:nvSpPr>
        <p:spPr>
          <a:xfrm>
            <a:off x="7406640" y="1280160"/>
            <a:ext cx="1188720" cy="731520"/>
          </a:xfrm>
          <a:prstGeom prst="roundRect">
            <a:avLst>
              <a:gd name="adj" fmla="val 12500"/>
            </a:avLst>
          </a:prstGeom>
          <a:solidFill>
            <a:srgbClr val="0F766E"/>
          </a:solidFill>
          <a:ln/>
        </p:spPr>
      </p:sp>
      <p:sp>
        <p:nvSpPr>
          <p:cNvPr id="19" name="qflow-text-5"/>
          <p:cNvSpPr txBox="1"/>
          <p:nvPr/>
        </p:nvSpPr>
        <p:spPr>
          <a:xfrm>
            <a:off x="7406640" y="1280160"/>
            <a:ext cx="1188720" cy="731520"/>
          </a:xfrm>
          <a:prstGeom prst="rect">
            <a:avLst/>
          </a:prstGeom>
          <a:noFill/>
          <a:ln/>
        </p:spPr>
        <p:txBody>
          <a:bodyPr wrap="square" lIns="0" tIns="0" rIns="0" bIns="0" rtlCol="0" anchor="ctr"/>
          <a:lstStyle/>
          <a:p>
            <a:pPr marL="0" indent="0" algn="ctr">
              <a:buNone/>
            </a:pPr>
            <a:r>
              <a:rPr lang="en-US" sz="1400" b="1" dirty="0">
                <a:solidFill>
                  <a:srgbClr val="FFFFFF"/>
                </a:solidFill>
              </a:rPr>
              <a:t>結果確認</a:t>
            </a:r>
            <a:endParaRPr lang="en-US" sz="1400" dirty="0"/>
          </a:p>
        </p:txBody>
      </p:sp>
      <p:sp>
        <p:nvSpPr>
          <p:cNvPr id="20" name="qcard-score"/>
          <p:cNvSpPr/>
          <p:nvPr/>
        </p:nvSpPr>
        <p:spPr>
          <a:xfrm>
            <a:off x="548640" y="2377440"/>
            <a:ext cx="2560320" cy="2240280"/>
          </a:xfrm>
          <a:prstGeom prst="roundRect">
            <a:avLst>
              <a:gd name="adj" fmla="val 4082"/>
            </a:avLst>
          </a:prstGeom>
          <a:solidFill>
            <a:srgbClr val="EAF3F4"/>
          </a:solidFill>
          <a:ln/>
        </p:spPr>
      </p:sp>
      <p:sp>
        <p:nvSpPr>
          <p:cNvPr id="21" name="qscore-title"/>
          <p:cNvSpPr txBox="1"/>
          <p:nvPr/>
        </p:nvSpPr>
        <p:spPr>
          <a:xfrm>
            <a:off x="731520" y="2514600"/>
            <a:ext cx="2194560" cy="365760"/>
          </a:xfrm>
          <a:prstGeom prst="rect">
            <a:avLst/>
          </a:prstGeom>
          <a:noFill/>
          <a:ln/>
        </p:spPr>
        <p:txBody>
          <a:bodyPr wrap="square" lIns="0" tIns="0" rIns="0" bIns="0" rtlCol="0" anchor="ctr"/>
          <a:lstStyle/>
          <a:p>
            <a:pPr marL="0" indent="0" algn="l">
              <a:buNone/>
            </a:pPr>
            <a:r>
              <a:rPr lang="en-US" sz="1600" b="1" dirty="0">
                <a:solidFill>
                  <a:schemeClr val="tx2"/>
                </a:solidFill>
              </a:rPr>
              <a:t>自動採点</a:t>
            </a:r>
            <a:endParaRPr lang="en-US" sz="1600" dirty="0"/>
          </a:p>
        </p:txBody>
      </p:sp>
      <p:sp>
        <p:nvSpPr>
          <p:cNvPr id="22" name="qscore-big"/>
          <p:cNvSpPr txBox="1"/>
          <p:nvPr/>
        </p:nvSpPr>
        <p:spPr>
          <a:xfrm>
            <a:off x="731520" y="2880360"/>
            <a:ext cx="2194560" cy="777240"/>
          </a:xfrm>
          <a:prstGeom prst="rect">
            <a:avLst/>
          </a:prstGeom>
          <a:noFill/>
          <a:ln/>
        </p:spPr>
        <p:txBody>
          <a:bodyPr wrap="square" lIns="0" tIns="0" rIns="0" bIns="0" rtlCol="0" anchor="ctr"/>
          <a:lstStyle/>
          <a:p>
            <a:pPr marL="0" indent="0" algn="l">
              <a:buNone/>
            </a:pPr>
            <a:r>
              <a:rPr lang="en-US" sz="4800" b="1" dirty="0">
                <a:solidFill>
                  <a:schemeClr val="accent1"/>
                </a:solidFill>
              </a:rPr>
              <a:t>80点</a:t>
            </a:r>
            <a:endParaRPr lang="en-US" sz="4800" dirty="0"/>
          </a:p>
        </p:txBody>
      </p:sp>
      <p:sp>
        <p:nvSpPr>
          <p:cNvPr id="23" name="qscore-detail"/>
          <p:cNvSpPr txBox="1"/>
          <p:nvPr/>
        </p:nvSpPr>
        <p:spPr>
          <a:xfrm>
            <a:off x="731520" y="3703320"/>
            <a:ext cx="2194560" cy="274320"/>
          </a:xfrm>
          <a:prstGeom prst="rect">
            <a:avLst/>
          </a:prstGeom>
          <a:noFill/>
          <a:ln/>
        </p:spPr>
        <p:txBody>
          <a:bodyPr wrap="square" lIns="0" tIns="0" rIns="0" bIns="0" rtlCol="0" anchor="ctr"/>
          <a:lstStyle/>
          <a:p>
            <a:pPr marL="0" indent="0" algn="l">
              <a:buNone/>
            </a:pPr>
            <a:r>
              <a:rPr lang="en-US" sz="1400" dirty="0">
                <a:solidFill>
                  <a:schemeClr val="tx1"/>
                </a:solidFill>
              </a:rPr>
              <a:t>全5問中4問正解</a:t>
            </a:r>
            <a:endParaRPr lang="en-US" sz="1400" dirty="0"/>
          </a:p>
        </p:txBody>
      </p:sp>
      <p:sp>
        <p:nvSpPr>
          <p:cNvPr id="24" name="qscore-save"/>
          <p:cNvSpPr txBox="1"/>
          <p:nvPr/>
        </p:nvSpPr>
        <p:spPr>
          <a:xfrm>
            <a:off x="731520" y="4069080"/>
            <a:ext cx="2194560" cy="274320"/>
          </a:xfrm>
          <a:prstGeom prst="rect">
            <a:avLst/>
          </a:prstGeom>
          <a:noFill/>
          <a:ln/>
        </p:spPr>
        <p:txBody>
          <a:bodyPr wrap="square" lIns="0" tIns="0" rIns="0" bIns="0" rtlCol="0" anchor="ctr"/>
          <a:lstStyle/>
          <a:p>
            <a:pPr marL="0" indent="0" algn="l">
              <a:buNone/>
            </a:pPr>
            <a:r>
              <a:rPr lang="en-US" sz="1400" dirty="0">
                <a:solidFill>
                  <a:schemeClr val="accent6"/>
                </a:solidFill>
              </a:rPr>
              <a:t>結果は自動で保存</a:t>
            </a:r>
            <a:endParaRPr lang="en-US" sz="1400" dirty="0"/>
          </a:p>
        </p:txBody>
      </p:sp>
      <p:sp>
        <p:nvSpPr>
          <p:cNvPr id="25" name="qcard-status"/>
          <p:cNvSpPr/>
          <p:nvPr/>
        </p:nvSpPr>
        <p:spPr>
          <a:xfrm>
            <a:off x="3291840" y="2377440"/>
            <a:ext cx="2560320" cy="2240280"/>
          </a:xfrm>
          <a:prstGeom prst="roundRect">
            <a:avLst>
              <a:gd name="adj" fmla="val 4082"/>
            </a:avLst>
          </a:prstGeom>
          <a:solidFill>
            <a:srgbClr val="EAF3F4"/>
          </a:solidFill>
          <a:ln/>
        </p:spPr>
      </p:sp>
      <p:sp>
        <p:nvSpPr>
          <p:cNvPr id="26" name="qstatus-title"/>
          <p:cNvSpPr txBox="1"/>
          <p:nvPr/>
        </p:nvSpPr>
        <p:spPr>
          <a:xfrm>
            <a:off x="3474720" y="2514600"/>
            <a:ext cx="2194560" cy="365760"/>
          </a:xfrm>
          <a:prstGeom prst="rect">
            <a:avLst/>
          </a:prstGeom>
          <a:noFill/>
          <a:ln/>
        </p:spPr>
        <p:txBody>
          <a:bodyPr wrap="square" lIns="0" tIns="0" rIns="0" bIns="0" rtlCol="0" anchor="ctr"/>
          <a:lstStyle/>
          <a:p>
            <a:pPr marL="0" indent="0" algn="l">
              <a:buNone/>
            </a:pPr>
            <a:r>
              <a:rPr lang="en-US" sz="1600" b="1" dirty="0">
                <a:solidFill>
                  <a:schemeClr val="tx2"/>
                </a:solidFill>
              </a:rPr>
              <a:t>クイズの状態</a:t>
            </a:r>
            <a:endParaRPr lang="en-US" sz="1600" dirty="0"/>
          </a:p>
        </p:txBody>
      </p:sp>
      <p:sp>
        <p:nvSpPr>
          <p:cNvPr id="27" name="qstatus-pill-0"/>
          <p:cNvSpPr/>
          <p:nvPr/>
        </p:nvSpPr>
        <p:spPr>
          <a:xfrm>
            <a:off x="3474720" y="3017520"/>
            <a:ext cx="2194560" cy="384048"/>
          </a:xfrm>
          <a:prstGeom prst="roundRect">
            <a:avLst>
              <a:gd name="adj" fmla="val 23810"/>
            </a:avLst>
          </a:prstGeom>
          <a:solidFill>
            <a:srgbClr val="64748B"/>
          </a:solidFill>
          <a:ln/>
        </p:spPr>
      </p:sp>
      <p:sp>
        <p:nvSpPr>
          <p:cNvPr id="28" name="qstatus-text-0"/>
          <p:cNvSpPr txBox="1"/>
          <p:nvPr/>
        </p:nvSpPr>
        <p:spPr>
          <a:xfrm>
            <a:off x="3474720" y="3017520"/>
            <a:ext cx="2194560" cy="384048"/>
          </a:xfrm>
          <a:prstGeom prst="rect">
            <a:avLst/>
          </a:prstGeom>
          <a:noFill/>
          <a:ln/>
        </p:spPr>
        <p:txBody>
          <a:bodyPr wrap="square" lIns="0" tIns="0" rIns="0" bIns="0" rtlCol="0" anchor="ctr"/>
          <a:lstStyle/>
          <a:p>
            <a:pPr marL="0" indent="0" algn="ctr">
              <a:buNone/>
            </a:pPr>
            <a:r>
              <a:rPr lang="en-US" sz="1400" b="1" dirty="0">
                <a:solidFill>
                  <a:srgbClr val="FFFFFF"/>
                </a:solidFill>
              </a:rPr>
              <a:t>下書き (draft)</a:t>
            </a:r>
            <a:endParaRPr lang="en-US" sz="1400" dirty="0"/>
          </a:p>
        </p:txBody>
      </p:sp>
      <p:sp>
        <p:nvSpPr>
          <p:cNvPr id="29" name="qstatus-pill-1"/>
          <p:cNvSpPr/>
          <p:nvPr/>
        </p:nvSpPr>
        <p:spPr>
          <a:xfrm>
            <a:off x="3474720" y="3520440"/>
            <a:ext cx="2194560" cy="384048"/>
          </a:xfrm>
          <a:prstGeom prst="roundRect">
            <a:avLst>
              <a:gd name="adj" fmla="val 23810"/>
            </a:avLst>
          </a:prstGeom>
          <a:solidFill>
            <a:srgbClr val="0F766E"/>
          </a:solidFill>
          <a:ln/>
        </p:spPr>
      </p:sp>
      <p:sp>
        <p:nvSpPr>
          <p:cNvPr id="30" name="qstatus-text-1"/>
          <p:cNvSpPr txBox="1"/>
          <p:nvPr/>
        </p:nvSpPr>
        <p:spPr>
          <a:xfrm>
            <a:off x="3474720" y="3520440"/>
            <a:ext cx="2194560" cy="384048"/>
          </a:xfrm>
          <a:prstGeom prst="rect">
            <a:avLst/>
          </a:prstGeom>
          <a:noFill/>
          <a:ln/>
        </p:spPr>
        <p:txBody>
          <a:bodyPr wrap="square" lIns="0" tIns="0" rIns="0" bIns="0" rtlCol="0" anchor="ctr"/>
          <a:lstStyle/>
          <a:p>
            <a:pPr marL="0" indent="0" algn="ctr">
              <a:buNone/>
            </a:pPr>
            <a:r>
              <a:rPr lang="en-US" sz="1400" b="1" dirty="0">
                <a:solidFill>
                  <a:srgbClr val="FFFFFF"/>
                </a:solidFill>
              </a:rPr>
              <a:t>出題中 (active)</a:t>
            </a:r>
            <a:endParaRPr lang="en-US" sz="1400" dirty="0"/>
          </a:p>
        </p:txBody>
      </p:sp>
      <p:sp>
        <p:nvSpPr>
          <p:cNvPr id="31" name="qstatus-pill-2"/>
          <p:cNvSpPr/>
          <p:nvPr/>
        </p:nvSpPr>
        <p:spPr>
          <a:xfrm>
            <a:off x="3474720" y="4023360"/>
            <a:ext cx="2194560" cy="384048"/>
          </a:xfrm>
          <a:prstGeom prst="roundRect">
            <a:avLst>
              <a:gd name="adj" fmla="val 23810"/>
            </a:avLst>
          </a:prstGeom>
          <a:solidFill>
            <a:srgbClr val="0F4C5C"/>
          </a:solidFill>
          <a:ln/>
        </p:spPr>
      </p:sp>
      <p:sp>
        <p:nvSpPr>
          <p:cNvPr id="32" name="qstatus-text-2"/>
          <p:cNvSpPr txBox="1"/>
          <p:nvPr/>
        </p:nvSpPr>
        <p:spPr>
          <a:xfrm>
            <a:off x="3474720" y="4023360"/>
            <a:ext cx="2194560" cy="384048"/>
          </a:xfrm>
          <a:prstGeom prst="rect">
            <a:avLst/>
          </a:prstGeom>
          <a:noFill/>
          <a:ln/>
        </p:spPr>
        <p:txBody>
          <a:bodyPr wrap="square" lIns="0" tIns="0" rIns="0" bIns="0" rtlCol="0" anchor="ctr"/>
          <a:lstStyle/>
          <a:p>
            <a:pPr marL="0" indent="0" algn="ctr">
              <a:buNone/>
            </a:pPr>
            <a:r>
              <a:rPr lang="en-US" sz="1400" b="1" dirty="0">
                <a:solidFill>
                  <a:srgbClr val="FFFFFF"/>
                </a:solidFill>
              </a:rPr>
              <a:t>終了 (ended)</a:t>
            </a:r>
            <a:endParaRPr lang="en-US" sz="1400" dirty="0"/>
          </a:p>
        </p:txBody>
      </p:sp>
      <p:sp>
        <p:nvSpPr>
          <p:cNvPr id="33" name="qcard-class"/>
          <p:cNvSpPr/>
          <p:nvPr/>
        </p:nvSpPr>
        <p:spPr>
          <a:xfrm>
            <a:off x="6035040" y="2377440"/>
            <a:ext cx="2560320" cy="2240280"/>
          </a:xfrm>
          <a:prstGeom prst="roundRect">
            <a:avLst>
              <a:gd name="adj" fmla="val 4082"/>
            </a:avLst>
          </a:prstGeom>
          <a:solidFill>
            <a:srgbClr val="EAF3F4"/>
          </a:solidFill>
          <a:ln/>
        </p:spPr>
      </p:sp>
      <p:sp>
        <p:nvSpPr>
          <p:cNvPr id="34" name="qclass-title"/>
          <p:cNvSpPr txBox="1"/>
          <p:nvPr/>
        </p:nvSpPr>
        <p:spPr>
          <a:xfrm>
            <a:off x="6217920" y="2514600"/>
            <a:ext cx="2194560" cy="365760"/>
          </a:xfrm>
          <a:prstGeom prst="rect">
            <a:avLst/>
          </a:prstGeom>
          <a:noFill/>
          <a:ln/>
        </p:spPr>
        <p:txBody>
          <a:bodyPr wrap="square" lIns="0" tIns="0" rIns="0" bIns="0" rtlCol="0" anchor="ctr"/>
          <a:lstStyle/>
          <a:p>
            <a:pPr marL="0" indent="0" algn="l">
              <a:buNone/>
            </a:pPr>
            <a:r>
              <a:rPr lang="en-US" sz="1600" b="1" dirty="0">
                <a:solidFill>
                  <a:schemeClr val="tx2"/>
                </a:solidFill>
              </a:rPr>
              <a:t>対象クラス</a:t>
            </a:r>
            <a:endParaRPr lang="en-US" sz="1600" dirty="0"/>
          </a:p>
        </p:txBody>
      </p:sp>
      <p:sp>
        <p:nvSpPr>
          <p:cNvPr id="35" name="qclass-list"/>
          <p:cNvSpPr txBox="1"/>
          <p:nvPr/>
        </p:nvSpPr>
        <p:spPr>
          <a:xfrm>
            <a:off x="6217920" y="2926080"/>
            <a:ext cx="2194560" cy="868680"/>
          </a:xfrm>
          <a:prstGeom prst="rect">
            <a:avLst/>
          </a:prstGeom>
          <a:noFill/>
          <a:ln/>
        </p:spPr>
        <p:txBody>
          <a:bodyPr wrap="square" lIns="0" tIns="0" rIns="0" bIns="0" rtlCol="0" anchor="t"/>
          <a:lstStyle/>
          <a:p>
            <a:pPr marL="0" indent="0" algn="l">
              <a:buNone/>
            </a:pPr>
            <a:r>
              <a:rPr lang="en-US" sz="1600" dirty="0">
                <a:solidFill>
                  <a:schemeClr val="tx1"/>
                </a:solidFill>
              </a:rPr>
              <a:t>☑ 1年1組</a:t>
            </a:r>
            <a:endParaRPr lang="en-US" sz="1600" dirty="0"/>
          </a:p>
          <a:p>
            <a:pPr marL="0" indent="0" algn="l">
              <a:buNone/>
            </a:pPr>
            <a:r>
              <a:rPr lang="en-US" sz="1600" dirty="0">
                <a:solidFill>
                  <a:schemeClr val="tx1"/>
                </a:solidFill>
              </a:rPr>
              <a:t>☑ 1年2組</a:t>
            </a:r>
            <a:endParaRPr lang="en-US" sz="1600" dirty="0"/>
          </a:p>
          <a:p>
            <a:pPr marL="0" indent="0" algn="l">
              <a:buNone/>
            </a:pPr>
            <a:r>
              <a:rPr lang="en-US" sz="1600" dirty="0">
                <a:solidFill>
                  <a:schemeClr val="tx1"/>
                </a:solidFill>
              </a:rPr>
              <a:t>☐ 1年3組</a:t>
            </a:r>
            <a:endParaRPr lang="en-US" sz="1600" dirty="0"/>
          </a:p>
        </p:txBody>
      </p:sp>
      <p:sp>
        <p:nvSpPr>
          <p:cNvPr id="36" name="qclass-caption"/>
          <p:cNvSpPr txBox="1"/>
          <p:nvPr/>
        </p:nvSpPr>
        <p:spPr>
          <a:xfrm>
            <a:off x="6217920" y="3840480"/>
            <a:ext cx="2194560" cy="640080"/>
          </a:xfrm>
          <a:prstGeom prst="rect">
            <a:avLst/>
          </a:prstGeom>
          <a:noFill/>
          <a:ln/>
        </p:spPr>
        <p:txBody>
          <a:bodyPr wrap="square" lIns="0" tIns="0" rIns="0" bIns="0" rtlCol="0" anchor="t"/>
          <a:lstStyle/>
          <a:p>
            <a:pPr marL="0" indent="0" algn="l">
              <a:buNone/>
            </a:pPr>
            <a:r>
              <a:rPr lang="en-US" sz="1400" dirty="0">
                <a:solidFill>
                  <a:schemeClr val="accent6"/>
                </a:solidFill>
              </a:rPr>
              <a:t>チェックしたクラスだけが回答できる</a:t>
            </a:r>
            <a:endParaRPr lang="en-US" sz="1400" dirty="0"/>
          </a:p>
        </p:txBody>
      </p:sp>
      <p:sp>
        <p:nvSpPr>
          <p:cNvPr id="37"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技術構成と権限管理</a:t>
            </a:r>
            <a:endParaRPr lang="en-US" sz="3200" dirty="0"/>
          </a:p>
        </p:txBody>
      </p:sp>
      <p:sp>
        <p:nvSpPr>
          <p:cNvPr id="3" name="stack-box-0"/>
          <p:cNvSpPr/>
          <p:nvPr/>
        </p:nvSpPr>
        <p:spPr>
          <a:xfrm>
            <a:off x="548640" y="1280160"/>
            <a:ext cx="3657600" cy="822960"/>
          </a:xfrm>
          <a:prstGeom prst="roundRect">
            <a:avLst>
              <a:gd name="adj" fmla="val 11111"/>
            </a:avLst>
          </a:prstGeom>
          <a:solidFill>
            <a:schemeClr val="accent1"/>
          </a:solidFill>
          <a:ln/>
          <a:effectLst>
            <a:outerShdw blurRad="76200" dist="25400" dir="5400000" algn="bl" rotWithShape="0">
              <a:srgbClr val="000000">
                <a:alpha val="15000"/>
              </a:srgbClr>
            </a:outerShdw>
          </a:effectLst>
        </p:spPr>
      </p:sp>
      <p:sp>
        <p:nvSpPr>
          <p:cNvPr id="4" name="stack-text-0"/>
          <p:cNvSpPr txBox="1"/>
          <p:nvPr/>
        </p:nvSpPr>
        <p:spPr>
          <a:xfrm>
            <a:off x="731520" y="1325880"/>
            <a:ext cx="3291840" cy="731520"/>
          </a:xfrm>
          <a:prstGeom prst="rect">
            <a:avLst/>
          </a:prstGeom>
          <a:noFill/>
          <a:ln/>
        </p:spPr>
        <p:txBody>
          <a:bodyPr wrap="square" lIns="0" tIns="0" rIns="0" bIns="0" rtlCol="0" anchor="ctr"/>
          <a:lstStyle/>
          <a:p>
            <a:pPr marL="0" indent="0" algn="l">
              <a:buNone/>
            </a:pPr>
            <a:r>
              <a:rPr lang="en-US" sz="1800" b="1" dirty="0">
                <a:solidFill>
                  <a:schemeClr val="bg1"/>
                </a:solidFill>
              </a:rPr>
              <a:t>Vue.js ＋ Fabric.js</a:t>
            </a:r>
            <a:endParaRPr lang="en-US" sz="1800" dirty="0"/>
          </a:p>
          <a:p>
            <a:pPr marL="0" indent="0" algn="l">
              <a:buNone/>
            </a:pPr>
            <a:r>
              <a:rPr lang="en-US" sz="1400" dirty="0">
                <a:solidFill>
                  <a:schemeClr val="bg1"/>
                </a:solidFill>
              </a:rPr>
              <a:t>画面・UI／キャンバス教材</a:t>
            </a:r>
            <a:endParaRPr lang="en-US" sz="1800" dirty="0"/>
          </a:p>
        </p:txBody>
      </p:sp>
      <p:sp>
        <p:nvSpPr>
          <p:cNvPr id="5" name="stack-arrow-0"/>
          <p:cNvSpPr/>
          <p:nvPr/>
        </p:nvSpPr>
        <p:spPr>
          <a:xfrm>
            <a:off x="2194560" y="2121408"/>
            <a:ext cx="274320" cy="192024"/>
          </a:xfrm>
          <a:prstGeom prst="downArrow">
            <a:avLst/>
          </a:prstGeom>
          <a:solidFill>
            <a:schemeClr val="accent6"/>
          </a:solidFill>
          <a:ln/>
        </p:spPr>
      </p:sp>
      <p:sp>
        <p:nvSpPr>
          <p:cNvPr id="6" name="stack-box-1"/>
          <p:cNvSpPr/>
          <p:nvPr/>
        </p:nvSpPr>
        <p:spPr>
          <a:xfrm>
            <a:off x="548640" y="2331720"/>
            <a:ext cx="3657600" cy="822960"/>
          </a:xfrm>
          <a:prstGeom prst="roundRect">
            <a:avLst>
              <a:gd name="adj" fmla="val 11111"/>
            </a:avLst>
          </a:prstGeom>
          <a:solidFill>
            <a:schemeClr val="tx2"/>
          </a:solidFill>
          <a:ln/>
          <a:effectLst>
            <a:outerShdw blurRad="76200" dist="25400" dir="5400000" algn="bl" rotWithShape="0">
              <a:srgbClr val="000000">
                <a:alpha val="15000"/>
              </a:srgbClr>
            </a:outerShdw>
          </a:effectLst>
        </p:spPr>
      </p:sp>
      <p:sp>
        <p:nvSpPr>
          <p:cNvPr id="7" name="stack-text-1"/>
          <p:cNvSpPr txBox="1"/>
          <p:nvPr/>
        </p:nvSpPr>
        <p:spPr>
          <a:xfrm>
            <a:off x="731520" y="2377440"/>
            <a:ext cx="3291840" cy="731520"/>
          </a:xfrm>
          <a:prstGeom prst="rect">
            <a:avLst/>
          </a:prstGeom>
          <a:noFill/>
          <a:ln/>
        </p:spPr>
        <p:txBody>
          <a:bodyPr wrap="square" lIns="0" tIns="0" rIns="0" bIns="0" rtlCol="0" anchor="ctr"/>
          <a:lstStyle/>
          <a:p>
            <a:pPr marL="0" indent="0" algn="l">
              <a:buNone/>
            </a:pPr>
            <a:r>
              <a:rPr lang="en-US" sz="1800" b="1" dirty="0">
                <a:solidFill>
                  <a:schemeClr val="bg1"/>
                </a:solidFill>
              </a:rPr>
              <a:t>Laravel（PHP）</a:t>
            </a:r>
            <a:endParaRPr lang="en-US" sz="1800" dirty="0"/>
          </a:p>
          <a:p>
            <a:pPr marL="0" indent="0" algn="l">
              <a:buNone/>
            </a:pPr>
            <a:r>
              <a:rPr lang="en-US" sz="1400" dirty="0">
                <a:solidFill>
                  <a:schemeClr val="bg1"/>
                </a:solidFill>
              </a:rPr>
              <a:t>API・認証・処理</a:t>
            </a:r>
            <a:endParaRPr lang="en-US" sz="1800" dirty="0"/>
          </a:p>
        </p:txBody>
      </p:sp>
      <p:sp>
        <p:nvSpPr>
          <p:cNvPr id="8" name="stack-arrow-1"/>
          <p:cNvSpPr/>
          <p:nvPr/>
        </p:nvSpPr>
        <p:spPr>
          <a:xfrm>
            <a:off x="2194560" y="3172968"/>
            <a:ext cx="274320" cy="192024"/>
          </a:xfrm>
          <a:prstGeom prst="downArrow">
            <a:avLst/>
          </a:prstGeom>
          <a:solidFill>
            <a:schemeClr val="accent6"/>
          </a:solidFill>
          <a:ln/>
        </p:spPr>
      </p:sp>
      <p:sp>
        <p:nvSpPr>
          <p:cNvPr id="9" name="stack-box-2"/>
          <p:cNvSpPr/>
          <p:nvPr/>
        </p:nvSpPr>
        <p:spPr>
          <a:xfrm>
            <a:off x="548640" y="3383280"/>
            <a:ext cx="3657600" cy="822960"/>
          </a:xfrm>
          <a:prstGeom prst="roundRect">
            <a:avLst>
              <a:gd name="adj" fmla="val 11111"/>
            </a:avLst>
          </a:prstGeom>
          <a:solidFill>
            <a:schemeClr val="tx1"/>
          </a:solidFill>
          <a:ln/>
          <a:effectLst>
            <a:outerShdw blurRad="76200" dist="25400" dir="5400000" algn="bl" rotWithShape="0">
              <a:srgbClr val="000000">
                <a:alpha val="15000"/>
              </a:srgbClr>
            </a:outerShdw>
          </a:effectLst>
        </p:spPr>
      </p:sp>
      <p:sp>
        <p:nvSpPr>
          <p:cNvPr id="10" name="stack-text-2"/>
          <p:cNvSpPr txBox="1"/>
          <p:nvPr/>
        </p:nvSpPr>
        <p:spPr>
          <a:xfrm>
            <a:off x="731520" y="3429000"/>
            <a:ext cx="3291840" cy="731520"/>
          </a:xfrm>
          <a:prstGeom prst="rect">
            <a:avLst/>
          </a:prstGeom>
          <a:noFill/>
          <a:ln/>
        </p:spPr>
        <p:txBody>
          <a:bodyPr wrap="square" lIns="0" tIns="0" rIns="0" bIns="0" rtlCol="0" anchor="ctr"/>
          <a:lstStyle/>
          <a:p>
            <a:pPr marL="0" indent="0" algn="l">
              <a:buNone/>
            </a:pPr>
            <a:r>
              <a:rPr lang="en-US" sz="1800" b="1" dirty="0">
                <a:solidFill>
                  <a:schemeClr val="bg1"/>
                </a:solidFill>
              </a:rPr>
              <a:t>MySQL</a:t>
            </a:r>
            <a:endParaRPr lang="en-US" sz="1800" dirty="0"/>
          </a:p>
          <a:p>
            <a:pPr marL="0" indent="0" algn="l">
              <a:buNone/>
            </a:pPr>
            <a:r>
              <a:rPr lang="en-US" sz="1400" dirty="0">
                <a:solidFill>
                  <a:schemeClr val="bg1"/>
                </a:solidFill>
              </a:rPr>
              <a:t>データ保存</a:t>
            </a:r>
            <a:endParaRPr lang="en-US" sz="1800" dirty="0"/>
          </a:p>
        </p:txBody>
      </p:sp>
      <p:sp>
        <p:nvSpPr>
          <p:cNvPr id="11" name="stack-note"/>
          <p:cNvSpPr txBox="1"/>
          <p:nvPr/>
        </p:nvSpPr>
        <p:spPr>
          <a:xfrm>
            <a:off x="548640" y="4297680"/>
            <a:ext cx="3657600" cy="320040"/>
          </a:xfrm>
          <a:prstGeom prst="rect">
            <a:avLst/>
          </a:prstGeom>
          <a:noFill/>
          <a:ln/>
        </p:spPr>
        <p:txBody>
          <a:bodyPr wrap="square" lIns="0" tIns="0" rIns="0" bIns="0" rtlCol="0" anchor="ctr"/>
          <a:lstStyle/>
          <a:p>
            <a:pPr marL="0" indent="0" algn="l">
              <a:buNone/>
            </a:pPr>
            <a:r>
              <a:rPr lang="en-US" sz="1400" dirty="0">
                <a:solidFill>
                  <a:schemeClr val="accent6"/>
                </a:solidFill>
              </a:rPr>
              <a:t>ビルドツール：Vite</a:t>
            </a:r>
            <a:endParaRPr lang="en-US" sz="1400" dirty="0"/>
          </a:p>
        </p:txBody>
      </p:sp>
      <p:graphicFrame>
        <p:nvGraphicFramePr>
          <p:cNvPr id="12" name="perm-table"/>
          <p:cNvGraphicFramePr>
            <a:graphicFrameLocks noGrp="1"/>
          </p:cNvGraphicFramePr>
          <p:nvPr>
            <p:extLst>
              <p:ext uri="{D42A27DB-BD31-4B8C-83A1-F6EECF244321}">
                <p14:modId xmlns:p14="http://schemas.microsoft.com/office/powerpoint/2010/main" val="1579011935"/>
              </p:ext>
            </p:extLst>
          </p:nvPr>
        </p:nvGraphicFramePr>
        <p:xfrm>
          <a:off x="4572000" y="1280160"/>
          <a:ext cx="4023360" cy="3072384"/>
        </p:xfrm>
        <a:graphic>
          <a:graphicData uri="http://schemas.openxmlformats.org/drawingml/2006/table">
            <a:tbl>
              <a:tblPr/>
              <a:tblGrid>
                <a:gridCol w="2194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38912">
                <a:tc>
                  <a:txBody>
                    <a:bodyPr/>
                    <a:lstStyle/>
                    <a:p>
                      <a:pPr marL="0" indent="0" algn="l">
                        <a:buNone/>
                      </a:pPr>
                      <a:r>
                        <a:rPr lang="en-US" sz="1400" b="1" dirty="0">
                          <a:solidFill>
                            <a:schemeClr val="bg1"/>
                          </a:solidFill>
                        </a:rPr>
                        <a:t>できること</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先生</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生徒</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lgn="l">
                        <a:buNone/>
                      </a:pPr>
                      <a:r>
                        <a:rPr lang="en-US" sz="1400" dirty="0">
                          <a:solidFill>
                            <a:schemeClr val="tx1"/>
                          </a:solidFill>
                        </a:rPr>
                        <a:t>教材の作成・編集</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lgn="l">
                        <a:buNone/>
                      </a:pPr>
                      <a:r>
                        <a:rPr lang="en-US" sz="1400" dirty="0">
                          <a:solidFill>
                            <a:schemeClr val="tx1"/>
                          </a:solidFill>
                        </a:rPr>
                        <a:t>クラス・生徒管理</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lgn="l">
                        <a:buNone/>
                      </a:pPr>
                      <a:r>
                        <a:rPr lang="en-US" sz="1400" dirty="0">
                          <a:solidFill>
                            <a:schemeClr val="tx1"/>
                          </a:solidFill>
                        </a:rPr>
                        <a:t>教材への回答・提出</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lgn="l">
                        <a:buNone/>
                      </a:pPr>
                      <a:r>
                        <a:rPr lang="en-US" sz="1400" dirty="0">
                          <a:solidFill>
                            <a:schemeClr val="tx1"/>
                          </a:solidFill>
                        </a:rPr>
                        <a:t>クイズの作成・出題</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lgn="l">
                        <a:buNone/>
                      </a:pPr>
                      <a:r>
                        <a:rPr lang="en-US" sz="1400" dirty="0">
                          <a:solidFill>
                            <a:schemeClr val="tx1"/>
                          </a:solidFill>
                        </a:rPr>
                        <a:t>クイズへの回答</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lgn="l">
                        <a:buNone/>
                      </a:pPr>
                      <a:r>
                        <a:rPr lang="en-US" sz="1400" dirty="0">
                          <a:solidFill>
                            <a:schemeClr val="tx1"/>
                          </a:solidFill>
                        </a:rPr>
                        <a:t>提出・結果の確認</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400" b="1" dirty="0">
                          <a:solidFill>
                            <a:schemeClr val="accent1"/>
                          </a:solidFill>
                        </a:rPr>
                        <a:t>−</a:t>
                      </a:r>
                      <a:endParaRPr lang="en-US" sz="1400" dirty="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tx2"/>
                </a:solidFill>
              </a:rPr>
              <a:t>開発状況と今後</a:t>
            </a:r>
            <a:endParaRPr lang="en-US" sz="3200" dirty="0"/>
          </a:p>
        </p:txBody>
      </p:sp>
      <p:sp>
        <p:nvSpPr>
          <p:cNvPr id="3" name="done-card"/>
          <p:cNvSpPr/>
          <p:nvPr/>
        </p:nvSpPr>
        <p:spPr>
          <a:xfrm>
            <a:off x="548640" y="1280160"/>
            <a:ext cx="4846320" cy="2514600"/>
          </a:xfrm>
          <a:prstGeom prst="roundRect">
            <a:avLst>
              <a:gd name="adj" fmla="val 3636"/>
            </a:avLst>
          </a:prstGeom>
          <a:solidFill>
            <a:srgbClr val="EAF3F4"/>
          </a:solidFill>
          <a:ln/>
        </p:spPr>
      </p:sp>
      <p:sp>
        <p:nvSpPr>
          <p:cNvPr id="4" name="done-circle"/>
          <p:cNvSpPr/>
          <p:nvPr/>
        </p:nvSpPr>
        <p:spPr>
          <a:xfrm>
            <a:off x="731520" y="1417320"/>
            <a:ext cx="457200" cy="457200"/>
          </a:xfrm>
          <a:prstGeom prst="ellipse">
            <a:avLst/>
          </a:prstGeom>
          <a:solidFill>
            <a:srgbClr val="0F766E"/>
          </a:solidFill>
          <a:ln/>
        </p:spPr>
      </p:sp>
      <p:pic>
        <p:nvPicPr>
          <p:cNvPr id="5" name="done-icon" descr="done"/>
          <p:cNvPicPr>
            <a:picLocks noChangeAspect="1"/>
          </p:cNvPicPr>
          <p:nvPr/>
        </p:nvPicPr>
        <p:blipFill>
          <a:blip r:embed="rId3"/>
          <a:stretch>
            <a:fillRect/>
          </a:stretch>
        </p:blipFill>
        <p:spPr>
          <a:xfrm>
            <a:off x="845820" y="1531620"/>
            <a:ext cx="228600" cy="228600"/>
          </a:xfrm>
          <a:prstGeom prst="rect">
            <a:avLst/>
          </a:prstGeom>
        </p:spPr>
      </p:pic>
      <p:sp>
        <p:nvSpPr>
          <p:cNvPr id="6" name="done-title"/>
          <p:cNvSpPr txBox="1"/>
          <p:nvPr/>
        </p:nvSpPr>
        <p:spPr>
          <a:xfrm>
            <a:off x="1325880" y="1417320"/>
            <a:ext cx="2743200" cy="457200"/>
          </a:xfrm>
          <a:prstGeom prst="rect">
            <a:avLst/>
          </a:prstGeom>
          <a:noFill/>
          <a:ln/>
        </p:spPr>
        <p:txBody>
          <a:bodyPr wrap="square" lIns="0" tIns="0" rIns="0" bIns="0" rtlCol="0" anchor="ctr"/>
          <a:lstStyle/>
          <a:p>
            <a:pPr marL="0" indent="0" algn="l">
              <a:buNone/>
            </a:pPr>
            <a:r>
              <a:rPr lang="en-US" sz="2000" b="1" dirty="0">
                <a:solidFill>
                  <a:schemeClr val="accent1"/>
                </a:solidFill>
              </a:rPr>
              <a:t>実装済み</a:t>
            </a:r>
            <a:endParaRPr lang="en-US" sz="2000" dirty="0"/>
          </a:p>
        </p:txBody>
      </p:sp>
      <p:sp>
        <p:nvSpPr>
          <p:cNvPr id="7" name="done-list"/>
          <p:cNvSpPr txBox="1"/>
          <p:nvPr/>
        </p:nvSpPr>
        <p:spPr>
          <a:xfrm>
            <a:off x="731520" y="2011680"/>
            <a:ext cx="4480560" cy="192024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chemeClr val="tx1"/>
                </a:solidFill>
              </a:rPr>
              <a:t>ログイン・先生／生徒の権限分離</a:t>
            </a:r>
            <a:endParaRPr lang="en-US" sz="1400" dirty="0"/>
          </a:p>
          <a:p>
            <a:pPr marL="342900" indent="-342900" algn="l">
              <a:spcAft>
                <a:spcPts val="400"/>
              </a:spcAft>
              <a:buSzPct val="100000"/>
              <a:buChar char="•"/>
            </a:pPr>
            <a:r>
              <a:rPr lang="en-US" sz="1400" dirty="0">
                <a:solidFill>
                  <a:schemeClr val="tx1"/>
                </a:solidFill>
              </a:rPr>
              <a:t>キャンバス教材の作成・編集</a:t>
            </a:r>
            <a:endParaRPr lang="en-US" sz="1400" dirty="0"/>
          </a:p>
          <a:p>
            <a:pPr marL="342900" indent="-342900" algn="l">
              <a:spcAft>
                <a:spcPts val="400"/>
              </a:spcAft>
              <a:buSzPct val="100000"/>
              <a:buChar char="•"/>
            </a:pPr>
            <a:r>
              <a:rPr lang="en-US" sz="1400" dirty="0">
                <a:solidFill>
                  <a:schemeClr val="tx1"/>
                </a:solidFill>
              </a:rPr>
              <a:t>クラス・生徒管理</a:t>
            </a:r>
            <a:endParaRPr lang="en-US" sz="1400" dirty="0"/>
          </a:p>
          <a:p>
            <a:pPr marL="342900" indent="-342900" algn="l">
              <a:spcAft>
                <a:spcPts val="400"/>
              </a:spcAft>
              <a:buSzPct val="100000"/>
              <a:buChar char="•"/>
            </a:pPr>
            <a:r>
              <a:rPr lang="en-US" sz="1400" dirty="0">
                <a:solidFill>
                  <a:schemeClr val="tx1"/>
                </a:solidFill>
              </a:rPr>
              <a:t>教材への回答・提出・確認</a:t>
            </a:r>
            <a:endParaRPr lang="en-US" sz="1400" dirty="0"/>
          </a:p>
          <a:p>
            <a:pPr marL="342900" indent="-342900" algn="l">
              <a:spcAft>
                <a:spcPts val="400"/>
              </a:spcAft>
              <a:buSzPct val="100000"/>
              <a:buChar char="•"/>
            </a:pPr>
            <a:r>
              <a:rPr lang="en-US" sz="1400" dirty="0">
                <a:solidFill>
                  <a:schemeClr val="tx1"/>
                </a:solidFill>
              </a:rPr>
              <a:t>クイズの作成・出題・非公開</a:t>
            </a:r>
            <a:endParaRPr lang="en-US" sz="1400" dirty="0"/>
          </a:p>
          <a:p>
            <a:pPr marL="342900" indent="-342900" algn="l">
              <a:spcAft>
                <a:spcPts val="400"/>
              </a:spcAft>
              <a:buSzPct val="100000"/>
              <a:buChar char="•"/>
            </a:pPr>
            <a:r>
              <a:rPr lang="en-US" sz="1400" dirty="0">
                <a:solidFill>
                  <a:schemeClr val="tx1"/>
                </a:solidFill>
              </a:rPr>
              <a:t>クイズ回答・自動採点・結果確認</a:t>
            </a:r>
            <a:endParaRPr lang="en-US" sz="1400" dirty="0"/>
          </a:p>
        </p:txBody>
      </p:sp>
      <p:sp>
        <p:nvSpPr>
          <p:cNvPr id="8" name="wip-frame"/>
          <p:cNvSpPr/>
          <p:nvPr/>
        </p:nvSpPr>
        <p:spPr>
          <a:xfrm>
            <a:off x="5577840" y="1280160"/>
            <a:ext cx="3017520" cy="2514600"/>
          </a:xfrm>
          <a:prstGeom prst="roundRect">
            <a:avLst>
              <a:gd name="adj" fmla="val 3636"/>
            </a:avLst>
          </a:prstGeom>
          <a:solidFill>
            <a:schemeClr val="bg1"/>
          </a:solidFill>
          <a:ln w="25400">
            <a:solidFill>
              <a:srgbClr val="F59E0B"/>
            </a:solidFill>
            <a:prstDash val="solid"/>
          </a:ln>
        </p:spPr>
      </p:sp>
      <p:sp>
        <p:nvSpPr>
          <p:cNvPr id="9" name="wip-circle"/>
          <p:cNvSpPr/>
          <p:nvPr/>
        </p:nvSpPr>
        <p:spPr>
          <a:xfrm>
            <a:off x="5760720" y="1417320"/>
            <a:ext cx="457200" cy="457200"/>
          </a:xfrm>
          <a:prstGeom prst="ellipse">
            <a:avLst/>
          </a:prstGeom>
          <a:solidFill>
            <a:srgbClr val="F59E0B"/>
          </a:solidFill>
          <a:ln/>
        </p:spPr>
      </p:sp>
      <p:pic>
        <p:nvPicPr>
          <p:cNvPr id="10" name="wip-icon" descr="wip"/>
          <p:cNvPicPr>
            <a:picLocks noChangeAspect="1"/>
          </p:cNvPicPr>
          <p:nvPr/>
        </p:nvPicPr>
        <p:blipFill>
          <a:blip r:embed="rId4"/>
          <a:stretch>
            <a:fillRect/>
          </a:stretch>
        </p:blipFill>
        <p:spPr>
          <a:xfrm>
            <a:off x="5875020" y="1531620"/>
            <a:ext cx="228600" cy="228600"/>
          </a:xfrm>
          <a:prstGeom prst="rect">
            <a:avLst/>
          </a:prstGeom>
        </p:spPr>
      </p:pic>
      <p:sp>
        <p:nvSpPr>
          <p:cNvPr id="11" name="wip-title"/>
          <p:cNvSpPr txBox="1"/>
          <p:nvPr/>
        </p:nvSpPr>
        <p:spPr>
          <a:xfrm>
            <a:off x="6355080" y="1417320"/>
            <a:ext cx="2103120" cy="457200"/>
          </a:xfrm>
          <a:prstGeom prst="rect">
            <a:avLst/>
          </a:prstGeom>
          <a:noFill/>
          <a:ln/>
        </p:spPr>
        <p:txBody>
          <a:bodyPr wrap="square" lIns="0" tIns="0" rIns="0" bIns="0" rtlCol="0" anchor="ctr"/>
          <a:lstStyle/>
          <a:p>
            <a:pPr marL="0" indent="0" algn="l">
              <a:buNone/>
            </a:pPr>
            <a:r>
              <a:rPr lang="en-US" sz="2000" b="1" dirty="0">
                <a:solidFill>
                  <a:schemeClr val="tx1"/>
                </a:solidFill>
              </a:rPr>
              <a:t>調整中</a:t>
            </a:r>
            <a:endParaRPr lang="en-US" sz="2000" dirty="0"/>
          </a:p>
        </p:txBody>
      </p:sp>
      <p:sp>
        <p:nvSpPr>
          <p:cNvPr id="12" name="wip-list"/>
          <p:cNvSpPr txBox="1"/>
          <p:nvPr/>
        </p:nvSpPr>
        <p:spPr>
          <a:xfrm>
            <a:off x="5760720" y="2011680"/>
            <a:ext cx="2651760" cy="192024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chemeClr val="tx1"/>
                </a:solidFill>
              </a:rPr>
              <a:t>クイズ削除機能</a:t>
            </a:r>
            <a:endParaRPr lang="en-US" sz="1400" dirty="0"/>
          </a:p>
          <a:p>
            <a:pPr marL="342900" indent="-342900" algn="l">
              <a:spcAft>
                <a:spcPts val="400"/>
              </a:spcAft>
              <a:buSzPct val="100000"/>
              <a:buChar char="•"/>
            </a:pPr>
            <a:r>
              <a:rPr lang="en-US" sz="1400" dirty="0">
                <a:solidFill>
                  <a:schemeClr val="tx1"/>
                </a:solidFill>
              </a:rPr>
              <a:t>UI調整</a:t>
            </a:r>
            <a:endParaRPr lang="en-US" sz="1400" dirty="0"/>
          </a:p>
          <a:p>
            <a:pPr marL="342900" indent="-342900" algn="l">
              <a:spcAft>
                <a:spcPts val="400"/>
              </a:spcAft>
              <a:buSzPct val="100000"/>
              <a:buChar char="•"/>
            </a:pPr>
            <a:r>
              <a:rPr lang="en-US" sz="1400" dirty="0">
                <a:solidFill>
                  <a:schemeClr val="tx1"/>
                </a:solidFill>
              </a:rPr>
              <a:t>各機能の動作確認</a:t>
            </a:r>
            <a:endParaRPr lang="en-US" sz="1400" dirty="0"/>
          </a:p>
        </p:txBody>
      </p:sp>
      <p:sp>
        <p:nvSpPr>
          <p:cNvPr id="13" name="next-steps"/>
          <p:cNvSpPr txBox="1"/>
          <p:nvPr/>
        </p:nvSpPr>
        <p:spPr>
          <a:xfrm>
            <a:off x="548640" y="4069080"/>
            <a:ext cx="8046720" cy="457200"/>
          </a:xfrm>
          <a:prstGeom prst="rect">
            <a:avLst/>
          </a:prstGeom>
          <a:noFill/>
          <a:ln/>
        </p:spPr>
        <p:txBody>
          <a:bodyPr wrap="square" lIns="0" tIns="0" rIns="0" bIns="0" rtlCol="0" anchor="ctr"/>
          <a:lstStyle/>
          <a:p>
            <a:pPr marL="0" indent="0" algn="l">
              <a:buNone/>
            </a:pPr>
            <a:r>
              <a:rPr lang="en-US" sz="1800" b="1" dirty="0">
                <a:solidFill>
                  <a:schemeClr val="tx2"/>
                </a:solidFill>
              </a:rPr>
              <a:t>今後：動作確認 → 不具合修正 → UI改善 → 全体テスト → 完成</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200" b="1" dirty="0">
                <a:solidFill>
                  <a:schemeClr val="bg1"/>
                </a:solidFill>
              </a:rPr>
              <a:t>まとめ</a:t>
            </a:r>
            <a:endParaRPr lang="en-US" sz="3200" dirty="0"/>
          </a:p>
        </p:txBody>
      </p:sp>
      <p:sp>
        <p:nvSpPr>
          <p:cNvPr id="3" name="summary-card"/>
          <p:cNvSpPr/>
          <p:nvPr/>
        </p:nvSpPr>
        <p:spPr>
          <a:xfrm>
            <a:off x="548640" y="1280160"/>
            <a:ext cx="8046720" cy="1325880"/>
          </a:xfrm>
          <a:prstGeom prst="roundRect">
            <a:avLst>
              <a:gd name="adj" fmla="val 6897"/>
            </a:avLst>
          </a:prstGeom>
          <a:solidFill>
            <a:srgbClr val="0F766E"/>
          </a:solidFill>
          <a:ln/>
        </p:spPr>
      </p:sp>
      <p:sp>
        <p:nvSpPr>
          <p:cNvPr id="4" name="summary-text"/>
          <p:cNvSpPr txBox="1"/>
          <p:nvPr/>
        </p:nvSpPr>
        <p:spPr>
          <a:xfrm>
            <a:off x="822960" y="1371600"/>
            <a:ext cx="7498080" cy="1143000"/>
          </a:xfrm>
          <a:prstGeom prst="rect">
            <a:avLst/>
          </a:prstGeom>
          <a:noFill/>
          <a:ln/>
        </p:spPr>
        <p:txBody>
          <a:bodyPr wrap="square" lIns="0" tIns="0" rIns="0" bIns="0" rtlCol="0" anchor="ctr"/>
          <a:lstStyle/>
          <a:p>
            <a:pPr marL="0" indent="0" algn="l">
              <a:buNone/>
            </a:pPr>
            <a:r>
              <a:rPr lang="en-US" sz="1800" b="1" dirty="0">
                <a:solidFill>
                  <a:schemeClr val="bg1"/>
                </a:solidFill>
              </a:rPr>
              <a:t>CanvasNoteは、教材の作成・配布から、生徒の回答・提出、</a:t>
            </a:r>
            <a:endParaRPr lang="en-US" sz="1800" dirty="0"/>
          </a:p>
          <a:p>
            <a:pPr marL="0" indent="0" algn="l">
              <a:buNone/>
            </a:pPr>
            <a:r>
              <a:rPr lang="en-US" sz="1800" b="1" dirty="0">
                <a:solidFill>
                  <a:schemeClr val="bg1"/>
                </a:solidFill>
              </a:rPr>
              <a:t>クイズの出題・自動採点・結果確認までを一つにまとめた</a:t>
            </a:r>
            <a:endParaRPr lang="en-US" sz="1800" dirty="0"/>
          </a:p>
          <a:p>
            <a:pPr marL="0" indent="0" algn="l">
              <a:buNone/>
            </a:pPr>
            <a:r>
              <a:rPr lang="en-US" sz="1800" b="1" dirty="0">
                <a:solidFill>
                  <a:schemeClr val="bg1"/>
                </a:solidFill>
              </a:rPr>
              <a:t>教育支援Webアプリです。</a:t>
            </a:r>
            <a:endParaRPr lang="en-US" sz="1800" dirty="0"/>
          </a:p>
        </p:txBody>
      </p:sp>
      <p:sp>
        <p:nvSpPr>
          <p:cNvPr id="5" name="point-card-0"/>
          <p:cNvSpPr/>
          <p:nvPr/>
        </p:nvSpPr>
        <p:spPr>
          <a:xfrm>
            <a:off x="548640" y="2880360"/>
            <a:ext cx="2560320" cy="1097280"/>
          </a:xfrm>
          <a:prstGeom prst="roundRect">
            <a:avLst>
              <a:gd name="adj" fmla="val 8333"/>
            </a:avLst>
          </a:prstGeom>
          <a:solidFill>
            <a:srgbClr val="1B2433"/>
          </a:solidFill>
          <a:ln/>
        </p:spPr>
      </p:sp>
      <p:sp>
        <p:nvSpPr>
          <p:cNvPr id="6" name="point-0-circle"/>
          <p:cNvSpPr/>
          <p:nvPr/>
        </p:nvSpPr>
        <p:spPr>
          <a:xfrm>
            <a:off x="731520" y="3108960"/>
            <a:ext cx="640080" cy="640080"/>
          </a:xfrm>
          <a:prstGeom prst="ellipse">
            <a:avLst/>
          </a:prstGeom>
          <a:solidFill>
            <a:srgbClr val="F59E0B"/>
          </a:solidFill>
          <a:ln/>
        </p:spPr>
      </p:sp>
      <p:pic>
        <p:nvPicPr>
          <p:cNvPr id="7" name="point-0-icon" descr="point-0"/>
          <p:cNvPicPr>
            <a:picLocks noChangeAspect="1"/>
          </p:cNvPicPr>
          <p:nvPr/>
        </p:nvPicPr>
        <p:blipFill>
          <a:blip r:embed="rId3"/>
          <a:stretch>
            <a:fillRect/>
          </a:stretch>
        </p:blipFill>
        <p:spPr>
          <a:xfrm>
            <a:off x="891540" y="3268980"/>
            <a:ext cx="320040" cy="320040"/>
          </a:xfrm>
          <a:prstGeom prst="rect">
            <a:avLst/>
          </a:prstGeom>
        </p:spPr>
      </p:pic>
      <p:sp>
        <p:nvSpPr>
          <p:cNvPr id="8" name="point-text-0"/>
          <p:cNvSpPr txBox="1"/>
          <p:nvPr/>
        </p:nvSpPr>
        <p:spPr>
          <a:xfrm>
            <a:off x="1508760" y="2971800"/>
            <a:ext cx="1508760" cy="914400"/>
          </a:xfrm>
          <a:prstGeom prst="rect">
            <a:avLst/>
          </a:prstGeom>
          <a:noFill/>
          <a:ln/>
        </p:spPr>
        <p:txBody>
          <a:bodyPr wrap="square" lIns="0" tIns="0" rIns="0" bIns="0" rtlCol="0" anchor="ctr"/>
          <a:lstStyle/>
          <a:p>
            <a:pPr marL="0" indent="0" algn="l">
              <a:buNone/>
            </a:pPr>
            <a:r>
              <a:rPr lang="en-US" sz="1400" b="1" dirty="0">
                <a:solidFill>
                  <a:schemeClr val="bg1"/>
                </a:solidFill>
              </a:rPr>
              <a:t>キャンバスで</a:t>
            </a:r>
            <a:endParaRPr lang="en-US" sz="1400" dirty="0"/>
          </a:p>
          <a:p>
            <a:pPr marL="0" indent="0" algn="l">
              <a:buNone/>
            </a:pPr>
            <a:r>
              <a:rPr lang="en-US" sz="1400" b="1" dirty="0">
                <a:solidFill>
                  <a:schemeClr val="bg1"/>
                </a:solidFill>
              </a:rPr>
              <a:t>教材を作れる</a:t>
            </a:r>
            <a:endParaRPr lang="en-US" sz="1400" dirty="0"/>
          </a:p>
        </p:txBody>
      </p:sp>
      <p:sp>
        <p:nvSpPr>
          <p:cNvPr id="9" name="point-card-1"/>
          <p:cNvSpPr/>
          <p:nvPr/>
        </p:nvSpPr>
        <p:spPr>
          <a:xfrm>
            <a:off x="3291840" y="2880360"/>
            <a:ext cx="2560320" cy="1097280"/>
          </a:xfrm>
          <a:prstGeom prst="roundRect">
            <a:avLst>
              <a:gd name="adj" fmla="val 8333"/>
            </a:avLst>
          </a:prstGeom>
          <a:solidFill>
            <a:srgbClr val="1B2433"/>
          </a:solidFill>
          <a:ln/>
        </p:spPr>
      </p:sp>
      <p:sp>
        <p:nvSpPr>
          <p:cNvPr id="10" name="point-1-circle"/>
          <p:cNvSpPr/>
          <p:nvPr/>
        </p:nvSpPr>
        <p:spPr>
          <a:xfrm>
            <a:off x="3474720" y="3108960"/>
            <a:ext cx="640080" cy="640080"/>
          </a:xfrm>
          <a:prstGeom prst="ellipse">
            <a:avLst/>
          </a:prstGeom>
          <a:solidFill>
            <a:srgbClr val="E76F51"/>
          </a:solidFill>
          <a:ln/>
        </p:spPr>
      </p:sp>
      <p:pic>
        <p:nvPicPr>
          <p:cNvPr id="11" name="point-1-icon" descr="point-1"/>
          <p:cNvPicPr>
            <a:picLocks noChangeAspect="1"/>
          </p:cNvPicPr>
          <p:nvPr/>
        </p:nvPicPr>
        <p:blipFill>
          <a:blip r:embed="rId4"/>
          <a:stretch>
            <a:fillRect/>
          </a:stretch>
        </p:blipFill>
        <p:spPr>
          <a:xfrm>
            <a:off x="3634740" y="3268980"/>
            <a:ext cx="320040" cy="320040"/>
          </a:xfrm>
          <a:prstGeom prst="rect">
            <a:avLst/>
          </a:prstGeom>
        </p:spPr>
      </p:pic>
      <p:sp>
        <p:nvSpPr>
          <p:cNvPr id="12" name="point-text-1"/>
          <p:cNvSpPr txBox="1"/>
          <p:nvPr/>
        </p:nvSpPr>
        <p:spPr>
          <a:xfrm>
            <a:off x="4251960" y="2971800"/>
            <a:ext cx="1508760" cy="914400"/>
          </a:xfrm>
          <a:prstGeom prst="rect">
            <a:avLst/>
          </a:prstGeom>
          <a:noFill/>
          <a:ln/>
        </p:spPr>
        <p:txBody>
          <a:bodyPr wrap="square" lIns="0" tIns="0" rIns="0" bIns="0" rtlCol="0" anchor="ctr"/>
          <a:lstStyle/>
          <a:p>
            <a:pPr marL="0" indent="0" algn="l">
              <a:buNone/>
            </a:pPr>
            <a:r>
              <a:rPr lang="en-US" sz="1400" b="1" dirty="0">
                <a:solidFill>
                  <a:schemeClr val="bg1"/>
                </a:solidFill>
              </a:rPr>
              <a:t>教材・提出・</a:t>
            </a:r>
            <a:endParaRPr lang="en-US" sz="1400" dirty="0"/>
          </a:p>
          <a:p>
            <a:pPr marL="0" indent="0" algn="l">
              <a:buNone/>
            </a:pPr>
            <a:r>
              <a:rPr lang="en-US" sz="1400" b="1" dirty="0">
                <a:solidFill>
                  <a:schemeClr val="bg1"/>
                </a:solidFill>
              </a:rPr>
              <a:t>クイズを一元管理</a:t>
            </a:r>
            <a:endParaRPr lang="en-US" sz="1400" dirty="0"/>
          </a:p>
        </p:txBody>
      </p:sp>
      <p:sp>
        <p:nvSpPr>
          <p:cNvPr id="13" name="point-card-2"/>
          <p:cNvSpPr/>
          <p:nvPr/>
        </p:nvSpPr>
        <p:spPr>
          <a:xfrm>
            <a:off x="6035040" y="2880360"/>
            <a:ext cx="2560320" cy="1097280"/>
          </a:xfrm>
          <a:prstGeom prst="roundRect">
            <a:avLst>
              <a:gd name="adj" fmla="val 8333"/>
            </a:avLst>
          </a:prstGeom>
          <a:solidFill>
            <a:srgbClr val="1B2433"/>
          </a:solidFill>
          <a:ln/>
        </p:spPr>
      </p:sp>
      <p:sp>
        <p:nvSpPr>
          <p:cNvPr id="14" name="point-2-circle"/>
          <p:cNvSpPr/>
          <p:nvPr/>
        </p:nvSpPr>
        <p:spPr>
          <a:xfrm>
            <a:off x="6217920" y="3108960"/>
            <a:ext cx="640080" cy="640080"/>
          </a:xfrm>
          <a:prstGeom prst="ellipse">
            <a:avLst/>
          </a:prstGeom>
          <a:solidFill>
            <a:srgbClr val="2A9D8F"/>
          </a:solidFill>
          <a:ln/>
        </p:spPr>
      </p:sp>
      <p:pic>
        <p:nvPicPr>
          <p:cNvPr id="15" name="point-2-icon" descr="point-2"/>
          <p:cNvPicPr>
            <a:picLocks noChangeAspect="1"/>
          </p:cNvPicPr>
          <p:nvPr/>
        </p:nvPicPr>
        <p:blipFill>
          <a:blip r:embed="rId5"/>
          <a:stretch>
            <a:fillRect/>
          </a:stretch>
        </p:blipFill>
        <p:spPr>
          <a:xfrm>
            <a:off x="6377940" y="3268980"/>
            <a:ext cx="320040" cy="320040"/>
          </a:xfrm>
          <a:prstGeom prst="rect">
            <a:avLst/>
          </a:prstGeom>
        </p:spPr>
      </p:pic>
      <p:sp>
        <p:nvSpPr>
          <p:cNvPr id="16" name="point-text-2"/>
          <p:cNvSpPr txBox="1"/>
          <p:nvPr/>
        </p:nvSpPr>
        <p:spPr>
          <a:xfrm>
            <a:off x="6995160" y="2971800"/>
            <a:ext cx="1508760" cy="914400"/>
          </a:xfrm>
          <a:prstGeom prst="rect">
            <a:avLst/>
          </a:prstGeom>
          <a:noFill/>
          <a:ln/>
        </p:spPr>
        <p:txBody>
          <a:bodyPr wrap="square" lIns="0" tIns="0" rIns="0" bIns="0" rtlCol="0" anchor="ctr"/>
          <a:lstStyle/>
          <a:p>
            <a:pPr marL="0" indent="0" algn="l">
              <a:buNone/>
            </a:pPr>
            <a:r>
              <a:rPr lang="en-US" sz="1400" b="1" dirty="0">
                <a:solidFill>
                  <a:schemeClr val="bg1"/>
                </a:solidFill>
              </a:rPr>
              <a:t>クラス単位で</a:t>
            </a:r>
            <a:endParaRPr lang="en-US" sz="1400" dirty="0"/>
          </a:p>
          <a:p>
            <a:pPr marL="0" indent="0" algn="l">
              <a:buNone/>
            </a:pPr>
            <a:r>
              <a:rPr lang="en-US" sz="1400" b="1" dirty="0">
                <a:solidFill>
                  <a:schemeClr val="bg1"/>
                </a:solidFill>
              </a:rPr>
              <a:t>管理できる</a:t>
            </a:r>
            <a:endParaRPr lang="en-US" sz="1400" dirty="0"/>
          </a:p>
        </p:txBody>
      </p:sp>
      <p:sp>
        <p:nvSpPr>
          <p:cNvPr id="17" name="thanks"/>
          <p:cNvSpPr txBox="1"/>
          <p:nvPr/>
        </p:nvSpPr>
        <p:spPr>
          <a:xfrm>
            <a:off x="548640" y="4206240"/>
            <a:ext cx="5486400" cy="411480"/>
          </a:xfrm>
          <a:prstGeom prst="rect">
            <a:avLst/>
          </a:prstGeom>
          <a:noFill/>
          <a:ln/>
        </p:spPr>
        <p:txBody>
          <a:bodyPr wrap="square" lIns="0" tIns="0" rIns="0" bIns="0" rtlCol="0" anchor="ctr"/>
          <a:lstStyle/>
          <a:p>
            <a:pPr marL="0" indent="0" algn="l">
              <a:buNone/>
            </a:pPr>
            <a:r>
              <a:rPr lang="en-US" sz="1800" b="1" dirty="0">
                <a:solidFill>
                  <a:schemeClr val="accent2"/>
                </a:solidFill>
              </a:rPr>
              <a:t>ご清聴ありがとうございました</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CanvasNote">
  <a:themeElements>
    <a:clrScheme name="CanvasNote">
      <a:dk1>
        <a:srgbClr val="1B2433"/>
      </a:dk1>
      <a:lt1>
        <a:srgbClr val="FFFFFF"/>
      </a:lt1>
      <a:dk2>
        <a:srgbClr val="0F4C5C"/>
      </a:dk2>
      <a:lt2>
        <a:srgbClr val="EAF3F4"/>
      </a:lt2>
      <a:accent1>
        <a:srgbClr val="0F766E"/>
      </a:accent1>
      <a:accent2>
        <a:srgbClr val="F59E0B"/>
      </a:accent2>
      <a:accent3>
        <a:srgbClr val="E76F51"/>
      </a:accent3>
      <a:accent4>
        <a:srgbClr val="2A9D8F"/>
      </a:accent4>
      <a:accent5>
        <a:srgbClr val="8AB17D"/>
      </a:accent5>
      <a:accent6>
        <a:srgbClr val="64748B"/>
      </a:accent6>
      <a:hlink>
        <a:srgbClr val="0F766E"/>
      </a:hlink>
      <a:folHlink>
        <a:srgbClr val="64748B"/>
      </a:folHlink>
    </a:clrScheme>
    <a:fontScheme name="CanvasNot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917</Words>
  <Application>Microsoft Office PowerPoint</Application>
  <PresentationFormat>画面に合わせる (16:9)</PresentationFormat>
  <Paragraphs>163</Paragraphs>
  <Slides>9</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vt:lpstr>
      <vt:lpstr>Arial</vt:lpstr>
      <vt:lpstr>CanvasNote</vt:lpstr>
      <vt:lpstr>CanvasNote</vt:lpstr>
      <vt:lpstr>開発背景と目的</vt:lpstr>
      <vt:lpstr>CanvasNoteとは</vt:lpstr>
      <vt:lpstr>主な機能</vt:lpstr>
      <vt:lpstr>教材作成機能</vt:lpstr>
      <vt:lpstr>クイズ機能</vt:lpstr>
      <vt:lpstr>技術構成と権限管理</vt:lpstr>
      <vt:lpstr>開発状況と今後</vt:lpstr>
      <vt:lpstr>まとめ</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CanvasNote 制作物発表</dc:title>
  <dc:subject>PptxGenJS Presentation</dc:subject>
  <dc:creator>PptxGenJS</dc:creator>
  <cp:lastModifiedBy>2025_CS 川田 暁子</cp:lastModifiedBy>
  <cp:revision>1</cp:revision>
  <dcterms:created xsi:type="dcterms:W3CDTF">2026-10-05T03:36:07Z</dcterms:created>
  <dcterms:modified xsi:type="dcterms:W3CDTF">2026-10-05T03:44:10Z</dcterms:modified>
</cp:coreProperties>
</file>